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42"/>
  </p:notesMasterIdLst>
  <p:handoutMasterIdLst>
    <p:handoutMasterId r:id="rId43"/>
  </p:handoutMasterIdLst>
  <p:sldIdLst>
    <p:sldId id="257" r:id="rId5"/>
    <p:sldId id="308" r:id="rId6"/>
    <p:sldId id="309" r:id="rId7"/>
    <p:sldId id="310" r:id="rId8"/>
    <p:sldId id="312" r:id="rId9"/>
    <p:sldId id="313" r:id="rId10"/>
    <p:sldId id="311" r:id="rId11"/>
    <p:sldId id="314" r:id="rId12"/>
    <p:sldId id="256" r:id="rId13"/>
    <p:sldId id="315" r:id="rId14"/>
    <p:sldId id="319" r:id="rId15"/>
    <p:sldId id="316" r:id="rId16"/>
    <p:sldId id="320" r:id="rId17"/>
    <p:sldId id="318" r:id="rId18"/>
    <p:sldId id="321" r:id="rId19"/>
    <p:sldId id="322" r:id="rId20"/>
    <p:sldId id="325" r:id="rId21"/>
    <p:sldId id="323" r:id="rId22"/>
    <p:sldId id="324" r:id="rId23"/>
    <p:sldId id="326" r:id="rId24"/>
    <p:sldId id="327" r:id="rId25"/>
    <p:sldId id="317" r:id="rId26"/>
    <p:sldId id="328" r:id="rId27"/>
    <p:sldId id="329" r:id="rId28"/>
    <p:sldId id="330" r:id="rId29"/>
    <p:sldId id="333" r:id="rId30"/>
    <p:sldId id="335" r:id="rId31"/>
    <p:sldId id="331" r:id="rId32"/>
    <p:sldId id="283" r:id="rId33"/>
    <p:sldId id="284" r:id="rId34"/>
    <p:sldId id="285" r:id="rId35"/>
    <p:sldId id="286" r:id="rId36"/>
    <p:sldId id="334" r:id="rId37"/>
    <p:sldId id="306" r:id="rId38"/>
    <p:sldId id="332" r:id="rId39"/>
    <p:sldId id="336" r:id="rId40"/>
    <p:sldId id="273" r:id="rId4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4D4D92"/>
    <a:srgbClr val="555555"/>
    <a:srgbClr val="00CC00"/>
    <a:srgbClr val="FF0000"/>
    <a:srgbClr val="FF6600"/>
    <a:srgbClr val="6699FF"/>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D5FAD1-0DD9-E42C-54B4-7C9762531608}" v="1" dt="2026-03-11T17:47:36.268"/>
    <p1510:client id="{17B74B23-24FB-BC77-76B2-020267E06F35}" v="1" dt="2026-03-11T17:39:58.352"/>
    <p1510:client id="{285303A3-C4FB-C0E4-52F4-58A2FF1FC459}" v="1" dt="2026-03-12T11:46:07.967"/>
    <p1510:client id="{42398D1B-D8C6-4CEA-8647-740ED37AC85E}" v="17" dt="2026-03-12T19:24:56.444"/>
    <p1510:client id="{6C96BE86-ED31-F690-A2D8-383FE9BF88C6}" v="1" dt="2026-03-12T14:04:57.290"/>
    <p1510:client id="{DD9DE27B-7408-7FBE-20DB-690AC47DD1B6}" v="2" dt="2026-03-12T18:22:20.664"/>
    <p1510:client id="{F52AD0E2-4392-F164-FC89-2826F650AF55}" v="1" dt="2026-03-12T19:27:56.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RAN SÖNMEZ" userId="S::boransonmez@ogr365.iyte.edu.tr::94cf2fc9-48c5-494d-af51-f7fb8db43487" providerId="AD" clId="Web-{285303A3-C4FB-C0E4-52F4-58A2FF1FC459}"/>
    <pc:docChg chg="sldOrd">
      <pc:chgData name="BORAN SÖNMEZ" userId="S::boransonmez@ogr365.iyte.edu.tr::94cf2fc9-48c5-494d-af51-f7fb8db43487" providerId="AD" clId="Web-{285303A3-C4FB-C0E4-52F4-58A2FF1FC459}" dt="2026-03-12T11:46:07.967" v="0"/>
      <pc:docMkLst>
        <pc:docMk/>
      </pc:docMkLst>
      <pc:sldChg chg="ord">
        <pc:chgData name="BORAN SÖNMEZ" userId="S::boransonmez@ogr365.iyte.edu.tr::94cf2fc9-48c5-494d-af51-f7fb8db43487" providerId="AD" clId="Web-{285303A3-C4FB-C0E4-52F4-58A2FF1FC459}" dt="2026-03-12T11:46:07.967" v="0"/>
        <pc:sldMkLst>
          <pc:docMk/>
          <pc:sldMk cId="1860982367" sldId="311"/>
        </pc:sldMkLst>
      </pc:sldChg>
    </pc:docChg>
  </pc:docChgLst>
  <pc:docChgLst>
    <pc:chgData name="ZÜLAL AKYOL" userId="S::zulalakyol@ogr365.iyte.edu.tr::e04d80dc-e328-4f6f-a26c-0439bf559dd1" providerId="AD" clId="Web-{02D5FAD1-0DD9-E42C-54B4-7C9762531608}"/>
    <pc:docChg chg="modSld">
      <pc:chgData name="ZÜLAL AKYOL" userId="S::zulalakyol@ogr365.iyte.edu.tr::e04d80dc-e328-4f6f-a26c-0439bf559dd1" providerId="AD" clId="Web-{02D5FAD1-0DD9-E42C-54B4-7C9762531608}" dt="2026-03-11T17:47:36.268" v="0" actId="14100"/>
      <pc:docMkLst>
        <pc:docMk/>
      </pc:docMkLst>
      <pc:sldChg chg="modSp">
        <pc:chgData name="ZÜLAL AKYOL" userId="S::zulalakyol@ogr365.iyte.edu.tr::e04d80dc-e328-4f6f-a26c-0439bf559dd1" providerId="AD" clId="Web-{02D5FAD1-0DD9-E42C-54B4-7C9762531608}" dt="2026-03-11T17:47:36.268" v="0" actId="14100"/>
        <pc:sldMkLst>
          <pc:docMk/>
          <pc:sldMk cId="0" sldId="284"/>
        </pc:sldMkLst>
        <pc:spChg chg="mod">
          <ac:chgData name="ZÜLAL AKYOL" userId="S::zulalakyol@ogr365.iyte.edu.tr::e04d80dc-e328-4f6f-a26c-0439bf559dd1" providerId="AD" clId="Web-{02D5FAD1-0DD9-E42C-54B4-7C9762531608}" dt="2026-03-11T17:47:36.268" v="0" actId="14100"/>
          <ac:spMkLst>
            <pc:docMk/>
            <pc:sldMk cId="0" sldId="284"/>
            <ac:spMk id="8197" creationId="{00000000-0000-0000-0000-000000000000}"/>
          </ac:spMkLst>
        </pc:spChg>
      </pc:sldChg>
    </pc:docChg>
  </pc:docChgLst>
  <pc:docChgLst>
    <pc:chgData name="SAFA KARAMAN" userId="S::safakaraman@ogr365.iyte.edu.tr::8632f7d2-b69c-4c8d-9a4f-8a051403153e" providerId="AD" clId="Web-{F52AD0E2-4392-F164-FC89-2826F650AF55}"/>
    <pc:docChg chg="sldOrd">
      <pc:chgData name="SAFA KARAMAN" userId="S::safakaraman@ogr365.iyte.edu.tr::8632f7d2-b69c-4c8d-9a4f-8a051403153e" providerId="AD" clId="Web-{F52AD0E2-4392-F164-FC89-2826F650AF55}" dt="2026-03-12T19:27:56.411" v="0"/>
      <pc:docMkLst>
        <pc:docMk/>
      </pc:docMkLst>
      <pc:sldChg chg="ord">
        <pc:chgData name="SAFA KARAMAN" userId="S::safakaraman@ogr365.iyte.edu.tr::8632f7d2-b69c-4c8d-9a4f-8a051403153e" providerId="AD" clId="Web-{F52AD0E2-4392-F164-FC89-2826F650AF55}" dt="2026-03-12T19:27:56.411" v="0"/>
        <pc:sldMkLst>
          <pc:docMk/>
          <pc:sldMk cId="765319781" sldId="317"/>
        </pc:sldMkLst>
      </pc:sldChg>
    </pc:docChg>
  </pc:docChgLst>
  <pc:docChgLst>
    <pc:chgData name="ADA ONUR OKUMUŞ" userId="S::adaokumus@ogr365.iyte.edu.tr::735a41c6-7724-4e17-95fb-b69dde9a290e" providerId="AD" clId="Web-{DD9DE27B-7408-7FBE-20DB-690AC47DD1B6}"/>
    <pc:docChg chg="addSld delSld">
      <pc:chgData name="ADA ONUR OKUMUŞ" userId="S::adaokumus@ogr365.iyte.edu.tr::735a41c6-7724-4e17-95fb-b69dde9a290e" providerId="AD" clId="Web-{DD9DE27B-7408-7FBE-20DB-690AC47DD1B6}" dt="2026-03-12T18:22:20.664" v="1"/>
      <pc:docMkLst>
        <pc:docMk/>
      </pc:docMkLst>
      <pc:sldChg chg="new del">
        <pc:chgData name="ADA ONUR OKUMUŞ" userId="S::adaokumus@ogr365.iyte.edu.tr::735a41c6-7724-4e17-95fb-b69dde9a290e" providerId="AD" clId="Web-{DD9DE27B-7408-7FBE-20DB-690AC47DD1B6}" dt="2026-03-12T18:22:20.664" v="1"/>
        <pc:sldMkLst>
          <pc:docMk/>
          <pc:sldMk cId="2115090558" sldId="337"/>
        </pc:sldMkLst>
      </pc:sldChg>
    </pc:docChg>
  </pc:docChgLst>
  <pc:docChgLst>
    <pc:chgData name="FURKAN ATALAY" userId="S::furkanatalay@ogr365.iyte.edu.tr::88a96da6-871a-4b60-8d4e-421f860dce4c" providerId="AD" clId="Web-{8AC25A18-69FB-1D9E-17CB-62F9D20BE342}"/>
    <pc:docChg chg="addSld delSld modSld">
      <pc:chgData name="FURKAN ATALAY" userId="S::furkanatalay@ogr365.iyte.edu.tr::88a96da6-871a-4b60-8d4e-421f860dce4c" providerId="AD" clId="Web-{8AC25A18-69FB-1D9E-17CB-62F9D20BE342}" dt="2026-03-08T12:50:57.148" v="3"/>
      <pc:docMkLst>
        <pc:docMk/>
      </pc:docMkLst>
      <pc:sldChg chg="modSp">
        <pc:chgData name="FURKAN ATALAY" userId="S::furkanatalay@ogr365.iyte.edu.tr::88a96da6-871a-4b60-8d4e-421f860dce4c" providerId="AD" clId="Web-{8AC25A18-69FB-1D9E-17CB-62F9D20BE342}" dt="2026-03-08T12:47:04.108" v="0" actId="1076"/>
        <pc:sldMkLst>
          <pc:docMk/>
          <pc:sldMk cId="969121572" sldId="323"/>
        </pc:sldMkLst>
        <pc:picChg chg="mod">
          <ac:chgData name="FURKAN ATALAY" userId="S::furkanatalay@ogr365.iyte.edu.tr::88a96da6-871a-4b60-8d4e-421f860dce4c" providerId="AD" clId="Web-{8AC25A18-69FB-1D9E-17CB-62F9D20BE342}" dt="2026-03-08T12:47:04.108" v="0" actId="1076"/>
          <ac:picMkLst>
            <pc:docMk/>
            <pc:sldMk cId="969121572" sldId="323"/>
            <ac:picMk id="18441" creationId="{00000000-0000-0000-0000-000000000000}"/>
          </ac:picMkLst>
        </pc:picChg>
      </pc:sldChg>
      <pc:sldChg chg="modSp">
        <pc:chgData name="FURKAN ATALAY" userId="S::furkanatalay@ogr365.iyte.edu.tr::88a96da6-871a-4b60-8d4e-421f860dce4c" providerId="AD" clId="Web-{8AC25A18-69FB-1D9E-17CB-62F9D20BE342}" dt="2026-03-08T12:49:29.817" v="1" actId="1076"/>
        <pc:sldMkLst>
          <pc:docMk/>
          <pc:sldMk cId="3057896532" sldId="327"/>
        </pc:sldMkLst>
        <pc:picChg chg="mod">
          <ac:chgData name="FURKAN ATALAY" userId="S::furkanatalay@ogr365.iyte.edu.tr::88a96da6-871a-4b60-8d4e-421f860dce4c" providerId="AD" clId="Web-{8AC25A18-69FB-1D9E-17CB-62F9D20BE342}" dt="2026-03-08T12:49:29.817" v="1" actId="1076"/>
          <ac:picMkLst>
            <pc:docMk/>
            <pc:sldMk cId="3057896532" sldId="327"/>
            <ac:picMk id="4" creationId="{00000000-0000-0000-0000-000000000000}"/>
          </ac:picMkLst>
        </pc:picChg>
      </pc:sldChg>
      <pc:sldChg chg="add del">
        <pc:chgData name="FURKAN ATALAY" userId="S::furkanatalay@ogr365.iyte.edu.tr::88a96da6-871a-4b60-8d4e-421f860dce4c" providerId="AD" clId="Web-{8AC25A18-69FB-1D9E-17CB-62F9D20BE342}" dt="2026-03-08T12:50:57.148" v="3"/>
        <pc:sldMkLst>
          <pc:docMk/>
          <pc:sldMk cId="986733282" sldId="330"/>
        </pc:sldMkLst>
      </pc:sldChg>
    </pc:docChg>
  </pc:docChgLst>
  <pc:docChgLst>
    <pc:chgData name="AHMET KELEŞOĞLU" userId="S::ahmetkelesoglu@ogr365.iyte.edu.tr::cfaefc7b-b53b-4b11-8951-1a6e9efe20bc" providerId="AD" clId="Web-{17B74B23-24FB-BC77-76B2-020267E06F35}"/>
    <pc:docChg chg="modSld">
      <pc:chgData name="AHMET KELEŞOĞLU" userId="S::ahmetkelesoglu@ogr365.iyte.edu.tr::cfaefc7b-b53b-4b11-8951-1a6e9efe20bc" providerId="AD" clId="Web-{17B74B23-24FB-BC77-76B2-020267E06F35}" dt="2026-03-11T17:39:58.352" v="0" actId="1076"/>
      <pc:docMkLst>
        <pc:docMk/>
      </pc:docMkLst>
      <pc:sldChg chg="modSp">
        <pc:chgData name="AHMET KELEŞOĞLU" userId="S::ahmetkelesoglu@ogr365.iyte.edu.tr::cfaefc7b-b53b-4b11-8951-1a6e9efe20bc" providerId="AD" clId="Web-{17B74B23-24FB-BC77-76B2-020267E06F35}" dt="2026-03-11T17:39:58.352" v="0" actId="1076"/>
        <pc:sldMkLst>
          <pc:docMk/>
          <pc:sldMk cId="417863628" sldId="315"/>
        </pc:sldMkLst>
        <pc:spChg chg="mod">
          <ac:chgData name="AHMET KELEŞOĞLU" userId="S::ahmetkelesoglu@ogr365.iyte.edu.tr::cfaefc7b-b53b-4b11-8951-1a6e9efe20bc" providerId="AD" clId="Web-{17B74B23-24FB-BC77-76B2-020267E06F35}" dt="2026-03-11T17:39:58.352" v="0" actId="1076"/>
          <ac:spMkLst>
            <pc:docMk/>
            <pc:sldMk cId="417863628" sldId="315"/>
            <ac:spMk id="5" creationId="{00000000-0000-0000-0000-000000000000}"/>
          </ac:spMkLst>
        </pc:spChg>
      </pc:sldChg>
    </pc:docChg>
  </pc:docChgLst>
  <pc:docChgLst>
    <pc:chgData name="AHMET AĞIRDİL" userId="S::ahmetagirdil@ogr365.iyte.edu.tr::cec2ab6a-9e53-42de-84ee-96ce292f043f" providerId="AD" clId="Web-{5C9ACE5E-59C7-AFC5-A95E-95946FDAA73D}"/>
    <pc:docChg chg="modSld">
      <pc:chgData name="AHMET AĞIRDİL" userId="S::ahmetagirdil@ogr365.iyte.edu.tr::cec2ab6a-9e53-42de-84ee-96ce292f043f" providerId="AD" clId="Web-{5C9ACE5E-59C7-AFC5-A95E-95946FDAA73D}" dt="2026-03-10T11:03:18.888" v="12" actId="20577"/>
      <pc:docMkLst>
        <pc:docMk/>
      </pc:docMkLst>
      <pc:sldChg chg="modSp">
        <pc:chgData name="AHMET AĞIRDİL" userId="S::ahmetagirdil@ogr365.iyte.edu.tr::cec2ab6a-9e53-42de-84ee-96ce292f043f" providerId="AD" clId="Web-{5C9ACE5E-59C7-AFC5-A95E-95946FDAA73D}" dt="2026-03-10T10:30:29.889" v="4" actId="20577"/>
        <pc:sldMkLst>
          <pc:docMk/>
          <pc:sldMk cId="169799540" sldId="316"/>
        </pc:sldMkLst>
        <pc:spChg chg="mod">
          <ac:chgData name="AHMET AĞIRDİL" userId="S::ahmetagirdil@ogr365.iyte.edu.tr::cec2ab6a-9e53-42de-84ee-96ce292f043f" providerId="AD" clId="Web-{5C9ACE5E-59C7-AFC5-A95E-95946FDAA73D}" dt="2026-03-10T10:30:29.889" v="4" actId="20577"/>
          <ac:spMkLst>
            <pc:docMk/>
            <pc:sldMk cId="169799540" sldId="316"/>
            <ac:spMk id="5" creationId="{00000000-0000-0000-0000-000000000000}"/>
          </ac:spMkLst>
        </pc:spChg>
      </pc:sldChg>
      <pc:sldChg chg="modSp">
        <pc:chgData name="AHMET AĞIRDİL" userId="S::ahmetagirdil@ogr365.iyte.edu.tr::cec2ab6a-9e53-42de-84ee-96ce292f043f" providerId="AD" clId="Web-{5C9ACE5E-59C7-AFC5-A95E-95946FDAA73D}" dt="2026-03-10T10:54:32.160" v="7" actId="20577"/>
        <pc:sldMkLst>
          <pc:docMk/>
          <pc:sldMk cId="969121572" sldId="323"/>
        </pc:sldMkLst>
        <pc:spChg chg="mod">
          <ac:chgData name="AHMET AĞIRDİL" userId="S::ahmetagirdil@ogr365.iyte.edu.tr::cec2ab6a-9e53-42de-84ee-96ce292f043f" providerId="AD" clId="Web-{5C9ACE5E-59C7-AFC5-A95E-95946FDAA73D}" dt="2026-03-10T10:54:32.160" v="7" actId="20577"/>
          <ac:spMkLst>
            <pc:docMk/>
            <pc:sldMk cId="969121572" sldId="323"/>
            <ac:spMk id="18436" creationId="{00000000-0000-0000-0000-000000000000}"/>
          </ac:spMkLst>
        </pc:spChg>
      </pc:sldChg>
      <pc:sldChg chg="modSp">
        <pc:chgData name="AHMET AĞIRDİL" userId="S::ahmetagirdil@ogr365.iyte.edu.tr::cec2ab6a-9e53-42de-84ee-96ce292f043f" providerId="AD" clId="Web-{5C9ACE5E-59C7-AFC5-A95E-95946FDAA73D}" dt="2026-03-10T11:03:18.888" v="12" actId="20577"/>
        <pc:sldMkLst>
          <pc:docMk/>
          <pc:sldMk cId="170980929" sldId="324"/>
        </pc:sldMkLst>
        <pc:spChg chg="mod">
          <ac:chgData name="AHMET AĞIRDİL" userId="S::ahmetagirdil@ogr365.iyte.edu.tr::cec2ab6a-9e53-42de-84ee-96ce292f043f" providerId="AD" clId="Web-{5C9ACE5E-59C7-AFC5-A95E-95946FDAA73D}" dt="2026-03-10T11:03:18.888" v="12" actId="20577"/>
          <ac:spMkLst>
            <pc:docMk/>
            <pc:sldMk cId="170980929" sldId="324"/>
            <ac:spMk id="19459" creationId="{00000000-0000-0000-0000-000000000000}"/>
          </ac:spMkLst>
        </pc:spChg>
      </pc:sldChg>
    </pc:docChg>
  </pc:docChgLst>
  <pc:docChgLst>
    <pc:chgData name="BURAK BERK KOÇAK" userId="S::burakkocak@ogr365.iyte.edu.tr::b6247861-1f04-4acf-ab62-2f70658141cf" providerId="AD" clId="Web-{6C96BE86-ED31-F690-A2D8-383FE9BF88C6}"/>
    <pc:docChg chg="sldOrd">
      <pc:chgData name="BURAK BERK KOÇAK" userId="S::burakkocak@ogr365.iyte.edu.tr::b6247861-1f04-4acf-ab62-2f70658141cf" providerId="AD" clId="Web-{6C96BE86-ED31-F690-A2D8-383FE9BF88C6}" dt="2026-03-12T14:04:57.290" v="0"/>
      <pc:docMkLst>
        <pc:docMk/>
      </pc:docMkLst>
      <pc:sldChg chg="ord">
        <pc:chgData name="BURAK BERK KOÇAK" userId="S::burakkocak@ogr365.iyte.edu.tr::b6247861-1f04-4acf-ab62-2f70658141cf" providerId="AD" clId="Web-{6C96BE86-ED31-F690-A2D8-383FE9BF88C6}" dt="2026-03-12T14:04:57.290" v="0"/>
        <pc:sldMkLst>
          <pc:docMk/>
          <pc:sldMk cId="269092027" sldId="3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34879C-DE88-4A69-B57C-82BC0442A814}" type="datetimeFigureOut">
              <a:rPr lang="tr-TR" smtClean="0"/>
              <a:t>12.03.2026</a:t>
            </a:fld>
            <a:endParaRPr lang="tr-T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35534D-E54C-4454-84F7-216AFAC69346}" type="slidenum">
              <a:rPr lang="tr-TR" smtClean="0"/>
              <a:t>‹#›</a:t>
            </a:fld>
            <a:endParaRPr lang="tr-TR"/>
          </a:p>
        </p:txBody>
      </p:sp>
    </p:spTree>
    <p:extLst>
      <p:ext uri="{BB962C8B-B14F-4D97-AF65-F5344CB8AC3E}">
        <p14:creationId xmlns:p14="http://schemas.microsoft.com/office/powerpoint/2010/main" val="2573845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6" charset="0"/>
                <a:ea typeface="+mn-ea"/>
                <a:cs typeface="+mn-cs"/>
              </a:defRPr>
            </a:lvl1pPr>
          </a:lstStyle>
          <a:p>
            <a:pPr>
              <a:defRPr/>
            </a:pPr>
            <a:endParaRPr lang="en-US"/>
          </a:p>
        </p:txBody>
      </p:sp>
      <p:sp>
        <p:nvSpPr>
          <p:cNvPr id="327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6" charset="0"/>
                <a:ea typeface="+mn-ea"/>
                <a:cs typeface="+mn-cs"/>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6" charset="0"/>
                <a:ea typeface="+mn-ea"/>
                <a:cs typeface="+mn-cs"/>
              </a:defRPr>
            </a:lvl1pPr>
          </a:lstStyle>
          <a:p>
            <a:pPr>
              <a:defRPr/>
            </a:pPr>
            <a:endParaRPr lang="en-US"/>
          </a:p>
        </p:txBody>
      </p:sp>
      <p:sp>
        <p:nvSpPr>
          <p:cNvPr id="327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panose="02020603050405020304" pitchFamily="18" charset="0"/>
              </a:defRPr>
            </a:lvl1pPr>
          </a:lstStyle>
          <a:p>
            <a:fld id="{48E92A5F-4044-44C1-8061-2AE15C18A409}" type="slidenum">
              <a:rPr lang="en-US" altLang="tr-TR"/>
              <a:pPr/>
              <a:t>‹#›</a:t>
            </a:fld>
            <a:endParaRPr lang="en-US" altLang="tr-TR"/>
          </a:p>
        </p:txBody>
      </p:sp>
    </p:spTree>
    <p:extLst>
      <p:ext uri="{BB962C8B-B14F-4D97-AF65-F5344CB8AC3E}">
        <p14:creationId xmlns:p14="http://schemas.microsoft.com/office/powerpoint/2010/main" val="37374880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6" charset="0"/>
        <a:ea typeface="ＭＳ Ｐゴシック" pitchFamily="-111" charset="-128"/>
        <a:cs typeface="ＭＳ Ｐゴシック" pitchFamily="-111" charset="-128"/>
      </a:defRPr>
    </a:lvl1pPr>
    <a:lvl2pPr marL="457200" algn="l" rtl="0" eaLnBrk="0" fontAlgn="base" hangingPunct="0">
      <a:spcBef>
        <a:spcPct val="30000"/>
      </a:spcBef>
      <a:spcAft>
        <a:spcPct val="0"/>
      </a:spcAft>
      <a:defRPr sz="1200" kern="1200">
        <a:solidFill>
          <a:schemeClr val="tx1"/>
        </a:solidFill>
        <a:latin typeface="Times" pitchFamily="16" charset="0"/>
        <a:ea typeface="ＭＳ Ｐゴシック" pitchFamily="-111" charset="-128"/>
        <a:cs typeface="+mn-cs"/>
      </a:defRPr>
    </a:lvl2pPr>
    <a:lvl3pPr marL="914400" algn="l" rtl="0" eaLnBrk="0" fontAlgn="base" hangingPunct="0">
      <a:spcBef>
        <a:spcPct val="30000"/>
      </a:spcBef>
      <a:spcAft>
        <a:spcPct val="0"/>
      </a:spcAft>
      <a:defRPr sz="1200" kern="1200">
        <a:solidFill>
          <a:schemeClr val="tx1"/>
        </a:solidFill>
        <a:latin typeface="Times" pitchFamily="16" charset="0"/>
        <a:ea typeface="ＭＳ Ｐゴシック" pitchFamily="-111" charset="-128"/>
        <a:cs typeface="+mn-cs"/>
      </a:defRPr>
    </a:lvl3pPr>
    <a:lvl4pPr marL="1371600" algn="l" rtl="0" eaLnBrk="0" fontAlgn="base" hangingPunct="0">
      <a:spcBef>
        <a:spcPct val="30000"/>
      </a:spcBef>
      <a:spcAft>
        <a:spcPct val="0"/>
      </a:spcAft>
      <a:defRPr sz="1200" kern="1200">
        <a:solidFill>
          <a:schemeClr val="tx1"/>
        </a:solidFill>
        <a:latin typeface="Times" pitchFamily="16" charset="0"/>
        <a:ea typeface="ＭＳ Ｐゴシック" pitchFamily="-111" charset="-128"/>
        <a:cs typeface="+mn-cs"/>
      </a:defRPr>
    </a:lvl4pPr>
    <a:lvl5pPr marL="1828800" algn="l" rtl="0" eaLnBrk="0" fontAlgn="base" hangingPunct="0">
      <a:spcBef>
        <a:spcPct val="30000"/>
      </a:spcBef>
      <a:spcAft>
        <a:spcPct val="0"/>
      </a:spcAft>
      <a:defRPr sz="1200" kern="1200">
        <a:solidFill>
          <a:schemeClr val="tx1"/>
        </a:solidFill>
        <a:latin typeface="Times" pitchFamily="16" charset="0"/>
        <a:ea typeface="ＭＳ Ｐゴシック" pitchFamily="-11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FC3E504-4FBA-4930-B908-D4B042FF242D}" type="slidenum">
              <a:rPr lang="en-US" altLang="tr-TR" sz="1200">
                <a:latin typeface="Times" panose="02020603050405020304" pitchFamily="18" charset="0"/>
              </a:rPr>
              <a:pPr/>
              <a:t>1</a:t>
            </a:fld>
            <a:endParaRPr lang="en-US" altLang="tr-TR" sz="1200">
              <a:latin typeface="Times"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22369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DE5B852-837D-4E05-B789-C89039470787}" type="slidenum">
              <a:rPr lang="en-US" altLang="tr-TR" sz="1200">
                <a:latin typeface="Times" panose="02020603050405020304" pitchFamily="18" charset="0"/>
              </a:rPr>
              <a:pPr/>
              <a:t>9</a:t>
            </a:fld>
            <a:endParaRPr lang="en-US" altLang="tr-TR" sz="1200">
              <a:latin typeface="Times" panose="02020603050405020304"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104819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B5A6CA4-E674-400E-BDCF-2FD09AE63A77}" type="slidenum">
              <a:rPr lang="en-US" altLang="tr-TR" sz="1200">
                <a:latin typeface="Times" panose="02020603050405020304" pitchFamily="18" charset="0"/>
              </a:rPr>
              <a:pPr/>
              <a:t>15</a:t>
            </a:fld>
            <a:endParaRPr lang="en-US" altLang="tr-TR" sz="1200">
              <a:latin typeface="Times" panose="02020603050405020304" pitchFamily="18" charset="0"/>
            </a:endParaRPr>
          </a:p>
        </p:txBody>
      </p:sp>
      <p:sp>
        <p:nvSpPr>
          <p:cNvPr id="36867" name="Rectangle 1026"/>
          <p:cNvSpPr>
            <a:spLocks noGrp="1" noRot="1" noChangeAspect="1" noChangeArrowheads="1" noTextEdit="1"/>
          </p:cNvSpPr>
          <p:nvPr>
            <p:ph type="sldImg"/>
          </p:nvPr>
        </p:nvSpPr>
        <p:spPr>
          <a:ln/>
        </p:spPr>
      </p:sp>
      <p:sp>
        <p:nvSpPr>
          <p:cNvPr id="3686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35534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6BF57A0-21E4-482F-B6F0-044A6DD82605}" type="slidenum">
              <a:rPr lang="en-US" altLang="tr-TR" sz="1200">
                <a:latin typeface="Times" panose="02020603050405020304" pitchFamily="18" charset="0"/>
              </a:rPr>
              <a:pPr/>
              <a:t>16</a:t>
            </a:fld>
            <a:endParaRPr lang="en-US" altLang="tr-TR" sz="1200">
              <a:latin typeface="Times" panose="02020603050405020304"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41789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2A6191B-C28B-409E-838C-CC09AB7DDFF7}" type="slidenum">
              <a:rPr lang="en-US" altLang="tr-TR" sz="1200">
                <a:latin typeface="Times" panose="02020603050405020304" pitchFamily="18" charset="0"/>
              </a:rPr>
              <a:pPr/>
              <a:t>17</a:t>
            </a:fld>
            <a:endParaRPr lang="en-US" altLang="tr-TR" sz="1200">
              <a:latin typeface="Times" panose="02020603050405020304"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125728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5382A96-AB71-4142-A4D8-2645D2E5DB90}" type="slidenum">
              <a:rPr lang="en-US" altLang="tr-TR" sz="1200">
                <a:latin typeface="Times" panose="02020603050405020304" pitchFamily="18" charset="0"/>
              </a:rPr>
              <a:pPr/>
              <a:t>18</a:t>
            </a:fld>
            <a:endParaRPr lang="en-US" altLang="tr-TR" sz="1200">
              <a:latin typeface="Times" panose="02020603050405020304"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90302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3DAAAAF-D8C5-4FBF-A497-54B6F8914796}" type="slidenum">
              <a:rPr lang="en-US" altLang="tr-TR" sz="1200">
                <a:latin typeface="Times" panose="02020603050405020304" pitchFamily="18" charset="0"/>
              </a:rPr>
              <a:pPr/>
              <a:t>19</a:t>
            </a:fld>
            <a:endParaRPr lang="en-US" altLang="tr-TR" sz="1200">
              <a:latin typeface="Times"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938822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A8AA499E-E3D5-4EAB-9EEA-7B1C272553D0}" type="slidenum">
              <a:rPr lang="en-US" altLang="tr-TR" sz="1200">
                <a:latin typeface="Times" panose="02020603050405020304" pitchFamily="18" charset="0"/>
              </a:rPr>
              <a:pPr/>
              <a:t>20</a:t>
            </a:fld>
            <a:endParaRPr lang="en-US" altLang="tr-TR" sz="1200">
              <a:latin typeface="Times" panose="02020603050405020304" pitchFamily="18" charset="0"/>
            </a:endParaRPr>
          </a:p>
        </p:txBody>
      </p:sp>
      <p:sp>
        <p:nvSpPr>
          <p:cNvPr id="33795" name="Rectangle 1026"/>
          <p:cNvSpPr>
            <a:spLocks noGrp="1" noRot="1" noChangeAspect="1" noChangeArrowheads="1" noTextEdit="1"/>
          </p:cNvSpPr>
          <p:nvPr>
            <p:ph type="sldImg"/>
          </p:nvPr>
        </p:nvSpPr>
        <p:spPr>
          <a:ln/>
        </p:spPr>
      </p:sp>
      <p:sp>
        <p:nvSpPr>
          <p:cNvPr id="3379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25663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BDBAF4E-878A-41BC-BF10-8D2B147BAAD8}" type="slidenum">
              <a:rPr lang="en-US" altLang="tr-TR" sz="1200">
                <a:latin typeface="Times" panose="02020603050405020304" pitchFamily="18" charset="0"/>
              </a:rPr>
              <a:pPr/>
              <a:t>25</a:t>
            </a:fld>
            <a:endParaRPr lang="en-US" altLang="tr-TR" sz="1200">
              <a:latin typeface="Times" panose="02020603050405020304" pitchFamily="18"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ln>
        </p:spPr>
        <p:txBody>
          <a:bodyPr/>
          <a:lstStyle/>
          <a:p>
            <a:r>
              <a:rPr lang="en-US" altLang="tr-TR">
                <a:latin typeface="Times" panose="02020603050405020304" pitchFamily="18" charset="0"/>
                <a:ea typeface="ＭＳ Ｐゴシック" panose="020B0600070205080204" pitchFamily="34" charset="-128"/>
                <a:cs typeface="Times New Roman" panose="02020603050405020304" pitchFamily="18" charset="0"/>
              </a:rPr>
              <a:t>Metals have high thermal &amp; electrical conductivity because valence electrons are free to roam</a:t>
            </a:r>
          </a:p>
        </p:txBody>
      </p:sp>
    </p:spTree>
    <p:extLst>
      <p:ext uri="{BB962C8B-B14F-4D97-AF65-F5344CB8AC3E}">
        <p14:creationId xmlns:p14="http://schemas.microsoft.com/office/powerpoint/2010/main" val="1654452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C5ADFF43-3A8C-4225-B3F2-D4F1053C13D2}" type="slidenum">
              <a:rPr lang="en-US" altLang="tr-TR" sz="1200">
                <a:latin typeface="Times" panose="02020603050405020304" pitchFamily="18" charset="0"/>
              </a:rPr>
              <a:pPr/>
              <a:t>28</a:t>
            </a:fld>
            <a:endParaRPr lang="en-US" altLang="tr-TR" sz="1200">
              <a:latin typeface="Times" panose="02020603050405020304"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04939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0BB9778-A2DE-4FC2-AAE3-C7E5F5C66453}" type="slidenum">
              <a:rPr lang="en-US" altLang="tr-TR" sz="1200">
                <a:latin typeface="Times" panose="02020603050405020304" pitchFamily="18" charset="0"/>
              </a:rPr>
              <a:pPr/>
              <a:t>29</a:t>
            </a:fld>
            <a:endParaRPr lang="en-US" altLang="tr-TR" sz="1200">
              <a:latin typeface="Times"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30243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C5838C24-973B-4D50-8275-511963F85339}" type="slidenum">
              <a:rPr lang="en-US" altLang="tr-TR" sz="1200">
                <a:latin typeface="Times" panose="02020603050405020304" pitchFamily="18" charset="0"/>
              </a:rPr>
              <a:pPr/>
              <a:t>30</a:t>
            </a:fld>
            <a:endParaRPr lang="en-US" altLang="tr-TR" sz="1200">
              <a:latin typeface="Times"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84024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C6FADF2E-C0FA-4F18-B89C-40A2BB1DDE0C}" type="slidenum">
              <a:rPr lang="en-US" altLang="tr-TR" sz="1200">
                <a:latin typeface="Times" panose="02020603050405020304" pitchFamily="18" charset="0"/>
              </a:rPr>
              <a:pPr/>
              <a:t>31</a:t>
            </a:fld>
            <a:endParaRPr lang="en-US" altLang="tr-TR" sz="1200">
              <a:latin typeface="Times"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56519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14EF29A-5F18-405A-B149-88BE52AC108D}" type="slidenum">
              <a:rPr lang="en-US" altLang="tr-TR" sz="1200">
                <a:latin typeface="Times" panose="02020603050405020304" pitchFamily="18" charset="0"/>
              </a:rPr>
              <a:pPr/>
              <a:t>32</a:t>
            </a:fld>
            <a:endParaRPr lang="en-US" altLang="tr-TR" sz="1200">
              <a:latin typeface="Times"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95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7C7D3F9-1D48-4B14-A42E-DE530257DAC0}" type="slidenum">
              <a:rPr lang="en-US" altLang="tr-TR" sz="1200">
                <a:latin typeface="Times" panose="02020603050405020304" pitchFamily="18" charset="0"/>
              </a:rPr>
              <a:pPr/>
              <a:t>37</a:t>
            </a:fld>
            <a:endParaRPr lang="en-US" altLang="tr-TR" sz="1200">
              <a:latin typeface="Times"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48731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4B361E4A-183B-4B51-B7F4-9A38B029EF26}" type="slidenum">
              <a:rPr lang="en-US" altLang="tr-TR"/>
              <a:pPr/>
              <a:t>‹#›</a:t>
            </a:fld>
            <a:endParaRPr lang="en-US" altLang="tr-TR"/>
          </a:p>
        </p:txBody>
      </p:sp>
    </p:spTree>
    <p:extLst>
      <p:ext uri="{BB962C8B-B14F-4D97-AF65-F5344CB8AC3E}">
        <p14:creationId xmlns:p14="http://schemas.microsoft.com/office/powerpoint/2010/main" val="2663997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C75101F2-CA2F-4E40-A276-EBB14FE276F9}" type="slidenum">
              <a:rPr lang="en-US" altLang="tr-TR"/>
              <a:pPr/>
              <a:t>‹#›</a:t>
            </a:fld>
            <a:endParaRPr lang="en-US" altLang="tr-TR"/>
          </a:p>
        </p:txBody>
      </p:sp>
    </p:spTree>
    <p:extLst>
      <p:ext uri="{BB962C8B-B14F-4D97-AF65-F5344CB8AC3E}">
        <p14:creationId xmlns:p14="http://schemas.microsoft.com/office/powerpoint/2010/main" val="3559870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51463C40-DFCC-4FBE-8C6B-FFABBEF4FFA1}" type="slidenum">
              <a:rPr lang="en-US" altLang="tr-TR"/>
              <a:pPr/>
              <a:t>‹#›</a:t>
            </a:fld>
            <a:endParaRPr lang="en-US" altLang="tr-TR"/>
          </a:p>
        </p:txBody>
      </p:sp>
    </p:spTree>
    <p:extLst>
      <p:ext uri="{BB962C8B-B14F-4D97-AF65-F5344CB8AC3E}">
        <p14:creationId xmlns:p14="http://schemas.microsoft.com/office/powerpoint/2010/main" val="3772357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6913" y="1203325"/>
            <a:ext cx="3810000" cy="4892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3" y="1203325"/>
            <a:ext cx="3810000" cy="4892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fld id="{CB3CDF5E-FE42-4CDD-BC60-D54C35C662D4}" type="slidenum">
              <a:rPr lang="en-US" altLang="tr-TR"/>
              <a:pPr/>
              <a:t>‹#›</a:t>
            </a:fld>
            <a:endParaRPr lang="en-US" altLang="tr-TR"/>
          </a:p>
        </p:txBody>
      </p:sp>
    </p:spTree>
    <p:extLst>
      <p:ext uri="{BB962C8B-B14F-4D97-AF65-F5344CB8AC3E}">
        <p14:creationId xmlns:p14="http://schemas.microsoft.com/office/powerpoint/2010/main" val="4049542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8"/>
          <p:cNvSpPr>
            <a:spLocks noGrp="1" noChangeArrowheads="1"/>
          </p:cNvSpPr>
          <p:nvPr>
            <p:ph type="sldNum" sz="quarter" idx="12"/>
          </p:nvPr>
        </p:nvSpPr>
        <p:spPr>
          <a:ln/>
        </p:spPr>
        <p:txBody>
          <a:bodyPr/>
          <a:lstStyle>
            <a:lvl1pPr>
              <a:defRPr/>
            </a:lvl1pPr>
          </a:lstStyle>
          <a:p>
            <a:fld id="{E38064E0-33B0-4AAB-89E7-F7E5CAB8265F}" type="slidenum">
              <a:rPr lang="en-US" altLang="tr-TR"/>
              <a:pPr/>
              <a:t>‹#›</a:t>
            </a:fld>
            <a:endParaRPr lang="en-US" altLang="tr-TR"/>
          </a:p>
        </p:txBody>
      </p:sp>
    </p:spTree>
    <p:extLst>
      <p:ext uri="{BB962C8B-B14F-4D97-AF65-F5344CB8AC3E}">
        <p14:creationId xmlns:p14="http://schemas.microsoft.com/office/powerpoint/2010/main" val="405400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8"/>
          <p:cNvSpPr>
            <a:spLocks noGrp="1" noChangeArrowheads="1"/>
          </p:cNvSpPr>
          <p:nvPr>
            <p:ph type="sldNum" sz="quarter" idx="12"/>
          </p:nvPr>
        </p:nvSpPr>
        <p:spPr>
          <a:ln/>
        </p:spPr>
        <p:txBody>
          <a:bodyPr/>
          <a:lstStyle>
            <a:lvl1pPr>
              <a:defRPr/>
            </a:lvl1pPr>
          </a:lstStyle>
          <a:p>
            <a:fld id="{18554CCC-2376-4CA3-8202-755BADD74C07}" type="slidenum">
              <a:rPr lang="en-US" altLang="tr-TR"/>
              <a:pPr/>
              <a:t>‹#›</a:t>
            </a:fld>
            <a:endParaRPr lang="en-US" altLang="tr-TR"/>
          </a:p>
        </p:txBody>
      </p:sp>
    </p:spTree>
    <p:extLst>
      <p:ext uri="{BB962C8B-B14F-4D97-AF65-F5344CB8AC3E}">
        <p14:creationId xmlns:p14="http://schemas.microsoft.com/office/powerpoint/2010/main" val="1387054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8"/>
          <p:cNvSpPr>
            <a:spLocks noGrp="1" noChangeArrowheads="1"/>
          </p:cNvSpPr>
          <p:nvPr>
            <p:ph type="sldNum" sz="quarter" idx="12"/>
          </p:nvPr>
        </p:nvSpPr>
        <p:spPr>
          <a:ln/>
        </p:spPr>
        <p:txBody>
          <a:bodyPr/>
          <a:lstStyle>
            <a:lvl1pPr>
              <a:defRPr/>
            </a:lvl1pPr>
          </a:lstStyle>
          <a:p>
            <a:fld id="{74822C1A-3DD0-4706-B7E0-652CC0209154}" type="slidenum">
              <a:rPr lang="en-US" altLang="tr-TR"/>
              <a:pPr/>
              <a:t>‹#›</a:t>
            </a:fld>
            <a:endParaRPr lang="en-US" altLang="tr-TR"/>
          </a:p>
        </p:txBody>
      </p:sp>
    </p:spTree>
    <p:extLst>
      <p:ext uri="{BB962C8B-B14F-4D97-AF65-F5344CB8AC3E}">
        <p14:creationId xmlns:p14="http://schemas.microsoft.com/office/powerpoint/2010/main" val="44457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fld id="{9F48A028-6164-42C0-8687-85CF6EBC7E58}" type="slidenum">
              <a:rPr lang="en-US" altLang="tr-TR"/>
              <a:pPr/>
              <a:t>‹#›</a:t>
            </a:fld>
            <a:endParaRPr lang="en-US" altLang="tr-TR"/>
          </a:p>
        </p:txBody>
      </p:sp>
    </p:spTree>
    <p:extLst>
      <p:ext uri="{BB962C8B-B14F-4D97-AF65-F5344CB8AC3E}">
        <p14:creationId xmlns:p14="http://schemas.microsoft.com/office/powerpoint/2010/main" val="54043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fld id="{63684952-A064-491F-8217-6F2C5E9B9392}" type="slidenum">
              <a:rPr lang="en-US" altLang="tr-TR"/>
              <a:pPr/>
              <a:t>‹#›</a:t>
            </a:fld>
            <a:endParaRPr lang="en-US" altLang="tr-TR"/>
          </a:p>
        </p:txBody>
      </p:sp>
    </p:spTree>
    <p:extLst>
      <p:ext uri="{BB962C8B-B14F-4D97-AF65-F5344CB8AC3E}">
        <p14:creationId xmlns:p14="http://schemas.microsoft.com/office/powerpoint/2010/main" val="214352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90238648-E432-4CC1-9F6B-F1410D21474C}" type="slidenum">
              <a:rPr lang="en-US" altLang="tr-TR"/>
              <a:pPr/>
              <a:t>‹#›</a:t>
            </a:fld>
            <a:endParaRPr lang="en-US" altLang="tr-TR"/>
          </a:p>
        </p:txBody>
      </p:sp>
    </p:spTree>
    <p:extLst>
      <p:ext uri="{BB962C8B-B14F-4D97-AF65-F5344CB8AC3E}">
        <p14:creationId xmlns:p14="http://schemas.microsoft.com/office/powerpoint/2010/main" val="1173870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4625" y="381000"/>
            <a:ext cx="1944688"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81000"/>
            <a:ext cx="5686425"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27D8105F-3356-4C7C-A34D-FE8D4684EC11}" type="slidenum">
              <a:rPr lang="en-US" altLang="tr-TR"/>
              <a:pPr/>
              <a:t>‹#›</a:t>
            </a:fld>
            <a:endParaRPr lang="en-US" altLang="tr-TR"/>
          </a:p>
        </p:txBody>
      </p:sp>
    </p:spTree>
    <p:extLst>
      <p:ext uri="{BB962C8B-B14F-4D97-AF65-F5344CB8AC3E}">
        <p14:creationId xmlns:p14="http://schemas.microsoft.com/office/powerpoint/2010/main" val="40459980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810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27" name="Rectangle 3"/>
          <p:cNvSpPr>
            <a:spLocks noGrp="1" noChangeArrowheads="1"/>
          </p:cNvSpPr>
          <p:nvPr>
            <p:ph type="body" idx="1"/>
          </p:nvPr>
        </p:nvSpPr>
        <p:spPr bwMode="auto">
          <a:xfrm>
            <a:off x="696913" y="1203325"/>
            <a:ext cx="77724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51204" name="Rectangle 4"/>
          <p:cNvSpPr>
            <a:spLocks noGrp="1" noChangeArrowheads="1"/>
          </p:cNvSpPr>
          <p:nvPr>
            <p:ph type="dt" sz="half" idx="2"/>
          </p:nvPr>
        </p:nvSpPr>
        <p:spPr bwMode="auto">
          <a:xfrm>
            <a:off x="3048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6" charset="0"/>
                <a:ea typeface="+mn-ea"/>
                <a:cs typeface="+mn-cs"/>
              </a:defRPr>
            </a:lvl1pPr>
          </a:lstStyle>
          <a:p>
            <a:pPr>
              <a:defRPr/>
            </a:pPr>
            <a:endParaRPr lang="en-US"/>
          </a:p>
        </p:txBody>
      </p:sp>
      <p:sp>
        <p:nvSpPr>
          <p:cNvPr id="5120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6" charset="0"/>
                <a:ea typeface="+mn-ea"/>
                <a:cs typeface="+mn-cs"/>
              </a:defRPr>
            </a:lvl1pPr>
          </a:lstStyle>
          <a:p>
            <a:pPr>
              <a:defRPr/>
            </a:pPr>
            <a:endParaRPr lang="en-US"/>
          </a:p>
        </p:txBody>
      </p:sp>
      <p:pic>
        <p:nvPicPr>
          <p:cNvPr id="103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32800" y="6172200"/>
            <a:ext cx="4318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7"/>
          <p:cNvSpPr>
            <a:spLocks noChangeArrowheads="1"/>
          </p:cNvSpPr>
          <p:nvPr/>
        </p:nvSpPr>
        <p:spPr bwMode="auto">
          <a:xfrm>
            <a:off x="7221538" y="6400800"/>
            <a:ext cx="9445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defRPr/>
            </a:pPr>
            <a:r>
              <a:rPr lang="en-US" altLang="tr-TR" sz="1200"/>
              <a:t>Chapter 1 -</a:t>
            </a:r>
          </a:p>
        </p:txBody>
      </p:sp>
      <p:sp>
        <p:nvSpPr>
          <p:cNvPr id="51208" name="Rectangle 8"/>
          <p:cNvSpPr>
            <a:spLocks noGrp="1" noChangeArrowheads="1"/>
          </p:cNvSpPr>
          <p:nvPr>
            <p:ph type="sldNum" sz="quarter" idx="4"/>
          </p:nvPr>
        </p:nvSpPr>
        <p:spPr bwMode="auto">
          <a:xfrm>
            <a:off x="7670800" y="6403975"/>
            <a:ext cx="1181100" cy="35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lvl1pPr>
          </a:lstStyle>
          <a:p>
            <a:fld id="{8B90C8B8-84AA-438D-AF55-823FA556456D}" type="slidenum">
              <a:rPr lang="en-US" altLang="tr-TR"/>
              <a:pPr/>
              <a:t>‹#›</a:t>
            </a:fld>
            <a:endParaRPr lang="en-US" altLang="tr-T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ctr" rtl="0" eaLnBrk="0" fontAlgn="base" hangingPunct="0">
        <a:spcBef>
          <a:spcPct val="0"/>
        </a:spcBef>
        <a:spcAft>
          <a:spcPct val="0"/>
        </a:spcAft>
        <a:defRPr sz="3600" b="1">
          <a:solidFill>
            <a:schemeClr val="tx2"/>
          </a:solidFill>
          <a:latin typeface="+mj-lt"/>
          <a:ea typeface="ＭＳ Ｐゴシック" pitchFamily="-111" charset="-128"/>
          <a:cs typeface="ＭＳ Ｐゴシック" pitchFamily="-111" charset="-128"/>
        </a:defRPr>
      </a:lvl1pPr>
      <a:lvl2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2pPr>
      <a:lvl3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3pPr>
      <a:lvl4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4pPr>
      <a:lvl5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5pPr>
      <a:lvl6pPr marL="457200" algn="ctr" rtl="0" eaLnBrk="0" fontAlgn="base" hangingPunct="0">
        <a:spcBef>
          <a:spcPct val="0"/>
        </a:spcBef>
        <a:spcAft>
          <a:spcPct val="0"/>
        </a:spcAft>
        <a:defRPr sz="3600" b="1">
          <a:solidFill>
            <a:schemeClr val="tx2"/>
          </a:solidFill>
          <a:latin typeface="Arial" charset="0"/>
        </a:defRPr>
      </a:lvl6pPr>
      <a:lvl7pPr marL="914400" algn="ctr" rtl="0" eaLnBrk="0" fontAlgn="base" hangingPunct="0">
        <a:spcBef>
          <a:spcPct val="0"/>
        </a:spcBef>
        <a:spcAft>
          <a:spcPct val="0"/>
        </a:spcAft>
        <a:defRPr sz="3600" b="1">
          <a:solidFill>
            <a:schemeClr val="tx2"/>
          </a:solidFill>
          <a:latin typeface="Arial" charset="0"/>
        </a:defRPr>
      </a:lvl7pPr>
      <a:lvl8pPr marL="1371600" algn="ctr" rtl="0" eaLnBrk="0" fontAlgn="base" hangingPunct="0">
        <a:spcBef>
          <a:spcPct val="0"/>
        </a:spcBef>
        <a:spcAft>
          <a:spcPct val="0"/>
        </a:spcAft>
        <a:defRPr sz="3600" b="1">
          <a:solidFill>
            <a:schemeClr val="tx2"/>
          </a:solidFill>
          <a:latin typeface="Arial" charset="0"/>
        </a:defRPr>
      </a:lvl8pPr>
      <a:lvl9pPr marL="1828800" algn="ctr" rtl="0" eaLnBrk="0" fontAlgn="base" hangingPunct="0">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ＭＳ Ｐゴシック" pitchFamily="-111" charset="-128"/>
          <a:cs typeface="ＭＳ Ｐゴシック" pitchFamily="-111" charset="-128"/>
        </a:defRPr>
      </a:lvl1pPr>
      <a:lvl2pPr marL="742950" indent="-285750" algn="l" rtl="0" eaLnBrk="0" fontAlgn="base" hangingPunct="0">
        <a:spcBef>
          <a:spcPct val="20000"/>
        </a:spcBef>
        <a:spcAft>
          <a:spcPct val="0"/>
        </a:spcAft>
        <a:buChar char="–"/>
        <a:defRPr sz="2800" b="1">
          <a:solidFill>
            <a:schemeClr val="tx1"/>
          </a:solidFill>
          <a:latin typeface="+mn-lt"/>
          <a:ea typeface="ＭＳ Ｐゴシック" pitchFamily="-111" charset="-128"/>
        </a:defRPr>
      </a:lvl2pPr>
      <a:lvl3pPr marL="1143000" indent="-228600" algn="l" rtl="0" eaLnBrk="0" fontAlgn="base" hangingPunct="0">
        <a:spcBef>
          <a:spcPct val="20000"/>
        </a:spcBef>
        <a:spcAft>
          <a:spcPct val="0"/>
        </a:spcAft>
        <a:buChar char="•"/>
        <a:defRPr sz="2400" b="1">
          <a:solidFill>
            <a:schemeClr val="tx1"/>
          </a:solidFill>
          <a:latin typeface="+mn-lt"/>
          <a:ea typeface="ＭＳ Ｐゴシック" pitchFamily="-111" charset="-128"/>
        </a:defRPr>
      </a:lvl3pPr>
      <a:lvl4pPr marL="1600200" indent="-228600" algn="l" rtl="0" eaLnBrk="0" fontAlgn="base" hangingPunct="0">
        <a:spcBef>
          <a:spcPct val="20000"/>
        </a:spcBef>
        <a:spcAft>
          <a:spcPct val="0"/>
        </a:spcAft>
        <a:buChar char="–"/>
        <a:defRPr sz="2000" b="1">
          <a:solidFill>
            <a:schemeClr val="tx1"/>
          </a:solidFill>
          <a:latin typeface="+mn-lt"/>
          <a:ea typeface="ＭＳ Ｐゴシック" pitchFamily="-111" charset="-128"/>
        </a:defRPr>
      </a:lvl4pPr>
      <a:lvl5pPr marL="2057400" indent="-228600" algn="l" rtl="0" eaLnBrk="0" fontAlgn="base" hangingPunct="0">
        <a:spcBef>
          <a:spcPct val="20000"/>
        </a:spcBef>
        <a:spcAft>
          <a:spcPct val="0"/>
        </a:spcAft>
        <a:buChar char="»"/>
        <a:defRPr sz="2000" b="1">
          <a:solidFill>
            <a:schemeClr val="tx1"/>
          </a:solidFill>
          <a:latin typeface="+mn-lt"/>
          <a:ea typeface="ＭＳ Ｐゴシック" pitchFamily="-111" charset="-128"/>
        </a:defRPr>
      </a:lvl5pPr>
      <a:lvl6pPr marL="2514600" indent="-228600" algn="l" rtl="0" eaLnBrk="0" fontAlgn="base" hangingPunct="0">
        <a:spcBef>
          <a:spcPct val="20000"/>
        </a:spcBef>
        <a:spcAft>
          <a:spcPct val="0"/>
        </a:spcAft>
        <a:buChar char="»"/>
        <a:defRPr sz="2000" b="1">
          <a:solidFill>
            <a:schemeClr val="tx1"/>
          </a:solidFill>
          <a:latin typeface="+mn-lt"/>
        </a:defRPr>
      </a:lvl6pPr>
      <a:lvl7pPr marL="2971800" indent="-228600" algn="l" rtl="0" eaLnBrk="0" fontAlgn="base" hangingPunct="0">
        <a:spcBef>
          <a:spcPct val="20000"/>
        </a:spcBef>
        <a:spcAft>
          <a:spcPct val="0"/>
        </a:spcAft>
        <a:buChar char="»"/>
        <a:defRPr sz="2000" b="1">
          <a:solidFill>
            <a:schemeClr val="tx1"/>
          </a:solidFill>
          <a:latin typeface="+mn-lt"/>
        </a:defRPr>
      </a:lvl7pPr>
      <a:lvl8pPr marL="3429000" indent="-228600" algn="l" rtl="0" eaLnBrk="0" fontAlgn="base" hangingPunct="0">
        <a:spcBef>
          <a:spcPct val="20000"/>
        </a:spcBef>
        <a:spcAft>
          <a:spcPct val="0"/>
        </a:spcAft>
        <a:buChar char="»"/>
        <a:defRPr sz="2000" b="1">
          <a:solidFill>
            <a:schemeClr val="tx1"/>
          </a:solidFill>
          <a:latin typeface="+mn-lt"/>
        </a:defRPr>
      </a:lvl8pPr>
      <a:lvl9pPr marL="3886200" indent="-228600" algn="l" rtl="0" eaLnBrk="0" fontAlgn="base" hangingPunct="0">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5.jpeg"/><Relationship Id="rId4" Type="http://schemas.openxmlformats.org/officeDocument/2006/relationships/image" Target="../media/image6.jpeg"/><Relationship Id="rId5" Type="http://schemas.openxmlformats.org/officeDocument/2006/relationships/image" Target="../media/image7.png"/><Relationship Id="rId6" Type="http://schemas.openxmlformats.org/officeDocument/2006/relationships/image" Target="../media/image8.gif"/><Relationship Id="rId7" Type="http://schemas.openxmlformats.org/officeDocument/2006/relationships/image" Target="../media/image9.jpeg"/><Relationship Id="rId8" Type="http://schemas.openxmlformats.org/officeDocument/2006/relationships/image" Target="../media/image10.jpeg"/><Relationship Id="rId9"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oleObject" Target="../embeddings/oleObject1.bin"/><Relationship Id="rId5" Type="http://schemas.openxmlformats.org/officeDocument/2006/relationships/image" Target="../media/image17.png"/><Relationship Id="rId6" Type="http://schemas.openxmlformats.org/officeDocument/2006/relationships/oleObject" Target="../embeddings/oleObject2.bin"/><Relationship Id="rId7" Type="http://schemas.openxmlformats.org/officeDocument/2006/relationships/image" Target="../media/image18.png"/><Relationship Id="rId8" Type="http://schemas.openxmlformats.org/officeDocument/2006/relationships/image" Target="../media/image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oleObject" Target="../embeddings/oleObject3.bin"/><Relationship Id="rId4" Type="http://schemas.openxmlformats.org/officeDocument/2006/relationships/image" Target="../media/image34.png"/><Relationship Id="rId5" Type="http://schemas.openxmlformats.org/officeDocument/2006/relationships/image" Target="../media/image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oleObject" Target="../embeddings/oleObject4.bin"/><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2.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7.png"/><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eg"/><Relationship Id="rId3" Type="http://schemas.openxmlformats.org/officeDocument/2006/relationships/image" Target="../media/image39.jpeg"/><Relationship Id="rId4" Type="http://schemas.openxmlformats.org/officeDocument/2006/relationships/image" Target="../media/image40.png"/><Relationship Id="rId5" Type="http://schemas.openxmlformats.org/officeDocument/2006/relationships/image" Target="../media/image2.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4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8"/>
          <p:cNvSpPr>
            <a:spLocks noGrp="1" noChangeArrowheads="1"/>
          </p:cNvSpPr>
          <p:nvPr>
            <p:ph type="title" idx="4294967295"/>
          </p:nvPr>
        </p:nvSpPr>
        <p:spPr>
          <a:xfrm>
            <a:off x="550863" y="795130"/>
            <a:ext cx="7772400" cy="1530558"/>
          </a:xfrm>
        </p:spPr>
        <p:txBody>
          <a:bodyPr/>
          <a:lstStyle/>
          <a:p>
            <a:pPr algn="l"/>
            <a:r>
              <a:rPr lang="tr-TR" altLang="tr-TR" u="sng">
                <a:ea typeface="ＭＳ Ｐゴシック" panose="020B0600070205080204" pitchFamily="34" charset="-128"/>
              </a:rPr>
              <a:t>ME150</a:t>
            </a:r>
            <a:r>
              <a:rPr lang="tr-TR" altLang="tr-TR">
                <a:ea typeface="ＭＳ Ｐゴシック" panose="020B0600070205080204" pitchFamily="34" charset="-128"/>
              </a:rPr>
              <a:t> Materials Science and Engineering I</a:t>
            </a:r>
            <a:br>
              <a:rPr lang="tr-TR" altLang="tr-TR" sz="2400">
                <a:ea typeface="ＭＳ Ｐゴシック" panose="020B0600070205080204" pitchFamily="34" charset="-128"/>
              </a:rPr>
            </a:br>
            <a:endParaRPr lang="en-US" altLang="tr-TR" sz="2400">
              <a:ea typeface="ＭＳ Ｐゴシック" panose="020B0600070205080204" pitchFamily="34" charset="-128"/>
            </a:endParaRPr>
          </a:p>
        </p:txBody>
      </p:sp>
      <p:sp>
        <p:nvSpPr>
          <p:cNvPr id="3075" name="Rectangle 29"/>
          <p:cNvSpPr>
            <a:spLocks noChangeArrowheads="1"/>
          </p:cNvSpPr>
          <p:nvPr/>
        </p:nvSpPr>
        <p:spPr bwMode="auto">
          <a:xfrm>
            <a:off x="656880" y="3545492"/>
            <a:ext cx="36234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tr-TR" altLang="tr-TR" sz="2400"/>
              <a:t>Prof. Dr. Sinan Kandemir</a:t>
            </a:r>
            <a:endParaRPr lang="en-US" altLang="tr-TR" sz="2400"/>
          </a:p>
        </p:txBody>
      </p:sp>
      <p:sp>
        <p:nvSpPr>
          <p:cNvPr id="3076" name="Rectangle 30"/>
          <p:cNvSpPr>
            <a:spLocks noChangeArrowheads="1"/>
          </p:cNvSpPr>
          <p:nvPr/>
        </p:nvSpPr>
        <p:spPr bwMode="auto">
          <a:xfrm>
            <a:off x="550863" y="1512888"/>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3078" name="Rectangle 32"/>
          <p:cNvSpPr>
            <a:spLocks noChangeArrowheads="1"/>
          </p:cNvSpPr>
          <p:nvPr/>
        </p:nvSpPr>
        <p:spPr bwMode="auto">
          <a:xfrm>
            <a:off x="550863" y="2325688"/>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pic>
        <p:nvPicPr>
          <p:cNvPr id="8" name="Picture 7"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9" name="Rectangle 28"/>
          <p:cNvSpPr txBox="1">
            <a:spLocks noChangeArrowheads="1"/>
          </p:cNvSpPr>
          <p:nvPr/>
        </p:nvSpPr>
        <p:spPr bwMode="auto">
          <a:xfrm>
            <a:off x="550862" y="2135898"/>
            <a:ext cx="7772400" cy="1530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tx2"/>
                </a:solidFill>
                <a:latin typeface="+mj-lt"/>
                <a:ea typeface="ＭＳ Ｐゴシック" pitchFamily="-111" charset="-128"/>
                <a:cs typeface="ＭＳ Ｐゴシック" pitchFamily="-111" charset="-128"/>
              </a:defRPr>
            </a:lvl1pPr>
            <a:lvl2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2pPr>
            <a:lvl3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3pPr>
            <a:lvl4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4pPr>
            <a:lvl5pPr algn="ctr" rtl="0" eaLnBrk="0" fontAlgn="base" hangingPunct="0">
              <a:spcBef>
                <a:spcPct val="0"/>
              </a:spcBef>
              <a:spcAft>
                <a:spcPct val="0"/>
              </a:spcAft>
              <a:defRPr sz="3600" b="1">
                <a:solidFill>
                  <a:schemeClr val="tx2"/>
                </a:solidFill>
                <a:latin typeface="Arial" charset="0"/>
                <a:ea typeface="ＭＳ Ｐゴシック" pitchFamily="-111" charset="-128"/>
                <a:cs typeface="ＭＳ Ｐゴシック" pitchFamily="-111" charset="-128"/>
              </a:defRPr>
            </a:lvl5pPr>
            <a:lvl6pPr marL="457200" algn="ctr" rtl="0" eaLnBrk="0" fontAlgn="base" hangingPunct="0">
              <a:spcBef>
                <a:spcPct val="0"/>
              </a:spcBef>
              <a:spcAft>
                <a:spcPct val="0"/>
              </a:spcAft>
              <a:defRPr sz="3600" b="1">
                <a:solidFill>
                  <a:schemeClr val="tx2"/>
                </a:solidFill>
                <a:latin typeface="Arial" charset="0"/>
              </a:defRPr>
            </a:lvl6pPr>
            <a:lvl7pPr marL="914400" algn="ctr" rtl="0" eaLnBrk="0" fontAlgn="base" hangingPunct="0">
              <a:spcBef>
                <a:spcPct val="0"/>
              </a:spcBef>
              <a:spcAft>
                <a:spcPct val="0"/>
              </a:spcAft>
              <a:defRPr sz="3600" b="1">
                <a:solidFill>
                  <a:schemeClr val="tx2"/>
                </a:solidFill>
                <a:latin typeface="Arial" charset="0"/>
              </a:defRPr>
            </a:lvl7pPr>
            <a:lvl8pPr marL="1371600" algn="ctr" rtl="0" eaLnBrk="0" fontAlgn="base" hangingPunct="0">
              <a:spcBef>
                <a:spcPct val="0"/>
              </a:spcBef>
              <a:spcAft>
                <a:spcPct val="0"/>
              </a:spcAft>
              <a:defRPr sz="3600" b="1">
                <a:solidFill>
                  <a:schemeClr val="tx2"/>
                </a:solidFill>
                <a:latin typeface="Arial" charset="0"/>
              </a:defRPr>
            </a:lvl8pPr>
            <a:lvl9pPr marL="1828800" algn="ctr" rtl="0" eaLnBrk="0" fontAlgn="base" hangingPunct="0">
              <a:spcBef>
                <a:spcPct val="0"/>
              </a:spcBef>
              <a:spcAft>
                <a:spcPct val="0"/>
              </a:spcAft>
              <a:defRPr sz="3600" b="1">
                <a:solidFill>
                  <a:schemeClr val="tx2"/>
                </a:solidFill>
                <a:latin typeface="Arial" charset="0"/>
              </a:defRPr>
            </a:lvl9pPr>
          </a:lstStyle>
          <a:p>
            <a:pPr algn="l"/>
            <a:r>
              <a:rPr lang="tr-TR" altLang="tr-TR" sz="2400" kern="0">
                <a:ea typeface="ＭＳ Ｐゴシック" panose="020B0600070205080204" pitchFamily="34" charset="-128"/>
              </a:rPr>
              <a:t>Department of Mechanical Engineering</a:t>
            </a:r>
          </a:p>
          <a:p>
            <a:pPr algn="l"/>
            <a:r>
              <a:rPr lang="tr-TR" altLang="tr-TR" sz="2400" kern="0">
                <a:ea typeface="ＭＳ Ｐゴシック" panose="020B0600070205080204" pitchFamily="34" charset="-128"/>
              </a:rPr>
              <a:t>202</a:t>
            </a:r>
            <a:r>
              <a:rPr lang="en-US" altLang="tr-TR" sz="2400" kern="0">
                <a:ea typeface="ＭＳ Ｐゴシック" panose="020B0600070205080204" pitchFamily="34" charset="-128"/>
              </a:rPr>
              <a:t>6</a:t>
            </a:r>
            <a:r>
              <a:rPr lang="tr-TR" altLang="tr-TR" sz="2400" kern="0">
                <a:ea typeface="ＭＳ Ｐゴシック" panose="020B0600070205080204" pitchFamily="34" charset="-128"/>
              </a:rPr>
              <a:t> Spring Term, 3 Credits</a:t>
            </a:r>
            <a:br>
              <a:rPr lang="tr-TR" altLang="tr-TR" kern="0">
                <a:ea typeface="ＭＳ Ｐゴシック" panose="020B0600070205080204" pitchFamily="34" charset="-128"/>
              </a:rPr>
            </a:br>
            <a:endParaRPr lang="en-US" altLang="tr-TR" sz="2800" kern="0">
              <a:ea typeface="ＭＳ Ｐゴシック" panose="020B0600070205080204" pitchFamily="34" charset="-128"/>
            </a:endParaRPr>
          </a:p>
        </p:txBody>
      </p:sp>
      <p:sp>
        <p:nvSpPr>
          <p:cNvPr id="10" name="Rectangle 29"/>
          <p:cNvSpPr>
            <a:spLocks noChangeArrowheads="1"/>
          </p:cNvSpPr>
          <p:nvPr/>
        </p:nvSpPr>
        <p:spPr bwMode="auto">
          <a:xfrm>
            <a:off x="635553" y="4340060"/>
            <a:ext cx="65642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tr-TR" altLang="tr-TR" sz="2400"/>
              <a:t>Time: </a:t>
            </a:r>
          </a:p>
          <a:p>
            <a:pPr>
              <a:spcBef>
                <a:spcPct val="0"/>
              </a:spcBef>
              <a:buFontTx/>
              <a:buNone/>
            </a:pPr>
            <a:r>
              <a:rPr lang="tr-TR" altLang="tr-TR" sz="2400"/>
              <a:t>          </a:t>
            </a:r>
            <a:r>
              <a:rPr lang="en-US" altLang="tr-TR" sz="2400"/>
              <a:t>Monday</a:t>
            </a:r>
            <a:r>
              <a:rPr lang="tr-TR" altLang="tr-TR" sz="2400"/>
              <a:t> </a:t>
            </a:r>
            <a:r>
              <a:rPr lang="en-US" altLang="tr-TR" sz="2400"/>
              <a:t>13.30</a:t>
            </a:r>
            <a:r>
              <a:rPr lang="tr-TR" altLang="tr-TR" sz="2400"/>
              <a:t>-1</a:t>
            </a:r>
            <a:r>
              <a:rPr lang="en-US" altLang="tr-TR" sz="2400"/>
              <a:t>5</a:t>
            </a:r>
            <a:r>
              <a:rPr lang="tr-TR" altLang="tr-TR" sz="2400"/>
              <a:t>.15, </a:t>
            </a:r>
            <a:r>
              <a:rPr lang="en-US" altLang="tr-TR" sz="2400"/>
              <a:t>Fri</a:t>
            </a:r>
            <a:r>
              <a:rPr lang="tr-TR" altLang="tr-TR" sz="2400" err="1"/>
              <a:t>day</a:t>
            </a:r>
            <a:r>
              <a:rPr lang="tr-TR" altLang="tr-TR" sz="2400"/>
              <a:t> 14.30-1</a:t>
            </a:r>
            <a:r>
              <a:rPr lang="en-US" altLang="tr-TR" sz="2400"/>
              <a:t>5</a:t>
            </a:r>
            <a:r>
              <a:rPr lang="tr-TR" altLang="tr-TR" sz="2400"/>
              <a:t>.</a:t>
            </a:r>
            <a:r>
              <a:rPr lang="en-US" altLang="tr-TR" sz="2400"/>
              <a:t>15</a:t>
            </a:r>
          </a:p>
        </p:txBody>
      </p:sp>
      <p:sp>
        <p:nvSpPr>
          <p:cNvPr id="11" name="Rectangle 29"/>
          <p:cNvSpPr>
            <a:spLocks noChangeArrowheads="1"/>
          </p:cNvSpPr>
          <p:nvPr/>
        </p:nvSpPr>
        <p:spPr bwMode="auto">
          <a:xfrm>
            <a:off x="635552" y="5382996"/>
            <a:ext cx="375865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tr-TR" altLang="tr-TR" sz="2400"/>
              <a:t>Location: </a:t>
            </a:r>
            <a:r>
              <a:rPr lang="en-US" altLang="tr-TR" sz="2400"/>
              <a:t>A01</a:t>
            </a:r>
          </a:p>
          <a:p>
            <a:pPr>
              <a:spcBef>
                <a:spcPct val="0"/>
              </a:spcBef>
              <a:buFontTx/>
              <a:buNone/>
            </a:pPr>
            <a:r>
              <a:rPr lang="en-US" altLang="tr-TR" sz="2400"/>
              <a:t>MS Teams Code: </a:t>
            </a:r>
            <a:r>
              <a:rPr lang="en-US" altLang="tr-TR" sz="2400">
                <a:solidFill>
                  <a:srgbClr val="0000FF"/>
                </a:solidFill>
              </a:rPr>
              <a:t>ykm624l</a:t>
            </a:r>
          </a:p>
        </p:txBody>
      </p:sp>
      <p:sp>
        <p:nvSpPr>
          <p:cNvPr id="3079" name="TextBox 3078"/>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5693866"/>
          </a:xfrm>
          <a:prstGeom prst="rect">
            <a:avLst/>
          </a:prstGeom>
          <a:noFill/>
        </p:spPr>
        <p:txBody>
          <a:bodyPr wrap="square" rtlCol="0">
            <a:spAutoFit/>
          </a:bodyPr>
          <a:lstStyle/>
          <a:p>
            <a:r>
              <a:rPr lang="tr-TR" altLang="tr-TR" sz="2800" b="1" kern="0">
                <a:solidFill>
                  <a:srgbClr val="C00000"/>
                </a:solidFill>
              </a:rPr>
              <a:t>INSTRUCTORS:</a:t>
            </a:r>
          </a:p>
          <a:p>
            <a:r>
              <a:rPr lang="tr-TR" b="1" kern="0">
                <a:solidFill>
                  <a:srgbClr val="C00000"/>
                </a:solidFill>
              </a:rPr>
              <a:t>      </a:t>
            </a:r>
          </a:p>
          <a:p>
            <a:r>
              <a:rPr lang="tr-TR" b="1" kern="0">
                <a:solidFill>
                  <a:srgbClr val="C00000"/>
                </a:solidFill>
              </a:rPr>
              <a:t>      </a:t>
            </a:r>
            <a:r>
              <a:rPr lang="tr-TR" b="1" kern="0"/>
              <a:t>Sinan Kandemir</a:t>
            </a:r>
          </a:p>
          <a:p>
            <a:r>
              <a:rPr lang="tr-TR" b="1" kern="0"/>
              <a:t>      Room: Z16</a:t>
            </a:r>
          </a:p>
          <a:p>
            <a:r>
              <a:rPr lang="tr-TR" b="1" kern="0"/>
              <a:t>      E-mail: </a:t>
            </a:r>
            <a:r>
              <a:rPr lang="tr-TR" b="1" kern="0">
                <a:solidFill>
                  <a:srgbClr val="FFC000"/>
                </a:solidFill>
              </a:rPr>
              <a:t>sinankandemir@iyte.edu.tr</a:t>
            </a:r>
          </a:p>
          <a:p>
            <a:r>
              <a:rPr lang="tr-TR" b="1" kern="0"/>
              <a:t>      Office hours: </a:t>
            </a:r>
            <a:r>
              <a:rPr lang="tr-TR" b="1" kern="0" err="1"/>
              <a:t>Monday</a:t>
            </a:r>
            <a:r>
              <a:rPr lang="tr-TR" b="1" kern="0"/>
              <a:t> 09.45-10.30</a:t>
            </a:r>
          </a:p>
          <a:p>
            <a:endParaRPr lang="tr-TR" b="1" kern="0"/>
          </a:p>
          <a:p>
            <a:r>
              <a:rPr lang="tr-TR" b="1" kern="0"/>
              <a:t>      Teaching </a:t>
            </a:r>
            <a:r>
              <a:rPr lang="tr-TR" b="1" kern="0" err="1"/>
              <a:t>Assistants</a:t>
            </a:r>
            <a:r>
              <a:rPr lang="tr-TR" b="1" kern="0"/>
              <a:t>:</a:t>
            </a:r>
          </a:p>
          <a:p>
            <a:r>
              <a:rPr lang="tr-TR" b="1" kern="0"/>
              <a:t>                          </a:t>
            </a:r>
          </a:p>
          <a:p>
            <a:r>
              <a:rPr lang="tr-TR" b="1" kern="0"/>
              <a:t>                          Büşra İrem </a:t>
            </a:r>
            <a:r>
              <a:rPr lang="tr-TR" b="1" kern="0" err="1"/>
              <a:t>Türkpençesi</a:t>
            </a:r>
            <a:endParaRPr lang="en-US" b="1" kern="0"/>
          </a:p>
          <a:p>
            <a:r>
              <a:rPr lang="en-US" b="1" kern="0"/>
              <a:t>                          Mehmet Yalçın </a:t>
            </a:r>
            <a:r>
              <a:rPr lang="en-US" b="1" kern="0" err="1"/>
              <a:t>Sırmalılar</a:t>
            </a:r>
            <a:endParaRPr lang="en-US" b="1" kern="0"/>
          </a:p>
          <a:p>
            <a:r>
              <a:rPr lang="en-US" b="1" kern="0"/>
              <a:t>                          </a:t>
            </a:r>
            <a:r>
              <a:rPr lang="en-US" b="1" kern="0" err="1"/>
              <a:t>Samedhan</a:t>
            </a:r>
            <a:r>
              <a:rPr lang="en-US" b="1" kern="0"/>
              <a:t> </a:t>
            </a:r>
            <a:r>
              <a:rPr lang="en-US" b="1" kern="0" err="1"/>
              <a:t>Yıldırım</a:t>
            </a:r>
            <a:endParaRPr lang="tr-TR" b="1" kern="0"/>
          </a:p>
          <a:p>
            <a:endParaRPr lang="tr-TR" b="1" kern="0"/>
          </a:p>
          <a:p>
            <a:r>
              <a:rPr lang="tr-TR" b="1" kern="0"/>
              <a:t>      </a:t>
            </a:r>
          </a:p>
          <a:p>
            <a:r>
              <a:rPr lang="tr-TR" b="1" kern="0"/>
              <a:t> </a:t>
            </a:r>
            <a:endParaRPr lang="tr-TR" b="1"/>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20378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3</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7355860"/>
          </a:xfrm>
          <a:prstGeom prst="rect">
            <a:avLst/>
          </a:prstGeom>
          <a:noFill/>
        </p:spPr>
        <p:txBody>
          <a:bodyPr wrap="square" rtlCol="0">
            <a:spAutoFit/>
          </a:bodyPr>
          <a:lstStyle/>
          <a:p>
            <a:r>
              <a:rPr lang="tr-TR" altLang="tr-TR" sz="2800" b="1" kern="0">
                <a:solidFill>
                  <a:srgbClr val="C00000"/>
                </a:solidFill>
              </a:rPr>
              <a:t>COURSE MATERIAL:</a:t>
            </a:r>
          </a:p>
          <a:p>
            <a:endParaRPr lang="tr-TR" altLang="tr-TR" sz="2800" b="1" kern="0">
              <a:solidFill>
                <a:srgbClr val="C00000"/>
              </a:solidFill>
            </a:endParaRPr>
          </a:p>
          <a:p>
            <a:pPr marL="914400" lvl="1" indent="-457200">
              <a:buFont typeface="Arial" panose="020B0604020202020204" pitchFamily="34" charset="0"/>
              <a:buChar char="•"/>
            </a:pPr>
            <a:r>
              <a:rPr lang="tr-TR" b="1" kern="0"/>
              <a:t>Lectures</a:t>
            </a:r>
          </a:p>
          <a:p>
            <a:pPr marL="914400" lvl="1" indent="-457200">
              <a:buFont typeface="Arial" panose="020B0604020202020204" pitchFamily="34" charset="0"/>
              <a:buChar char="•"/>
            </a:pPr>
            <a:r>
              <a:rPr lang="tr-TR" b="1" kern="0"/>
              <a:t>Required text book</a:t>
            </a:r>
          </a:p>
          <a:p>
            <a:pPr lvl="1"/>
            <a:r>
              <a:rPr lang="tr-TR" b="1" kern="0"/>
              <a:t>     </a:t>
            </a:r>
            <a:r>
              <a:rPr lang="tr-TR" i="1" kern="0"/>
              <a:t>Materials Science and Engineering: An Introduction,   </a:t>
            </a:r>
          </a:p>
          <a:p>
            <a:pPr lvl="1"/>
            <a:r>
              <a:rPr lang="tr-TR" i="1" kern="0"/>
              <a:t>     William D. Callister and David G. Rethwisch, John  </a:t>
            </a:r>
          </a:p>
          <a:p>
            <a:pPr lvl="1"/>
            <a:r>
              <a:rPr lang="tr-TR" i="1" kern="0"/>
              <a:t>     Wiley and Sons Inc., </a:t>
            </a:r>
            <a:r>
              <a:rPr lang="tr-TR" i="1" u="sng" kern="0"/>
              <a:t>It does not matter which edition   </a:t>
            </a:r>
          </a:p>
          <a:p>
            <a:pPr lvl="1"/>
            <a:r>
              <a:rPr lang="tr-TR" i="1" kern="0"/>
              <a:t>     </a:t>
            </a:r>
            <a:r>
              <a:rPr lang="tr-TR" i="1" u="sng" kern="0"/>
              <a:t>you have!</a:t>
            </a:r>
          </a:p>
          <a:p>
            <a:pPr lvl="1"/>
            <a:r>
              <a:rPr lang="tr-TR" i="1" u="sng" kern="0"/>
              <a:t>     </a:t>
            </a:r>
          </a:p>
          <a:p>
            <a:pPr lvl="1"/>
            <a:r>
              <a:rPr lang="tr-TR" i="1" kern="0"/>
              <a:t>     </a:t>
            </a:r>
            <a:r>
              <a:rPr lang="tr-TR" i="1" u="sng" kern="0"/>
              <a:t>Website:</a:t>
            </a:r>
            <a:r>
              <a:rPr lang="tr-TR" i="1" kern="0"/>
              <a:t> </a:t>
            </a:r>
            <a:r>
              <a:rPr lang="en-US" altLang="tr-TR">
                <a:solidFill>
                  <a:srgbClr val="4D4D4D"/>
                </a:solidFill>
              </a:rPr>
              <a:t>http://www.wileyplus.com/college/callister</a:t>
            </a:r>
            <a:endParaRPr lang="en-US" altLang="tr-TR"/>
          </a:p>
          <a:p>
            <a:pPr lvl="1"/>
            <a:r>
              <a:rPr lang="tr-TR" i="1" kern="0"/>
              <a:t>                    Student Companion Site</a:t>
            </a:r>
          </a:p>
          <a:p>
            <a:pPr lvl="4">
              <a:buFontTx/>
              <a:buChar char="•"/>
            </a:pPr>
            <a:r>
              <a:rPr lang="en-US" altLang="tr-TR" sz="2000" b="0"/>
              <a:t> Users can manipulate molecules and crystals to </a:t>
            </a:r>
            <a:br>
              <a:rPr lang="en-US" altLang="tr-TR" sz="2000" b="0"/>
            </a:br>
            <a:r>
              <a:rPr lang="en-US" altLang="tr-TR" sz="2000" b="0"/>
              <a:t>  better visualize atomic structure</a:t>
            </a:r>
            <a:r>
              <a:rPr lang="tr-TR" altLang="tr-TR" sz="2000" b="0"/>
              <a:t>, </a:t>
            </a:r>
            <a:r>
              <a:rPr lang="en-US" altLang="tr-TR" sz="2000" b="0">
                <a:cs typeface="Times New Roman" panose="02020603050405020304" pitchFamily="18" charset="0"/>
              </a:rPr>
              <a:t>Unit cells such as </a:t>
            </a:r>
            <a:r>
              <a:rPr lang="tr-TR" altLang="tr-TR" sz="2000" b="0">
                <a:cs typeface="Times New Roman" panose="02020603050405020304" pitchFamily="18" charset="0"/>
              </a:rPr>
              <a:t>  </a:t>
            </a:r>
          </a:p>
          <a:p>
            <a:pPr lvl="4"/>
            <a:r>
              <a:rPr lang="tr-TR" altLang="tr-TR" sz="2000">
                <a:cs typeface="Times New Roman" panose="02020603050405020304" pitchFamily="18" charset="0"/>
              </a:rPr>
              <a:t>  </a:t>
            </a:r>
            <a:r>
              <a:rPr lang="en-US" altLang="tr-TR" sz="2000" b="0">
                <a:cs typeface="Times New Roman" panose="02020603050405020304" pitchFamily="18" charset="0"/>
              </a:rPr>
              <a:t>BCC, FCC, HC</a:t>
            </a:r>
            <a:r>
              <a:rPr lang="tr-TR" altLang="tr-TR" sz="2000" b="0">
                <a:cs typeface="Times New Roman" panose="02020603050405020304" pitchFamily="18" charset="0"/>
              </a:rPr>
              <a:t>P, </a:t>
            </a:r>
            <a:r>
              <a:rPr lang="en-US" altLang="tr-TR" sz="2000" b="0">
                <a:cs typeface="Times New Roman" panose="02020603050405020304" pitchFamily="18" charset="0"/>
              </a:rPr>
              <a:t>Crystallographic planes, directions, </a:t>
            </a:r>
            <a:r>
              <a:rPr lang="tr-TR" altLang="tr-TR" sz="2000" b="0">
                <a:cs typeface="Times New Roman" panose="02020603050405020304" pitchFamily="18" charset="0"/>
              </a:rPr>
              <a:t> </a:t>
            </a:r>
          </a:p>
          <a:p>
            <a:pPr lvl="4"/>
            <a:r>
              <a:rPr lang="tr-TR" altLang="tr-TR" sz="2000">
                <a:cs typeface="Times New Roman" panose="02020603050405020304" pitchFamily="18" charset="0"/>
              </a:rPr>
              <a:t>  </a:t>
            </a:r>
            <a:r>
              <a:rPr lang="en-US" altLang="tr-TR" sz="2000" b="0">
                <a:cs typeface="Times New Roman" panose="02020603050405020304" pitchFamily="18" charset="0"/>
              </a:rPr>
              <a:t>and defect</a:t>
            </a:r>
            <a:r>
              <a:rPr lang="tr-TR" altLang="tr-TR" sz="2000" b="0">
                <a:cs typeface="Times New Roman" panose="02020603050405020304" pitchFamily="18" charset="0"/>
              </a:rPr>
              <a:t>s, </a:t>
            </a:r>
            <a:r>
              <a:rPr lang="en-US" altLang="tr-TR" sz="2000" b="0">
                <a:cs typeface="Times New Roman" panose="02020603050405020304" pitchFamily="18" charset="0"/>
              </a:rPr>
              <a:t>Polymer repeat units and molecules</a:t>
            </a:r>
            <a:r>
              <a:rPr lang="tr-TR" altLang="tr-TR" sz="2000" b="0">
                <a:cs typeface="Times New Roman" panose="02020603050405020304" pitchFamily="18" charset="0"/>
              </a:rPr>
              <a:t>,  </a:t>
            </a:r>
          </a:p>
          <a:p>
            <a:pPr lvl="4"/>
            <a:r>
              <a:rPr lang="tr-TR" altLang="tr-TR" sz="2000">
                <a:cs typeface="Times New Roman" panose="02020603050405020304" pitchFamily="18" charset="0"/>
              </a:rPr>
              <a:t>  </a:t>
            </a:r>
            <a:r>
              <a:rPr lang="en-US" altLang="tr-TR" sz="2000" b="0">
                <a:cs typeface="Times New Roman" panose="02020603050405020304" pitchFamily="18" charset="0"/>
              </a:rPr>
              <a:t>Diffusion computations</a:t>
            </a:r>
          </a:p>
          <a:p>
            <a:pPr lvl="1"/>
            <a:endParaRPr lang="tr-TR" i="1" kern="0"/>
          </a:p>
          <a:p>
            <a:pPr lvl="1"/>
            <a:r>
              <a:rPr lang="tr-TR" sz="2000" i="1" u="sng" kern="0"/>
              <a:t>     </a:t>
            </a:r>
            <a:endParaRPr lang="tr-TR" sz="2000"/>
          </a:p>
          <a:p>
            <a:pPr marL="914400" lvl="1" indent="-457200">
              <a:buFont typeface="Arial" panose="020B0604020202020204" pitchFamily="34" charset="0"/>
              <a:buChar char="•"/>
            </a:pPr>
            <a:endParaRPr lang="tr-TR" altLang="tr-TR" sz="2800" b="1" kern="0">
              <a:solidFill>
                <a:srgbClr val="C00000"/>
              </a:solidFill>
            </a:endParaRPr>
          </a:p>
          <a:p>
            <a:endParaRPr lang="tr-TR" sz="2800" i="1" u="sng"/>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45054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4</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3539430"/>
          </a:xfrm>
          <a:prstGeom prst="rect">
            <a:avLst/>
          </a:prstGeom>
          <a:noFill/>
        </p:spPr>
        <p:txBody>
          <a:bodyPr wrap="square" rtlCol="0">
            <a:spAutoFit/>
          </a:bodyPr>
          <a:lstStyle/>
          <a:p>
            <a:r>
              <a:rPr lang="tr-TR" altLang="tr-TR" b="1" kern="0">
                <a:solidFill>
                  <a:srgbClr val="C00000"/>
                </a:solidFill>
              </a:rPr>
              <a:t>OPTIONAL MATERIAL:</a:t>
            </a:r>
          </a:p>
          <a:p>
            <a:endParaRPr lang="tr-TR" altLang="tr-TR" b="1" kern="0">
              <a:solidFill>
                <a:srgbClr val="C00000"/>
              </a:solidFill>
            </a:endParaRPr>
          </a:p>
          <a:p>
            <a:pPr marL="800100" lvl="1" indent="-342900">
              <a:buFont typeface="Arial" panose="020B0604020202020204" pitchFamily="34" charset="0"/>
              <a:buChar char="•"/>
            </a:pPr>
            <a:r>
              <a:rPr lang="en-AU" sz="2000" i="1"/>
              <a:t>Schaffer, J. P., </a:t>
            </a:r>
            <a:r>
              <a:rPr lang="en-AU" sz="2000" i="1" err="1"/>
              <a:t>Saxena</a:t>
            </a:r>
            <a:r>
              <a:rPr lang="en-AU" sz="2000" i="1"/>
              <a:t>, A., </a:t>
            </a:r>
            <a:r>
              <a:rPr lang="en-AU" sz="2000" i="1" err="1"/>
              <a:t>Antolovich</a:t>
            </a:r>
            <a:r>
              <a:rPr lang="en-AU" sz="2000" i="1"/>
              <a:t>, S. D., Senders, Jr.,</a:t>
            </a:r>
            <a:r>
              <a:rPr lang="tr-TR" sz="2000" i="1"/>
              <a:t> </a:t>
            </a:r>
            <a:r>
              <a:rPr lang="en-AU" sz="2000" i="1"/>
              <a:t>T. H. and Warner, S. B., “The Science and Design of Engineering Materials” R. D. Irwın, Inc.</a:t>
            </a:r>
            <a:endParaRPr lang="tr-TR" sz="2000" i="1"/>
          </a:p>
          <a:p>
            <a:pPr marL="800100" lvl="1" indent="-342900">
              <a:buFont typeface="Arial" panose="020B0604020202020204" pitchFamily="34" charset="0"/>
              <a:buChar char="•"/>
            </a:pPr>
            <a:r>
              <a:rPr lang="en-AU" sz="2000" i="1"/>
              <a:t>Shackelford, J. F. “Introduction to Materials Science for Engineers” Macmillan Publishing Inc.</a:t>
            </a:r>
            <a:endParaRPr lang="tr-TR" sz="2000" i="1"/>
          </a:p>
          <a:p>
            <a:pPr marL="800100" lvl="1" indent="-342900">
              <a:buFont typeface="Arial" panose="020B0604020202020204" pitchFamily="34" charset="0"/>
              <a:buChar char="•"/>
            </a:pPr>
            <a:endParaRPr lang="tr-TR" sz="2000"/>
          </a:p>
          <a:p>
            <a:pPr marL="914400" lvl="1" indent="-457200">
              <a:buFont typeface="Arial" panose="020B0604020202020204" pitchFamily="34" charset="0"/>
              <a:buChar char="•"/>
            </a:pPr>
            <a:endParaRPr lang="tr-TR" altLang="tr-TR" sz="2800" b="1" kern="0">
              <a:solidFill>
                <a:srgbClr val="C00000"/>
              </a:solidFill>
            </a:endParaRPr>
          </a:p>
          <a:p>
            <a:endParaRPr lang="tr-TR" sz="2800" i="1" u="sng"/>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5550" y="3416369"/>
            <a:ext cx="3165406" cy="3165406"/>
          </a:xfrm>
          <a:prstGeom prst="rect">
            <a:avLst/>
          </a:prstGeom>
        </p:spPr>
      </p:pic>
      <p:sp>
        <p:nvSpPr>
          <p:cNvPr id="7" name="TextBox 6"/>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094561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5</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5724644"/>
          </a:xfrm>
          <a:prstGeom prst="rect">
            <a:avLst/>
          </a:prstGeom>
          <a:noFill/>
        </p:spPr>
        <p:txBody>
          <a:bodyPr wrap="square" rtlCol="0">
            <a:spAutoFit/>
          </a:bodyPr>
          <a:lstStyle/>
          <a:p>
            <a:r>
              <a:rPr lang="tr-TR" altLang="tr-TR" sz="2800" b="1" kern="0">
                <a:solidFill>
                  <a:srgbClr val="C00000"/>
                </a:solidFill>
              </a:rPr>
              <a:t>Why do you need a lecturer if you have a book &amp; HW assignments?</a:t>
            </a:r>
          </a:p>
          <a:p>
            <a:endParaRPr lang="tr-TR" altLang="tr-TR" sz="2800" kern="0">
              <a:solidFill>
                <a:srgbClr val="C00000"/>
              </a:solidFill>
            </a:endParaRPr>
          </a:p>
          <a:p>
            <a:pPr marL="457200" indent="-457200">
              <a:buFont typeface="Arial" panose="020B0604020202020204" pitchFamily="34" charset="0"/>
              <a:buChar char="•"/>
            </a:pPr>
            <a:r>
              <a:rPr lang="en-US" altLang="tr-TR" sz="2000" kern="0"/>
              <a:t>To explain the most difficult concepts of the </a:t>
            </a:r>
            <a:r>
              <a:rPr lang="tr-TR" altLang="tr-TR" sz="2000" kern="0"/>
              <a:t>c</a:t>
            </a:r>
            <a:r>
              <a:rPr lang="en-US" altLang="tr-TR" sz="2000" kern="0" err="1"/>
              <a:t>hapter</a:t>
            </a:r>
            <a:r>
              <a:rPr lang="en-US" altLang="tr-TR" sz="2000" kern="0"/>
              <a:t> during the lectures</a:t>
            </a:r>
            <a:endParaRPr lang="tr-TR" altLang="tr-TR" sz="2000" kern="0"/>
          </a:p>
          <a:p>
            <a:pPr marL="457200" indent="-457200">
              <a:buFont typeface="Arial" panose="020B0604020202020204" pitchFamily="34" charset="0"/>
              <a:buChar char="•"/>
            </a:pPr>
            <a:r>
              <a:rPr lang="en-US" altLang="tr-TR" sz="2000" kern="0"/>
              <a:t>To provide you additional materials, which you cannot find in the book, but which could be very useful in your future research (please take notes)</a:t>
            </a:r>
            <a:endParaRPr lang="tr-TR" altLang="tr-TR" sz="2000" kern="0"/>
          </a:p>
          <a:p>
            <a:pPr marL="457200" indent="-457200">
              <a:buFont typeface="Arial" panose="020B0604020202020204" pitchFamily="34" charset="0"/>
              <a:buChar char="•"/>
            </a:pPr>
            <a:r>
              <a:rPr lang="en-US" altLang="tr-TR" sz="2000" kern="0"/>
              <a:t>To discuss and address any kind of questions and concerns on the course (during lectures, TA and office hours)</a:t>
            </a:r>
            <a:endParaRPr lang="tr-TR" altLang="tr-TR" sz="2000" kern="0"/>
          </a:p>
          <a:p>
            <a:pPr marL="457200" indent="-457200">
              <a:buFont typeface="Arial" panose="020B0604020202020204" pitchFamily="34" charset="0"/>
              <a:buChar char="•"/>
            </a:pPr>
            <a:r>
              <a:rPr lang="en-US" altLang="tr-TR" sz="2000" kern="0"/>
              <a:t>To use </a:t>
            </a:r>
            <a:r>
              <a:rPr lang="tr-TR" altLang="tr-TR" sz="2000" kern="0"/>
              <a:t>his/her </a:t>
            </a:r>
            <a:r>
              <a:rPr lang="en-US" altLang="tr-TR" sz="2000" kern="0"/>
              <a:t>experience in material science for any kind of consultations, which may be related to your current projects</a:t>
            </a:r>
            <a:endParaRPr lang="tr-TR" altLang="tr-TR" sz="2000" kern="0"/>
          </a:p>
          <a:p>
            <a:pPr marL="457200" indent="-457200">
              <a:buFont typeface="Arial" panose="020B0604020202020204" pitchFamily="34" charset="0"/>
              <a:buChar char="•"/>
            </a:pPr>
            <a:r>
              <a:rPr lang="en-US" altLang="tr-TR" sz="2000" kern="0"/>
              <a:t>To fairly grade your HW, Quizzes, Exams and etc., providing you the opportunity to get high final marks!!</a:t>
            </a:r>
            <a:endParaRPr lang="tr-TR" altLang="tr-TR" sz="2000" kern="0"/>
          </a:p>
          <a:p>
            <a:pPr lvl="1"/>
            <a:r>
              <a:rPr lang="tr-TR" sz="2000" i="1" u="sng" kern="0"/>
              <a:t>     </a:t>
            </a:r>
            <a:endParaRPr lang="tr-TR" sz="2000"/>
          </a:p>
          <a:p>
            <a:pPr lvl="1"/>
            <a:r>
              <a:rPr lang="tr-TR" altLang="tr-TR" sz="1400" kern="0"/>
              <a:t>https://www3.nd.edu/~amoukasi/CBE30361/Lecture_1_2014_lecture.pdf</a:t>
            </a:r>
          </a:p>
          <a:p>
            <a:endParaRPr lang="tr-TR" sz="2800" i="1" u="sng"/>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526638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6</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6340197"/>
          </a:xfrm>
          <a:prstGeom prst="rect">
            <a:avLst/>
          </a:prstGeom>
          <a:noFill/>
        </p:spPr>
        <p:txBody>
          <a:bodyPr wrap="square" rtlCol="0">
            <a:spAutoFit/>
          </a:bodyPr>
          <a:lstStyle/>
          <a:p>
            <a:r>
              <a:rPr lang="tr-TR" altLang="tr-TR" sz="2800" b="1" kern="0">
                <a:solidFill>
                  <a:srgbClr val="C00000"/>
                </a:solidFill>
              </a:rPr>
              <a:t>Suggestion for success in this lecture</a:t>
            </a:r>
          </a:p>
          <a:p>
            <a:endParaRPr lang="tr-TR" altLang="tr-TR" sz="2800" kern="0">
              <a:solidFill>
                <a:srgbClr val="C00000"/>
              </a:solidFill>
            </a:endParaRPr>
          </a:p>
          <a:p>
            <a:pPr marL="457200" indent="-457200">
              <a:buFont typeface="Arial" panose="020B0604020202020204" pitchFamily="34" charset="0"/>
              <a:buChar char="•"/>
            </a:pPr>
            <a:r>
              <a:rPr lang="en-US" altLang="tr-TR" sz="2000" kern="0"/>
              <a:t>Attendance is your job – come to class</a:t>
            </a:r>
            <a:r>
              <a:rPr lang="tr-TR" altLang="tr-TR" sz="2000" kern="0"/>
              <a:t>!</a:t>
            </a:r>
          </a:p>
          <a:p>
            <a:pPr marL="457200" indent="-457200">
              <a:buFont typeface="Arial" panose="020B0604020202020204" pitchFamily="34" charset="0"/>
              <a:buChar char="•"/>
            </a:pPr>
            <a:r>
              <a:rPr lang="en-US" altLang="tr-TR" sz="2000" kern="0"/>
              <a:t>Read the relevant material in the book (preferably before the lecture!)</a:t>
            </a:r>
            <a:endParaRPr lang="tr-TR" altLang="tr-TR" sz="2000" kern="0"/>
          </a:p>
          <a:p>
            <a:pPr marL="457200" indent="-457200">
              <a:buFont typeface="Arial" panose="020B0604020202020204" pitchFamily="34" charset="0"/>
              <a:buChar char="•"/>
            </a:pPr>
            <a:r>
              <a:rPr lang="en-US" altLang="tr-TR" sz="2000" kern="0"/>
              <a:t>Review and understand the examples given in the book and/or website.</a:t>
            </a:r>
            <a:endParaRPr lang="tr-TR" altLang="tr-TR" sz="2000" kern="0"/>
          </a:p>
          <a:p>
            <a:pPr marL="457200" indent="-457200">
              <a:buFont typeface="Arial" panose="020B0604020202020204" pitchFamily="34" charset="0"/>
              <a:buChar char="•"/>
            </a:pPr>
            <a:r>
              <a:rPr lang="en-US" altLang="tr-TR" sz="2000" kern="0"/>
              <a:t>Do the assigned homework.  If you are having difficulty with a particular concept, work additional problems given in the book and/or website on that topic that have the answers given in the back of the book.</a:t>
            </a:r>
            <a:endParaRPr lang="tr-TR" altLang="tr-TR" sz="2000" kern="0"/>
          </a:p>
          <a:p>
            <a:pPr marL="457200" indent="-457200">
              <a:buFont typeface="Arial" panose="020B0604020202020204" pitchFamily="34" charset="0"/>
              <a:buChar char="•"/>
            </a:pPr>
            <a:r>
              <a:rPr lang="en-US" altLang="tr-TR" sz="2000" kern="0"/>
              <a:t>Come to office and TA’s hours</a:t>
            </a:r>
            <a:endParaRPr lang="tr-TR" altLang="tr-TR" sz="2000" kern="0"/>
          </a:p>
          <a:p>
            <a:pPr marL="457200" indent="-457200">
              <a:buFont typeface="Arial" panose="020B0604020202020204" pitchFamily="34" charset="0"/>
              <a:buChar char="•"/>
            </a:pPr>
            <a:r>
              <a:rPr lang="tr-TR" altLang="tr-TR" sz="2000" kern="0"/>
              <a:t>Any suggestion/opinion/request are welcome</a:t>
            </a:r>
          </a:p>
          <a:p>
            <a:pPr marL="457200" indent="-457200">
              <a:buFont typeface="Arial" panose="020B0604020202020204" pitchFamily="34" charset="0"/>
              <a:buChar char="•"/>
            </a:pPr>
            <a:endParaRPr lang="tr-TR" altLang="tr-TR" sz="2000" kern="0"/>
          </a:p>
          <a:p>
            <a:pPr marL="457200" indent="-457200">
              <a:buFont typeface="Arial" panose="020B0604020202020204" pitchFamily="34" charset="0"/>
              <a:buChar char="•"/>
            </a:pPr>
            <a:endParaRPr lang="tr-TR" altLang="tr-TR" sz="2000" kern="0"/>
          </a:p>
          <a:p>
            <a:pPr algn="ctr"/>
            <a:r>
              <a:rPr lang="en-US" altLang="tr-TR" b="1" kern="0"/>
              <a:t>Academic success is directly proportional to the amount of time devoted to study!!</a:t>
            </a:r>
            <a:endParaRPr lang="tr-TR" i="1" u="sng" kern="0"/>
          </a:p>
          <a:p>
            <a:r>
              <a:rPr lang="tr-TR" sz="2000" i="1" u="sng" kern="0"/>
              <a:t>    </a:t>
            </a:r>
            <a:endParaRPr lang="tr-TR" sz="2000"/>
          </a:p>
          <a:p>
            <a:pPr lvl="1"/>
            <a:r>
              <a:rPr lang="tr-TR" altLang="tr-TR" sz="1400" kern="0"/>
              <a:t>https://www3.nd.edu/~amoukasi/CBE30361/Lecture_1_2014_lecture.pdf</a:t>
            </a:r>
          </a:p>
          <a:p>
            <a:endParaRPr lang="tr-TR" sz="2800" i="1" u="sng"/>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9891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7</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7786747"/>
          </a:xfrm>
          <a:prstGeom prst="rect">
            <a:avLst/>
          </a:prstGeom>
          <a:noFill/>
        </p:spPr>
        <p:txBody>
          <a:bodyPr wrap="square" rtlCol="0">
            <a:spAutoFit/>
          </a:bodyPr>
          <a:lstStyle/>
          <a:p>
            <a:r>
              <a:rPr lang="tr-TR" altLang="tr-TR" sz="2800" b="1" kern="0">
                <a:solidFill>
                  <a:srgbClr val="C00000"/>
                </a:solidFill>
              </a:rPr>
              <a:t>ASSESSMENT:</a:t>
            </a:r>
          </a:p>
          <a:p>
            <a:pPr marL="457200" indent="-457200">
              <a:buFont typeface="Arial" panose="020B0604020202020204" pitchFamily="34" charset="0"/>
              <a:buChar char="•"/>
            </a:pPr>
            <a:r>
              <a:rPr lang="tr-TR" altLang="tr-TR" sz="2800" b="1" kern="0" err="1"/>
              <a:t>Midterm</a:t>
            </a:r>
            <a:r>
              <a:rPr lang="tr-TR" altLang="tr-TR" sz="2800" b="1" kern="0"/>
              <a:t>: 35%</a:t>
            </a:r>
          </a:p>
          <a:p>
            <a:pPr marL="457200" indent="-457200">
              <a:buFont typeface="Arial" panose="020B0604020202020204" pitchFamily="34" charset="0"/>
              <a:buChar char="•"/>
            </a:pPr>
            <a:r>
              <a:rPr lang="en-US" altLang="tr-TR" sz="2800" b="1" kern="0"/>
              <a:t>Quiz</a:t>
            </a:r>
            <a:r>
              <a:rPr lang="tr-TR" altLang="tr-TR" sz="2800" b="1" kern="0"/>
              <a:t>: 20%</a:t>
            </a:r>
          </a:p>
          <a:p>
            <a:pPr marL="457200" indent="-457200">
              <a:buFont typeface="Arial" panose="020B0604020202020204" pitchFamily="34" charset="0"/>
              <a:buChar char="•"/>
            </a:pPr>
            <a:r>
              <a:rPr lang="tr-TR" altLang="tr-TR" sz="2800" b="1" kern="0"/>
              <a:t>Final exam: 45%</a:t>
            </a:r>
          </a:p>
          <a:p>
            <a:pPr algn="ctr"/>
            <a:endParaRPr lang="tr-TR" altLang="tr-TR" sz="2000" kern="0"/>
          </a:p>
          <a:p>
            <a:pPr algn="ctr"/>
            <a:r>
              <a:rPr lang="tr-TR" altLang="tr-TR" sz="2000" kern="0"/>
              <a:t>(Weighting may be slightly modified)</a:t>
            </a:r>
          </a:p>
          <a:p>
            <a:pPr algn="ctr"/>
            <a:endParaRPr lang="tr-TR" altLang="tr-TR" sz="2000" kern="0"/>
          </a:p>
          <a:p>
            <a:pPr lvl="1"/>
            <a:r>
              <a:rPr lang="en-US" altLang="tr-TR" i="1" kern="0"/>
              <a:t>Exams will be based on homework and information provided in lectures and assigned readings.  All exams will be closed book.  The final will be cumulative. Relevant formulas, tables, etc. will be provided. </a:t>
            </a:r>
            <a:endParaRPr lang="tr-TR" altLang="tr-TR" i="1" kern="0"/>
          </a:p>
          <a:p>
            <a:pPr lvl="1"/>
            <a:endParaRPr lang="tr-TR" altLang="tr-TR" i="1" kern="0"/>
          </a:p>
          <a:p>
            <a:pPr lvl="1"/>
            <a:r>
              <a:rPr lang="tr-TR" altLang="tr-TR" i="1" u="sng" kern="0"/>
              <a:t>Please do </a:t>
            </a:r>
            <a:r>
              <a:rPr lang="tr-TR" altLang="tr-TR" b="1" i="1" u="sng" kern="0"/>
              <a:t>not</a:t>
            </a:r>
            <a:r>
              <a:rPr lang="tr-TR" altLang="tr-TR" i="1" u="sng" kern="0"/>
              <a:t> come to the office to ask additional points, etc.</a:t>
            </a:r>
          </a:p>
          <a:p>
            <a:pPr marL="457200" indent="-457200">
              <a:buFont typeface="Arial" panose="020B0604020202020204" pitchFamily="34" charset="0"/>
              <a:buChar char="•"/>
            </a:pPr>
            <a:endParaRPr lang="tr-TR" altLang="tr-TR" sz="2800" b="1" kern="0"/>
          </a:p>
          <a:p>
            <a:endParaRPr lang="tr-TR" altLang="tr-TR" sz="2800" b="1" kern="0"/>
          </a:p>
          <a:p>
            <a:endParaRPr lang="tr-TR" altLang="tr-TR" sz="2800" b="1" kern="0">
              <a:solidFill>
                <a:srgbClr val="C00000"/>
              </a:solidFill>
            </a:endParaRPr>
          </a:p>
          <a:p>
            <a:pPr lvl="1"/>
            <a:r>
              <a:rPr lang="tr-TR" sz="2000" i="1" u="sng" kern="0"/>
              <a:t>     </a:t>
            </a:r>
            <a:endParaRPr lang="tr-TR" sz="2000"/>
          </a:p>
          <a:p>
            <a:pPr marL="914400" lvl="1" indent="-457200">
              <a:buFont typeface="Arial" panose="020B0604020202020204" pitchFamily="34" charset="0"/>
              <a:buChar char="•"/>
            </a:pPr>
            <a:endParaRPr lang="tr-TR" altLang="tr-TR" sz="2800" b="1" kern="0">
              <a:solidFill>
                <a:srgbClr val="C00000"/>
              </a:solidFill>
            </a:endParaRPr>
          </a:p>
          <a:p>
            <a:endParaRPr lang="tr-TR" sz="2800" i="1" u="sng"/>
          </a:p>
        </p:txBody>
      </p:sp>
      <p:sp>
        <p:nvSpPr>
          <p:cNvPr id="6" name="Metin kutusu 5">
            <a:extLst>
              <a:ext uri="{FF2B5EF4-FFF2-40B4-BE49-F238E27FC236}">
                <a16:creationId xmlns:a16="http://schemas.microsoft.com/office/drawing/2014/main" id="{81610F7F-9597-4F08-D810-64C41F566D43}"/>
              </a:ext>
            </a:extLst>
          </p:cNvPr>
          <p:cNvSpPr txBox="1"/>
          <p:nvPr/>
        </p:nvSpPr>
        <p:spPr>
          <a:xfrm>
            <a:off x="3584028" y="1308236"/>
            <a:ext cx="5364114" cy="1015663"/>
          </a:xfrm>
          <a:prstGeom prst="rect">
            <a:avLst/>
          </a:prstGeom>
          <a:noFill/>
        </p:spPr>
        <p:txBody>
          <a:bodyPr wrap="square">
            <a:spAutoFit/>
          </a:bodyPr>
          <a:lstStyle/>
          <a:p>
            <a:pPr>
              <a:buNone/>
            </a:pPr>
            <a:r>
              <a:rPr lang="en-AU" sz="2400">
                <a:effectLst/>
                <a:latin typeface="Times New Roman" panose="02020603050405020304" pitchFamily="18" charset="0"/>
                <a:ea typeface="Times New Roman" panose="02020603050405020304" pitchFamily="18" charset="0"/>
              </a:rPr>
              <a:t>            </a:t>
            </a:r>
            <a:r>
              <a:rPr lang="en-AU" sz="1800">
                <a:effectLst/>
                <a:latin typeface="Times New Roman" panose="02020603050405020304" pitchFamily="18" charset="0"/>
                <a:ea typeface="Times New Roman" panose="02020603050405020304" pitchFamily="18" charset="0"/>
              </a:rPr>
              <a:t>Quizzes will be scheduled. </a:t>
            </a:r>
            <a:endParaRPr lang="tr-TR" sz="1800">
              <a:effectLst/>
              <a:latin typeface="Times New Roman" panose="02020603050405020304" pitchFamily="18" charset="0"/>
              <a:ea typeface="Times New Roman" panose="02020603050405020304" pitchFamily="18" charset="0"/>
            </a:endParaRPr>
          </a:p>
          <a:p>
            <a:pPr marL="457200" indent="457200">
              <a:buNone/>
            </a:pPr>
            <a:r>
              <a:rPr lang="en-AU" sz="1800">
                <a:effectLst/>
                <a:latin typeface="Times New Roman" panose="02020603050405020304" pitchFamily="18" charset="0"/>
                <a:ea typeface="Times New Roman" panose="02020603050405020304" pitchFamily="18" charset="0"/>
              </a:rPr>
              <a:t>70% Attendance is required.</a:t>
            </a:r>
            <a:endParaRPr lang="tr-TR" sz="1800">
              <a:effectLst/>
              <a:latin typeface="Times New Roman" panose="02020603050405020304" pitchFamily="18" charset="0"/>
              <a:ea typeface="Times New Roman" panose="02020603050405020304" pitchFamily="18" charset="0"/>
            </a:endParaRPr>
          </a:p>
          <a:p>
            <a:pPr marL="457200" indent="457200">
              <a:buNone/>
            </a:pPr>
            <a:r>
              <a:rPr lang="en-AU" sz="1800" b="1">
                <a:effectLst/>
                <a:latin typeface="Times New Roman" panose="02020603050405020304" pitchFamily="18" charset="0"/>
                <a:ea typeface="Times New Roman" panose="02020603050405020304" pitchFamily="18" charset="0"/>
              </a:rPr>
              <a:t>Final Exam score has to be higher than 40</a:t>
            </a:r>
            <a:r>
              <a:rPr lang="en-AU" sz="1800">
                <a:effectLst/>
                <a:latin typeface="Times New Roman" panose="02020603050405020304" pitchFamily="18" charset="0"/>
                <a:ea typeface="Times New Roman" panose="02020603050405020304" pitchFamily="18" charset="0"/>
              </a:rPr>
              <a:t>. </a:t>
            </a:r>
            <a:endParaRPr lang="tr-TR" sz="1800">
              <a:effectLst/>
              <a:latin typeface="Times New Roman" panose="02020603050405020304" pitchFamily="18" charset="0"/>
              <a:ea typeface="Times New Roman" panose="02020603050405020304" pitchFamily="18" charset="0"/>
            </a:endParaRPr>
          </a:p>
        </p:txBody>
      </p:sp>
      <p:sp>
        <p:nvSpPr>
          <p:cNvPr id="7" name="TextBox 6"/>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86098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8</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5755422"/>
          </a:xfrm>
          <a:prstGeom prst="rect">
            <a:avLst/>
          </a:prstGeom>
          <a:noFill/>
        </p:spPr>
        <p:txBody>
          <a:bodyPr wrap="square" rtlCol="0">
            <a:spAutoFit/>
          </a:bodyPr>
          <a:lstStyle/>
          <a:p>
            <a:r>
              <a:rPr lang="tr-TR" altLang="tr-TR" sz="2800" b="1" kern="0">
                <a:solidFill>
                  <a:srgbClr val="C00000"/>
                </a:solidFill>
              </a:rPr>
              <a:t>Several important issues</a:t>
            </a:r>
          </a:p>
          <a:p>
            <a:endParaRPr lang="tr-TR" altLang="tr-TR" sz="2800" kern="0">
              <a:solidFill>
                <a:srgbClr val="C00000"/>
              </a:solidFill>
            </a:endParaRPr>
          </a:p>
          <a:p>
            <a:pPr marL="457200" indent="-457200">
              <a:buFont typeface="Arial" panose="020B0604020202020204" pitchFamily="34" charset="0"/>
              <a:buChar char="•"/>
            </a:pPr>
            <a:r>
              <a:rPr lang="en-US" altLang="tr-TR" sz="2000" kern="0"/>
              <a:t>You should have a complete (100%) understanding of all concepts that I am talking about!!!</a:t>
            </a:r>
          </a:p>
          <a:p>
            <a:pPr marL="457200" indent="-457200">
              <a:buFont typeface="Arial" panose="020B0604020202020204" pitchFamily="34" charset="0"/>
              <a:buChar char="•"/>
            </a:pPr>
            <a:r>
              <a:rPr lang="en-US" altLang="tr-TR" sz="2000" kern="0"/>
              <a:t>You should understand why this course is important!</a:t>
            </a:r>
            <a:endParaRPr lang="tr-TR" altLang="tr-TR" sz="2000" kern="0"/>
          </a:p>
          <a:p>
            <a:pPr marL="457200" indent="-457200">
              <a:buFont typeface="Arial" panose="020B0604020202020204" pitchFamily="34" charset="0"/>
              <a:buChar char="•"/>
            </a:pPr>
            <a:endParaRPr lang="tr-TR" altLang="tr-TR" sz="2000" kern="0"/>
          </a:p>
          <a:p>
            <a:pPr marL="457200" indent="-457200">
              <a:buFont typeface="Arial" panose="020B0604020202020204" pitchFamily="34" charset="0"/>
              <a:buChar char="•"/>
            </a:pPr>
            <a:endParaRPr lang="tr-TR" altLang="tr-TR" sz="2800" kern="0"/>
          </a:p>
          <a:p>
            <a:r>
              <a:rPr lang="tr-TR" altLang="tr-TR" sz="2800" b="1" kern="0">
                <a:solidFill>
                  <a:srgbClr val="C00000"/>
                </a:solidFill>
              </a:rPr>
              <a:t>Essentials</a:t>
            </a:r>
          </a:p>
          <a:p>
            <a:endParaRPr lang="tr-TR" altLang="tr-TR" sz="2000" b="1" kern="0">
              <a:solidFill>
                <a:srgbClr val="C00000"/>
              </a:solidFill>
            </a:endParaRPr>
          </a:p>
          <a:p>
            <a:pPr marL="457200" indent="-457200">
              <a:buFont typeface="Arial" panose="020B0604020202020204" pitchFamily="34" charset="0"/>
              <a:buChar char="•"/>
            </a:pPr>
            <a:r>
              <a:rPr lang="tr-TR" altLang="tr-TR" sz="2000" kern="0"/>
              <a:t>To share knowledge with passion</a:t>
            </a:r>
          </a:p>
          <a:p>
            <a:pPr marL="457200" indent="-457200">
              <a:buFont typeface="Arial" panose="020B0604020202020204" pitchFamily="34" charset="0"/>
              <a:buChar char="•"/>
            </a:pPr>
            <a:r>
              <a:rPr lang="tr-TR" altLang="tr-TR" sz="2000" kern="0"/>
              <a:t>To be ready to help and support young engineers</a:t>
            </a:r>
          </a:p>
          <a:p>
            <a:pPr marL="457200" indent="-457200">
              <a:buFont typeface="Arial" panose="020B0604020202020204" pitchFamily="34" charset="0"/>
              <a:buChar char="•"/>
            </a:pPr>
            <a:r>
              <a:rPr lang="en-US" altLang="tr-TR" sz="2000" kern="0"/>
              <a:t>To support creativity and willingness to learn</a:t>
            </a:r>
            <a:endParaRPr lang="tr-TR" altLang="tr-TR" sz="2000" kern="0"/>
          </a:p>
          <a:p>
            <a:pPr marL="457200" indent="-457200">
              <a:buFont typeface="Arial" panose="020B0604020202020204" pitchFamily="34" charset="0"/>
              <a:buChar char="•"/>
            </a:pPr>
            <a:r>
              <a:rPr lang="en-US" altLang="tr-TR" sz="2000" kern="0"/>
              <a:t>A high final grade for the student is my main goal</a:t>
            </a:r>
            <a:endParaRPr lang="tr-TR" altLang="tr-TR" sz="2000" kern="0"/>
          </a:p>
          <a:p>
            <a:pPr marL="457200" indent="-457200">
              <a:buFont typeface="Arial" panose="020B0604020202020204" pitchFamily="34" charset="0"/>
              <a:buChar char="•"/>
            </a:pPr>
            <a:endParaRPr lang="tr-TR" altLang="tr-TR" sz="2000" kern="0"/>
          </a:p>
          <a:p>
            <a:pPr algn="ctr"/>
            <a:r>
              <a:rPr lang="tr-TR" altLang="tr-TR" sz="3600" kern="0">
                <a:solidFill>
                  <a:srgbClr val="FF0000"/>
                </a:solidFill>
              </a:rPr>
              <a:t>Let’s start</a:t>
            </a:r>
          </a:p>
          <a:p>
            <a:endParaRPr lang="tr-TR" altLang="tr-TR" sz="2000" kern="0"/>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531164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67B4B860-99B0-45E9-AC50-6576877A1700}" type="slidenum">
              <a:rPr lang="en-US" altLang="tr-TR" sz="1200" b="0"/>
              <a:pPr>
                <a:spcBef>
                  <a:spcPct val="0"/>
                </a:spcBef>
                <a:buFontTx/>
                <a:buNone/>
              </a:pPr>
              <a:t>9</a:t>
            </a:fld>
            <a:endParaRPr lang="en-US" altLang="tr-TR" sz="1200" b="0"/>
          </a:p>
        </p:txBody>
      </p:sp>
      <p:sp>
        <p:nvSpPr>
          <p:cNvPr id="2052" name="Rectangle 6"/>
          <p:cNvSpPr>
            <a:spLocks noChangeArrowheads="1"/>
          </p:cNvSpPr>
          <p:nvPr/>
        </p:nvSpPr>
        <p:spPr bwMode="auto">
          <a:xfrm>
            <a:off x="914400" y="1219200"/>
            <a:ext cx="322103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a:solidFill>
                  <a:srgbClr val="4D4D4D"/>
                </a:solidFill>
              </a:rPr>
              <a:t>Course Objective...</a:t>
            </a:r>
          </a:p>
        </p:txBody>
      </p:sp>
      <p:sp>
        <p:nvSpPr>
          <p:cNvPr id="2053" name="Rectangle 7"/>
          <p:cNvSpPr>
            <a:spLocks noChangeArrowheads="1"/>
          </p:cNvSpPr>
          <p:nvPr/>
        </p:nvSpPr>
        <p:spPr bwMode="auto">
          <a:xfrm>
            <a:off x="5897563" y="140970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latin typeface="Times" panose="02020603050405020304" pitchFamily="18" charset="0"/>
            </a:endParaRPr>
          </a:p>
        </p:txBody>
      </p:sp>
      <p:sp>
        <p:nvSpPr>
          <p:cNvPr id="2054" name="Rectangle 8"/>
          <p:cNvSpPr>
            <a:spLocks noChangeArrowheads="1"/>
          </p:cNvSpPr>
          <p:nvPr/>
        </p:nvSpPr>
        <p:spPr bwMode="auto">
          <a:xfrm>
            <a:off x="1295400" y="1676400"/>
            <a:ext cx="604332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Introduce fundamental concepts in Materials</a:t>
            </a:r>
          </a:p>
          <a:p>
            <a:pPr>
              <a:spcBef>
                <a:spcPct val="0"/>
              </a:spcBef>
              <a:buFontTx/>
              <a:buNone/>
            </a:pPr>
            <a:r>
              <a:rPr lang="en-US" altLang="tr-TR" sz="2400" b="0">
                <a:solidFill>
                  <a:srgbClr val="000000"/>
                </a:solidFill>
              </a:rPr>
              <a:t>Science</a:t>
            </a:r>
            <a:endParaRPr lang="en-US" altLang="tr-TR" sz="2400" b="0">
              <a:latin typeface="Times" panose="02020603050405020304" pitchFamily="18" charset="0"/>
            </a:endParaRPr>
          </a:p>
        </p:txBody>
      </p:sp>
      <p:sp>
        <p:nvSpPr>
          <p:cNvPr id="2055" name="Rectangle 9"/>
          <p:cNvSpPr>
            <a:spLocks noChangeArrowheads="1"/>
          </p:cNvSpPr>
          <p:nvPr/>
        </p:nvSpPr>
        <p:spPr bwMode="auto">
          <a:xfrm>
            <a:off x="900113" y="234950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latin typeface="Times" panose="02020603050405020304" pitchFamily="18" charset="0"/>
            </a:endParaRPr>
          </a:p>
        </p:txBody>
      </p:sp>
      <p:sp>
        <p:nvSpPr>
          <p:cNvPr id="2056" name="Rectangle 10"/>
          <p:cNvSpPr>
            <a:spLocks noChangeArrowheads="1"/>
          </p:cNvSpPr>
          <p:nvPr/>
        </p:nvSpPr>
        <p:spPr bwMode="auto">
          <a:xfrm>
            <a:off x="900113" y="2514600"/>
            <a:ext cx="34766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a:solidFill>
                  <a:srgbClr val="4D4D4D"/>
                </a:solidFill>
              </a:rPr>
              <a:t>You will learn about:</a:t>
            </a:r>
          </a:p>
        </p:txBody>
      </p:sp>
      <p:sp>
        <p:nvSpPr>
          <p:cNvPr id="2057" name="Rectangle 11"/>
          <p:cNvSpPr>
            <a:spLocks noChangeArrowheads="1"/>
          </p:cNvSpPr>
          <p:nvPr/>
        </p:nvSpPr>
        <p:spPr bwMode="auto">
          <a:xfrm>
            <a:off x="1319213" y="2921000"/>
            <a:ext cx="26304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material structure</a:t>
            </a:r>
            <a:endParaRPr lang="en-US" altLang="tr-TR" sz="2400" b="0">
              <a:latin typeface="Times" panose="02020603050405020304" pitchFamily="18" charset="0"/>
            </a:endParaRPr>
          </a:p>
        </p:txBody>
      </p:sp>
      <p:sp>
        <p:nvSpPr>
          <p:cNvPr id="2058" name="Rectangle 12"/>
          <p:cNvSpPr>
            <a:spLocks noChangeArrowheads="1"/>
          </p:cNvSpPr>
          <p:nvPr/>
        </p:nvSpPr>
        <p:spPr bwMode="auto">
          <a:xfrm>
            <a:off x="1319213" y="3327400"/>
            <a:ext cx="46815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how structure dictates properties</a:t>
            </a:r>
            <a:endParaRPr lang="en-US" altLang="tr-TR" sz="2400" b="0">
              <a:latin typeface="Times" panose="02020603050405020304" pitchFamily="18" charset="0"/>
            </a:endParaRPr>
          </a:p>
        </p:txBody>
      </p:sp>
      <p:sp>
        <p:nvSpPr>
          <p:cNvPr id="2059" name="Rectangle 13"/>
          <p:cNvSpPr>
            <a:spLocks noChangeArrowheads="1"/>
          </p:cNvSpPr>
          <p:nvPr/>
        </p:nvSpPr>
        <p:spPr bwMode="auto">
          <a:xfrm>
            <a:off x="1319213" y="3733800"/>
            <a:ext cx="5324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how processing can change structure</a:t>
            </a:r>
            <a:endParaRPr lang="en-US" altLang="tr-TR" sz="2400" b="0">
              <a:latin typeface="Times" panose="02020603050405020304" pitchFamily="18" charset="0"/>
            </a:endParaRPr>
          </a:p>
        </p:txBody>
      </p:sp>
      <p:sp>
        <p:nvSpPr>
          <p:cNvPr id="2060" name="Rectangle 14"/>
          <p:cNvSpPr>
            <a:spLocks noChangeArrowheads="1"/>
          </p:cNvSpPr>
          <p:nvPr/>
        </p:nvSpPr>
        <p:spPr bwMode="auto">
          <a:xfrm>
            <a:off x="900113" y="438150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latin typeface="Times" panose="02020603050405020304" pitchFamily="18" charset="0"/>
            </a:endParaRPr>
          </a:p>
        </p:txBody>
      </p:sp>
      <p:sp>
        <p:nvSpPr>
          <p:cNvPr id="2061" name="Rectangle 15"/>
          <p:cNvSpPr>
            <a:spLocks noChangeArrowheads="1"/>
          </p:cNvSpPr>
          <p:nvPr/>
        </p:nvSpPr>
        <p:spPr bwMode="auto">
          <a:xfrm>
            <a:off x="900113" y="4267200"/>
            <a:ext cx="4781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a:solidFill>
                  <a:srgbClr val="4D4D4D"/>
                </a:solidFill>
              </a:rPr>
              <a:t>This course will help you to:</a:t>
            </a:r>
          </a:p>
        </p:txBody>
      </p:sp>
      <p:sp>
        <p:nvSpPr>
          <p:cNvPr id="2062" name="Rectangle 16"/>
          <p:cNvSpPr>
            <a:spLocks noChangeArrowheads="1"/>
          </p:cNvSpPr>
          <p:nvPr/>
        </p:nvSpPr>
        <p:spPr bwMode="auto">
          <a:xfrm>
            <a:off x="1319213" y="4673600"/>
            <a:ext cx="32750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use materials properly</a:t>
            </a:r>
            <a:endParaRPr lang="en-US" altLang="tr-TR" sz="2400" b="0">
              <a:latin typeface="Times" panose="02020603050405020304" pitchFamily="18" charset="0"/>
            </a:endParaRPr>
          </a:p>
        </p:txBody>
      </p:sp>
      <p:sp>
        <p:nvSpPr>
          <p:cNvPr id="2063" name="Rectangle 17"/>
          <p:cNvSpPr>
            <a:spLocks noChangeArrowheads="1"/>
          </p:cNvSpPr>
          <p:nvPr/>
        </p:nvSpPr>
        <p:spPr bwMode="auto">
          <a:xfrm>
            <a:off x="1319213" y="5080000"/>
            <a:ext cx="46307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realize new design opportunities</a:t>
            </a:r>
            <a:endParaRPr lang="en-US" altLang="tr-TR" sz="2400" b="0">
              <a:latin typeface="Times" panose="02020603050405020304" pitchFamily="18" charset="0"/>
            </a:endParaRPr>
          </a:p>
        </p:txBody>
      </p:sp>
      <p:sp>
        <p:nvSpPr>
          <p:cNvPr id="2064" name="Rectangle 18"/>
          <p:cNvSpPr>
            <a:spLocks noChangeArrowheads="1"/>
          </p:cNvSpPr>
          <p:nvPr/>
        </p:nvSpPr>
        <p:spPr bwMode="auto">
          <a:xfrm>
            <a:off x="1357313" y="600710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latin typeface="Times" panose="02020603050405020304" pitchFamily="18" charset="0"/>
            </a:endParaRPr>
          </a:p>
        </p:txBody>
      </p:sp>
      <p:sp>
        <p:nvSpPr>
          <p:cNvPr id="2065" name="Rectangle 19"/>
          <p:cNvSpPr>
            <a:spLocks noChangeArrowheads="1"/>
          </p:cNvSpPr>
          <p:nvPr/>
        </p:nvSpPr>
        <p:spPr bwMode="auto">
          <a:xfrm>
            <a:off x="1593056" y="5486400"/>
            <a:ext cx="18637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with materials</a:t>
            </a:r>
            <a:endParaRPr lang="en-US" altLang="tr-TR" sz="2400" b="0">
              <a:latin typeface="Times" panose="02020603050405020304" pitchFamily="18" charset="0"/>
            </a:endParaRPr>
          </a:p>
        </p:txBody>
      </p:sp>
      <p:sp>
        <p:nvSpPr>
          <p:cNvPr id="2066" name="Rectangle 21"/>
          <p:cNvSpPr>
            <a:spLocks noChangeArrowheads="1"/>
          </p:cNvSpPr>
          <p:nvPr/>
        </p:nvSpPr>
        <p:spPr bwMode="auto">
          <a:xfrm>
            <a:off x="8077200" y="6400800"/>
            <a:ext cx="184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1200" b="0">
              <a:solidFill>
                <a:srgbClr val="000000"/>
              </a:solidFill>
            </a:endParaRPr>
          </a:p>
        </p:txBody>
      </p:sp>
      <p:pic>
        <p:nvPicPr>
          <p:cNvPr id="19" name="Picture 18"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2067" name="TextBox 2066"/>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10</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62182" y="931868"/>
            <a:ext cx="8507345" cy="5324535"/>
          </a:xfrm>
          <a:prstGeom prst="rect">
            <a:avLst/>
          </a:prstGeom>
          <a:noFill/>
        </p:spPr>
        <p:txBody>
          <a:bodyPr wrap="square" rtlCol="0">
            <a:spAutoFit/>
          </a:bodyPr>
          <a:lstStyle/>
          <a:p>
            <a:r>
              <a:rPr lang="tr-TR" altLang="tr-TR" sz="2800" b="1" kern="0">
                <a:solidFill>
                  <a:srgbClr val="C00000"/>
                </a:solidFill>
              </a:rPr>
              <a:t>1. Introduction</a:t>
            </a:r>
          </a:p>
          <a:p>
            <a:endParaRPr lang="tr-TR" altLang="tr-TR" kern="0">
              <a:solidFill>
                <a:srgbClr val="C00000"/>
              </a:solidFill>
            </a:endParaRPr>
          </a:p>
          <a:p>
            <a:pPr marL="457200" indent="-457200">
              <a:buFont typeface="Arial" panose="020B0604020202020204" pitchFamily="34" charset="0"/>
              <a:buChar char="•"/>
            </a:pPr>
            <a:r>
              <a:rPr lang="tr-TR" kern="0"/>
              <a:t>What is materials science?</a:t>
            </a:r>
          </a:p>
          <a:p>
            <a:pPr marL="457200" indent="-457200">
              <a:buFont typeface="Arial" panose="020B0604020202020204" pitchFamily="34" charset="0"/>
              <a:buChar char="•"/>
            </a:pPr>
            <a:endParaRPr lang="tr-TR" kern="0"/>
          </a:p>
          <a:p>
            <a:pPr lvl="1"/>
            <a:r>
              <a:rPr lang="tr-TR" kern="0"/>
              <a:t>M</a:t>
            </a:r>
            <a:r>
              <a:rPr lang="en-US" kern="0" err="1"/>
              <a:t>ultidisciplinary</a:t>
            </a:r>
            <a:r>
              <a:rPr lang="en-US" kern="0"/>
              <a:t> field of science devoted to understanding and manipulating the different materials properties including physical, mechanical, electrical,</a:t>
            </a:r>
            <a:r>
              <a:rPr lang="tr-TR" kern="0"/>
              <a:t> etc. </a:t>
            </a:r>
            <a:r>
              <a:rPr lang="tr-TR" b="1"/>
              <a:t>It i</a:t>
            </a:r>
            <a:r>
              <a:rPr lang="en-US" altLang="tr-TR" b="1" err="1"/>
              <a:t>nvestigat</a:t>
            </a:r>
            <a:r>
              <a:rPr lang="tr-TR" altLang="tr-TR" b="1"/>
              <a:t>es</a:t>
            </a:r>
            <a:r>
              <a:rPr lang="en-US" altLang="tr-TR" b="1"/>
              <a:t> relationships that exist between the structure and properties of materials</a:t>
            </a:r>
            <a:r>
              <a:rPr lang="tr-TR" altLang="tr-TR" b="1"/>
              <a:t>.</a:t>
            </a:r>
          </a:p>
          <a:p>
            <a:pPr lvl="1"/>
            <a:endParaRPr lang="tr-TR" b="1" kern="0"/>
          </a:p>
          <a:p>
            <a:pPr lvl="1"/>
            <a:r>
              <a:rPr lang="tr-TR" b="1" kern="0"/>
              <a:t>Materials Engineering is </a:t>
            </a:r>
            <a:r>
              <a:rPr lang="en-US" altLang="tr-TR"/>
              <a:t>on the basis of these structure-property correlations, designing or engineering the structure of a material to produce a pre-determined set of properties</a:t>
            </a:r>
            <a:endParaRPr lang="tr-TR" kern="0"/>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417863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11</a:t>
            </a:fld>
            <a:endParaRPr lang="en-US" altLang="tr-TR"/>
          </a:p>
        </p:txBody>
      </p:sp>
      <p:pic>
        <p:nvPicPr>
          <p:cNvPr id="3" name="Picture 2"/>
          <p:cNvPicPr>
            <a:picLocks noChangeAspect="1"/>
          </p:cNvPicPr>
          <p:nvPr/>
        </p:nvPicPr>
        <p:blipFill rotWithShape="1">
          <a:blip r:embed="rId2"/>
          <a:srcRect l="28430" t="30413" r="31220" b="18838"/>
          <a:stretch/>
        </p:blipFill>
        <p:spPr>
          <a:xfrm>
            <a:off x="882354" y="861237"/>
            <a:ext cx="7378996" cy="5220586"/>
          </a:xfrm>
          <a:prstGeom prst="rect">
            <a:avLst/>
          </a:prstGeom>
        </p:spPr>
      </p:pic>
      <p:pic>
        <p:nvPicPr>
          <p:cNvPr id="4" name="Picture 3"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Rectangle 4"/>
          <p:cNvSpPr/>
          <p:nvPr/>
        </p:nvSpPr>
        <p:spPr>
          <a:xfrm>
            <a:off x="434298" y="6403975"/>
            <a:ext cx="5586984" cy="307777"/>
          </a:xfrm>
          <a:prstGeom prst="rect">
            <a:avLst/>
          </a:prstGeom>
        </p:spPr>
        <p:txBody>
          <a:bodyPr wrap="square">
            <a:spAutoFit/>
          </a:bodyPr>
          <a:lstStyle/>
          <a:p>
            <a:r>
              <a:rPr lang="en-US" sz="1400"/>
              <a:t>Buehler and </a:t>
            </a:r>
            <a:r>
              <a:rPr lang="en-US" sz="1400" err="1"/>
              <a:t>Ackbarow</a:t>
            </a:r>
            <a:r>
              <a:rPr lang="en-US" sz="1400"/>
              <a:t>, Materials Today, 2007</a:t>
            </a:r>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2162220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12</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51791" y="921477"/>
            <a:ext cx="8507345" cy="5201424"/>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tr-TR" kern="0"/>
              <a:t>Why should we know about it</a:t>
            </a:r>
          </a:p>
          <a:p>
            <a:pPr marL="457200" indent="-457200">
              <a:buFont typeface="Arial" panose="020B0604020202020204" pitchFamily="34" charset="0"/>
              <a:buChar char="•"/>
            </a:pPr>
            <a:endParaRPr lang="tr-TR" kern="0"/>
          </a:p>
          <a:p>
            <a:pPr lvl="1"/>
            <a:r>
              <a:rPr lang="en-US" sz="2000" b="1">
                <a:solidFill>
                  <a:srgbClr val="FF0000"/>
                </a:solidFill>
              </a:rPr>
              <a:t>Mechanical engineering </a:t>
            </a:r>
            <a:r>
              <a:rPr lang="en-US" sz="2000"/>
              <a:t>is among the most diversified of the traditional engineering disciplines. Mechanical engineers design and build machines and devices that enable humans to live and work in space, in the air, on the ground, and under water.</a:t>
            </a:r>
            <a:endParaRPr lang="tr-TR" sz="2000"/>
          </a:p>
          <a:p>
            <a:pPr lvl="1"/>
            <a:endParaRPr lang="tr-TR"/>
          </a:p>
          <a:p>
            <a:pPr lvl="1"/>
            <a:r>
              <a:rPr lang="en-US" sz="2000">
                <a:latin typeface="Arial"/>
                <a:ea typeface="ＭＳ Ｐゴシック"/>
                <a:cs typeface="Arial"/>
              </a:rPr>
              <a:t>Naturally, much of what engineers can or cannot do </a:t>
            </a:r>
            <a:r>
              <a:rPr lang="en-US" sz="2000" u="sng">
                <a:latin typeface="Arial"/>
                <a:ea typeface="ＭＳ Ｐゴシック"/>
                <a:cs typeface="Arial"/>
              </a:rPr>
              <a:t>depends on the materials</a:t>
            </a:r>
            <a:r>
              <a:rPr lang="en-US" sz="2000">
                <a:latin typeface="Arial"/>
                <a:ea typeface="ＭＳ Ｐゴシック"/>
                <a:cs typeface="Arial"/>
              </a:rPr>
              <a:t> they have available </a:t>
            </a:r>
            <a:r>
              <a:rPr lang="en-US" sz="2000" err="1">
                <a:latin typeface="Arial"/>
                <a:ea typeface="ＭＳ Ｐゴシック"/>
                <a:cs typeface="Arial"/>
              </a:rPr>
              <a:t>to tackle th</a:t>
            </a:r>
            <a:r>
              <a:rPr lang="en-US" sz="2000">
                <a:latin typeface="Arial"/>
                <a:ea typeface="ＭＳ Ｐゴシック"/>
                <a:cs typeface="Arial"/>
              </a:rPr>
              <a:t>eir tasks. This is why engineers and material scientists work closely together with the goal of tailoring not only the mechanical, but also chemical and electrical properties of materials to make new applications possible. </a:t>
            </a:r>
            <a:endParaRPr lang="tr-TR" sz="2000">
              <a:latin typeface="Arial"/>
              <a:ea typeface="ＭＳ Ｐゴシック"/>
              <a:cs typeface="Arial"/>
            </a:endParaRPr>
          </a:p>
          <a:p>
            <a:pPr lvl="1"/>
            <a:endParaRPr lang="tr-TR" sz="2000"/>
          </a:p>
          <a:p>
            <a:pPr lvl="1"/>
            <a:r>
              <a:rPr lang="tr-TR" sz="2000">
                <a:latin typeface="Arial"/>
                <a:ea typeface="ＭＳ Ｐゴシック"/>
                <a:cs typeface="Arial"/>
              </a:rPr>
              <a:t>We</a:t>
            </a:r>
            <a:r>
              <a:rPr lang="en-US" sz="2000">
                <a:latin typeface="Arial"/>
                <a:ea typeface="ＭＳ Ｐゴシック"/>
                <a:cs typeface="Arial"/>
              </a:rPr>
              <a:t> have to be able to talk with materials scientist on the same professional language, formulate the problem and outline routes for it solution</a:t>
            </a:r>
            <a:r>
              <a:rPr lang="tr-TR" sz="2000">
                <a:latin typeface="Arial"/>
                <a:ea typeface="ＭＳ Ｐゴシック"/>
                <a:cs typeface="Arial"/>
              </a:rPr>
              <a:t>.</a:t>
            </a:r>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69799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13</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1970" r="9943"/>
          <a:stretch/>
        </p:blipFill>
        <p:spPr>
          <a:xfrm>
            <a:off x="304451" y="644599"/>
            <a:ext cx="2913322" cy="209860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7678" y="1704753"/>
            <a:ext cx="1681717" cy="168171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8316129">
            <a:off x="48088" y="4683450"/>
            <a:ext cx="1650270" cy="1327288"/>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3312" y="3849997"/>
            <a:ext cx="1747027" cy="2655481"/>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81084" y="836922"/>
            <a:ext cx="2030647" cy="1352983"/>
          </a:xfrm>
          <a:prstGeom prst="rect">
            <a:avLst/>
          </a:prstGeom>
        </p:spPr>
      </p:pic>
      <p:pic>
        <p:nvPicPr>
          <p:cNvPr id="10" name="Picture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30795" y="2721904"/>
            <a:ext cx="2921749" cy="1881644"/>
          </a:xfrm>
          <a:prstGeom prst="rect">
            <a:avLst/>
          </a:prstGeom>
        </p:spPr>
      </p:pic>
      <p:pic>
        <p:nvPicPr>
          <p:cNvPr id="11" name="Picture 1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58706" y="4393457"/>
            <a:ext cx="2860158" cy="1907274"/>
          </a:xfrm>
          <a:prstGeom prst="rect">
            <a:avLst/>
          </a:prstGeom>
        </p:spPr>
      </p:pic>
      <p:cxnSp>
        <p:nvCxnSpPr>
          <p:cNvPr id="13" name="Straight Connector 12"/>
          <p:cNvCxnSpPr/>
          <p:nvPr/>
        </p:nvCxnSpPr>
        <p:spPr bwMode="auto">
          <a:xfrm>
            <a:off x="304451" y="3662726"/>
            <a:ext cx="4639689"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 name="Straight Connector 13"/>
          <p:cNvCxnSpPr/>
          <p:nvPr/>
        </p:nvCxnSpPr>
        <p:spPr bwMode="auto">
          <a:xfrm flipH="1" flipV="1">
            <a:off x="5066764" y="535133"/>
            <a:ext cx="42101" cy="3059813"/>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9" name="Straight Connector 18"/>
          <p:cNvCxnSpPr/>
          <p:nvPr/>
        </p:nvCxnSpPr>
        <p:spPr bwMode="auto">
          <a:xfrm flipH="1" flipV="1">
            <a:off x="4376691" y="3849997"/>
            <a:ext cx="21051" cy="2909579"/>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1" name="Straight Connector 20"/>
          <p:cNvCxnSpPr/>
          <p:nvPr/>
        </p:nvCxnSpPr>
        <p:spPr bwMode="auto">
          <a:xfrm flipV="1">
            <a:off x="5337544" y="2432893"/>
            <a:ext cx="3610598" cy="12595"/>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22" name="TextBox 21"/>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396466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14</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921477"/>
            <a:ext cx="8507345" cy="2246769"/>
          </a:xfrm>
          <a:prstGeom prst="rect">
            <a:avLst/>
          </a:prstGeom>
          <a:noFill/>
        </p:spPr>
        <p:txBody>
          <a:bodyPr wrap="square" rtlCol="0">
            <a:spAutoFit/>
          </a:bodyPr>
          <a:lstStyle/>
          <a:p>
            <a:r>
              <a:rPr lang="tr-TR" sz="2800" b="1" kern="0">
                <a:solidFill>
                  <a:srgbClr val="C00000"/>
                </a:solidFill>
              </a:rPr>
              <a:t>Understanding Materials</a:t>
            </a:r>
          </a:p>
          <a:p>
            <a:endParaRPr lang="tr-TR" sz="2000" kern="0"/>
          </a:p>
          <a:p>
            <a:r>
              <a:rPr lang="tr-TR" sz="2000" kern="0"/>
              <a:t>Processing → Structure → Properties → Performance</a:t>
            </a:r>
          </a:p>
          <a:p>
            <a:endParaRPr lang="tr-TR" kern="0"/>
          </a:p>
          <a:p>
            <a:endParaRPr lang="tr-TR" kern="0"/>
          </a:p>
          <a:p>
            <a:endParaRPr lang="tr-TR" kern="0"/>
          </a:p>
        </p:txBody>
      </p:sp>
      <p:grpSp>
        <p:nvGrpSpPr>
          <p:cNvPr id="9" name="Group 8"/>
          <p:cNvGrpSpPr/>
          <p:nvPr/>
        </p:nvGrpSpPr>
        <p:grpSpPr>
          <a:xfrm>
            <a:off x="490599" y="2600188"/>
            <a:ext cx="4413975" cy="2681490"/>
            <a:chOff x="1135911" y="2600188"/>
            <a:chExt cx="4413975" cy="268149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911" y="2600188"/>
              <a:ext cx="4413975" cy="2681490"/>
            </a:xfrm>
            <a:prstGeom prst="rect">
              <a:avLst/>
            </a:prstGeom>
          </p:spPr>
        </p:pic>
        <p:sp>
          <p:nvSpPr>
            <p:cNvPr id="8" name="TextBox 7"/>
            <p:cNvSpPr txBox="1"/>
            <p:nvPr/>
          </p:nvSpPr>
          <p:spPr>
            <a:xfrm>
              <a:off x="1239278" y="3064879"/>
              <a:ext cx="1702705" cy="400110"/>
            </a:xfrm>
            <a:prstGeom prst="rect">
              <a:avLst/>
            </a:prstGeom>
            <a:solidFill>
              <a:schemeClr val="bg1"/>
            </a:solidFill>
          </p:spPr>
          <p:txBody>
            <a:bodyPr wrap="square" rtlCol="0">
              <a:spAutoFit/>
            </a:bodyPr>
            <a:lstStyle/>
            <a:p>
              <a:r>
                <a:rPr lang="tr-TR" sz="2000"/>
                <a:t>Optimization</a:t>
              </a:r>
            </a:p>
          </p:txBody>
        </p:sp>
      </p:grpSp>
      <p:sp>
        <p:nvSpPr>
          <p:cNvPr id="10" name="Rectangle 9"/>
          <p:cNvSpPr/>
          <p:nvPr/>
        </p:nvSpPr>
        <p:spPr>
          <a:xfrm>
            <a:off x="95360" y="5382786"/>
            <a:ext cx="7378810" cy="369332"/>
          </a:xfrm>
          <a:prstGeom prst="rect">
            <a:avLst/>
          </a:prstGeom>
        </p:spPr>
        <p:txBody>
          <a:bodyPr wrap="square">
            <a:spAutoFit/>
          </a:bodyPr>
          <a:lstStyle/>
          <a:p>
            <a:r>
              <a:rPr lang="en-US" sz="1800" i="1"/>
              <a:t>Tetrahedron of Materials Science and Engineering </a:t>
            </a:r>
            <a:endParaRPr lang="tr-TR" sz="1800" i="1"/>
          </a:p>
        </p:txBody>
      </p:sp>
      <p:sp>
        <p:nvSpPr>
          <p:cNvPr id="11" name="Rectangle 10"/>
          <p:cNvSpPr/>
          <p:nvPr/>
        </p:nvSpPr>
        <p:spPr>
          <a:xfrm>
            <a:off x="5716988" y="2600188"/>
            <a:ext cx="3039219" cy="1938992"/>
          </a:xfrm>
          <a:prstGeom prst="rect">
            <a:avLst/>
          </a:prstGeom>
        </p:spPr>
        <p:txBody>
          <a:bodyPr wrap="square">
            <a:spAutoFit/>
          </a:bodyPr>
          <a:lstStyle/>
          <a:p>
            <a:r>
              <a:rPr lang="en-US" sz="2000"/>
              <a:t>Material properties depend on the material micro/nano structure, which in turn, results from its composition and processing </a:t>
            </a:r>
            <a:endParaRPr lang="tr-TR" sz="2000"/>
          </a:p>
        </p:txBody>
      </p:sp>
      <p:sp>
        <p:nvSpPr>
          <p:cNvPr id="12" name="TextBox 11"/>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341508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C0888A66-B330-4B53-982F-DA06B8CF7FB0}" type="slidenum">
              <a:rPr lang="en-US" altLang="tr-TR" sz="1200" b="0"/>
              <a:pPr>
                <a:spcBef>
                  <a:spcPct val="0"/>
                </a:spcBef>
                <a:buFontTx/>
                <a:buNone/>
              </a:pPr>
              <a:t>15</a:t>
            </a:fld>
            <a:endParaRPr lang="en-US" altLang="tr-TR" sz="1200" b="0"/>
          </a:p>
        </p:txBody>
      </p:sp>
      <p:sp>
        <p:nvSpPr>
          <p:cNvPr id="16387" name="Rectangle 2"/>
          <p:cNvSpPr>
            <a:spLocks noGrp="1" noChangeArrowheads="1"/>
          </p:cNvSpPr>
          <p:nvPr>
            <p:ph type="title"/>
          </p:nvPr>
        </p:nvSpPr>
        <p:spPr/>
        <p:txBody>
          <a:bodyPr/>
          <a:lstStyle/>
          <a:p>
            <a:r>
              <a:rPr lang="en-US" altLang="tr-TR">
                <a:ea typeface="ＭＳ Ｐゴシック" panose="020B0600070205080204" pitchFamily="34" charset="-128"/>
              </a:rPr>
              <a:t>ELECTRICAL</a:t>
            </a:r>
          </a:p>
        </p:txBody>
      </p:sp>
      <p:sp>
        <p:nvSpPr>
          <p:cNvPr id="16388" name="Rectangle 4"/>
          <p:cNvSpPr>
            <a:spLocks noChangeArrowheads="1"/>
          </p:cNvSpPr>
          <p:nvPr/>
        </p:nvSpPr>
        <p:spPr bwMode="auto">
          <a:xfrm>
            <a:off x="796925" y="1133475"/>
            <a:ext cx="4476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Electrical Resistivity of Copper:</a:t>
            </a:r>
            <a:endParaRPr lang="en-US" altLang="tr-TR" sz="2400" b="0">
              <a:latin typeface="Times" panose="02020603050405020304" pitchFamily="18" charset="0"/>
            </a:endParaRPr>
          </a:p>
        </p:txBody>
      </p:sp>
      <p:sp>
        <p:nvSpPr>
          <p:cNvPr id="16389" name="Rectangle 5"/>
          <p:cNvSpPr>
            <a:spLocks noChangeArrowheads="1"/>
          </p:cNvSpPr>
          <p:nvPr/>
        </p:nvSpPr>
        <p:spPr bwMode="auto">
          <a:xfrm>
            <a:off x="873125" y="5486400"/>
            <a:ext cx="71199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  Adding “</a:t>
            </a:r>
            <a:r>
              <a:rPr lang="en-US" altLang="tr-TR" sz="2400" b="0">
                <a:solidFill>
                  <a:schemeClr val="accent2"/>
                </a:solidFill>
              </a:rPr>
              <a:t>impurity</a:t>
            </a:r>
            <a:r>
              <a:rPr lang="en-US" altLang="tr-TR" sz="2400" b="0"/>
              <a:t>” atoms to Cu increases </a:t>
            </a:r>
            <a:r>
              <a:rPr lang="en-US" altLang="tr-TR" sz="2400" b="0">
                <a:solidFill>
                  <a:schemeClr val="accent2"/>
                </a:solidFill>
              </a:rPr>
              <a:t>resistivity</a:t>
            </a:r>
            <a:r>
              <a:rPr lang="en-US" altLang="tr-TR" sz="2400" b="0"/>
              <a:t>.</a:t>
            </a:r>
            <a:endParaRPr lang="en-US" altLang="tr-TR" sz="2400" b="0">
              <a:latin typeface="Times" panose="02020603050405020304" pitchFamily="18" charset="0"/>
            </a:endParaRPr>
          </a:p>
        </p:txBody>
      </p:sp>
      <p:sp>
        <p:nvSpPr>
          <p:cNvPr id="16390" name="Rectangle 6"/>
          <p:cNvSpPr>
            <a:spLocks noChangeArrowheads="1"/>
          </p:cNvSpPr>
          <p:nvPr/>
        </p:nvSpPr>
        <p:spPr bwMode="auto">
          <a:xfrm>
            <a:off x="892175" y="5867400"/>
            <a:ext cx="4967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  </a:t>
            </a:r>
            <a:r>
              <a:rPr lang="en-US" altLang="tr-TR" sz="2400" b="0">
                <a:solidFill>
                  <a:schemeClr val="accent2"/>
                </a:solidFill>
              </a:rPr>
              <a:t>Deforming</a:t>
            </a:r>
            <a:r>
              <a:rPr lang="en-US" altLang="tr-TR" sz="2400" b="0"/>
              <a:t> Cu increases </a:t>
            </a:r>
            <a:r>
              <a:rPr lang="en-US" altLang="tr-TR" sz="2400" b="0">
                <a:solidFill>
                  <a:schemeClr val="accent2"/>
                </a:solidFill>
              </a:rPr>
              <a:t>resistivity</a:t>
            </a:r>
            <a:r>
              <a:rPr lang="en-US" altLang="tr-TR" sz="2400" b="0"/>
              <a:t>.</a:t>
            </a:r>
            <a:endParaRPr lang="en-US" altLang="tr-TR" sz="2400" b="0">
              <a:latin typeface="Times" panose="02020603050405020304" pitchFamily="18" charset="0"/>
            </a:endParaRPr>
          </a:p>
        </p:txBody>
      </p:sp>
      <p:sp>
        <p:nvSpPr>
          <p:cNvPr id="16391" name="Rectangle 7"/>
          <p:cNvSpPr>
            <a:spLocks noChangeArrowheads="1"/>
          </p:cNvSpPr>
          <p:nvPr/>
        </p:nvSpPr>
        <p:spPr bwMode="auto">
          <a:xfrm>
            <a:off x="6138863" y="1779588"/>
            <a:ext cx="25717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18.8, </a:t>
            </a:r>
            <a:r>
              <a:rPr lang="en-US" altLang="tr-TR" sz="1200" b="0" i="1">
                <a:solidFill>
                  <a:srgbClr val="000000"/>
                </a:solidFill>
              </a:rPr>
              <a:t>Callister &amp; Rethwisch 8e. </a:t>
            </a:r>
            <a:r>
              <a:rPr lang="en-US" altLang="tr-TR" sz="1200" b="0">
                <a:solidFill>
                  <a:srgbClr val="000000"/>
                </a:solidFill>
              </a:rPr>
              <a:t>(Fig. 18.8 adapted from: J.O. Linde, </a:t>
            </a:r>
            <a:r>
              <a:rPr lang="en-US" altLang="tr-TR" sz="1200" b="0" i="1">
                <a:solidFill>
                  <a:srgbClr val="000000"/>
                </a:solidFill>
              </a:rPr>
              <a:t>Ann Physik</a:t>
            </a:r>
            <a:r>
              <a:rPr lang="en-US" altLang="tr-TR" sz="1200" b="0">
                <a:solidFill>
                  <a:srgbClr val="000000"/>
                </a:solidFill>
              </a:rPr>
              <a:t> </a:t>
            </a:r>
            <a:r>
              <a:rPr lang="en-US" altLang="tr-TR" sz="1200">
                <a:solidFill>
                  <a:srgbClr val="000000"/>
                </a:solidFill>
              </a:rPr>
              <a:t>5</a:t>
            </a:r>
            <a:r>
              <a:rPr lang="en-US" altLang="tr-TR" sz="1200" b="0">
                <a:solidFill>
                  <a:srgbClr val="000000"/>
                </a:solidFill>
              </a:rPr>
              <a:t>, 219 (1932); and C.A. Wert and R.M. Thomson, </a:t>
            </a:r>
            <a:r>
              <a:rPr lang="en-US" altLang="tr-TR" sz="1200" b="0" i="1">
                <a:solidFill>
                  <a:srgbClr val="000000"/>
                </a:solidFill>
              </a:rPr>
              <a:t>Physics of Solids</a:t>
            </a:r>
            <a:r>
              <a:rPr lang="en-US" altLang="tr-TR" sz="1200" b="0">
                <a:solidFill>
                  <a:srgbClr val="000000"/>
                </a:solidFill>
              </a:rPr>
              <a:t>, 2nd edition, McGraw-Hill Company, New York, 1970.)</a:t>
            </a:r>
          </a:p>
        </p:txBody>
      </p:sp>
      <p:grpSp>
        <p:nvGrpSpPr>
          <p:cNvPr id="16392" name="Group 49"/>
          <p:cNvGrpSpPr>
            <a:grpSpLocks/>
          </p:cNvGrpSpPr>
          <p:nvPr/>
        </p:nvGrpSpPr>
        <p:grpSpPr bwMode="auto">
          <a:xfrm>
            <a:off x="1092200" y="1552575"/>
            <a:ext cx="5591175" cy="3748088"/>
            <a:chOff x="688" y="978"/>
            <a:chExt cx="3522" cy="2361"/>
          </a:xfrm>
        </p:grpSpPr>
        <p:sp>
          <p:nvSpPr>
            <p:cNvPr id="16393" name="Rectangle 9"/>
            <p:cNvSpPr>
              <a:spLocks noChangeArrowheads="1"/>
            </p:cNvSpPr>
            <p:nvPr/>
          </p:nvSpPr>
          <p:spPr bwMode="auto">
            <a:xfrm>
              <a:off x="1450" y="1082"/>
              <a:ext cx="2248" cy="204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6394" name="Rectangle 10"/>
            <p:cNvSpPr>
              <a:spLocks noChangeArrowheads="1"/>
            </p:cNvSpPr>
            <p:nvPr/>
          </p:nvSpPr>
          <p:spPr bwMode="auto">
            <a:xfrm>
              <a:off x="3698" y="3106"/>
              <a:ext cx="5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i="1">
                  <a:solidFill>
                    <a:srgbClr val="000000"/>
                  </a:solidFill>
                </a:rPr>
                <a:t>T</a:t>
              </a:r>
              <a:r>
                <a:rPr lang="en-US" altLang="tr-TR" sz="2400" b="0">
                  <a:solidFill>
                    <a:srgbClr val="000000"/>
                  </a:solidFill>
                </a:rPr>
                <a:t> (ºC)</a:t>
              </a:r>
              <a:endParaRPr lang="en-US" altLang="tr-TR" sz="2400" b="0"/>
            </a:p>
          </p:txBody>
        </p:sp>
        <p:sp>
          <p:nvSpPr>
            <p:cNvPr id="16395" name="Line 11"/>
            <p:cNvSpPr>
              <a:spLocks noChangeShapeType="1"/>
            </p:cNvSpPr>
            <p:nvPr/>
          </p:nvSpPr>
          <p:spPr bwMode="auto">
            <a:xfrm flipV="1">
              <a:off x="3338" y="3018"/>
              <a:ext cx="1"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396" name="Line 12"/>
            <p:cNvSpPr>
              <a:spLocks noChangeShapeType="1"/>
            </p:cNvSpPr>
            <p:nvPr/>
          </p:nvSpPr>
          <p:spPr bwMode="auto">
            <a:xfrm flipV="1">
              <a:off x="2994" y="3018"/>
              <a:ext cx="1"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397" name="Line 13"/>
            <p:cNvSpPr>
              <a:spLocks noChangeShapeType="1"/>
            </p:cNvSpPr>
            <p:nvPr/>
          </p:nvSpPr>
          <p:spPr bwMode="auto">
            <a:xfrm flipV="1">
              <a:off x="2650" y="3018"/>
              <a:ext cx="1"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398" name="Line 14"/>
            <p:cNvSpPr>
              <a:spLocks noChangeShapeType="1"/>
            </p:cNvSpPr>
            <p:nvPr/>
          </p:nvSpPr>
          <p:spPr bwMode="auto">
            <a:xfrm flipV="1">
              <a:off x="2306" y="3018"/>
              <a:ext cx="1"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399" name="Line 15"/>
            <p:cNvSpPr>
              <a:spLocks noChangeShapeType="1"/>
            </p:cNvSpPr>
            <p:nvPr/>
          </p:nvSpPr>
          <p:spPr bwMode="auto">
            <a:xfrm flipV="1">
              <a:off x="1962" y="3018"/>
              <a:ext cx="1"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0" name="Line 16"/>
            <p:cNvSpPr>
              <a:spLocks noChangeShapeType="1"/>
            </p:cNvSpPr>
            <p:nvPr/>
          </p:nvSpPr>
          <p:spPr bwMode="auto">
            <a:xfrm flipV="1">
              <a:off x="1618" y="3018"/>
              <a:ext cx="1"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1" name="Rectangle 17"/>
            <p:cNvSpPr>
              <a:spLocks noChangeArrowheads="1"/>
            </p:cNvSpPr>
            <p:nvPr/>
          </p:nvSpPr>
          <p:spPr bwMode="auto">
            <a:xfrm>
              <a:off x="1730" y="3106"/>
              <a:ext cx="35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-200</a:t>
              </a:r>
              <a:endParaRPr lang="en-US" altLang="tr-TR" sz="2400" b="0"/>
            </a:p>
          </p:txBody>
        </p:sp>
        <p:sp>
          <p:nvSpPr>
            <p:cNvPr id="16402" name="Rectangle 18"/>
            <p:cNvSpPr>
              <a:spLocks noChangeArrowheads="1"/>
            </p:cNvSpPr>
            <p:nvPr/>
          </p:nvSpPr>
          <p:spPr bwMode="auto">
            <a:xfrm>
              <a:off x="2418" y="3106"/>
              <a:ext cx="35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-100</a:t>
              </a:r>
              <a:endParaRPr lang="en-US" altLang="tr-TR" sz="2400" b="0"/>
            </a:p>
          </p:txBody>
        </p:sp>
        <p:sp>
          <p:nvSpPr>
            <p:cNvPr id="16403" name="Rectangle 19"/>
            <p:cNvSpPr>
              <a:spLocks noChangeArrowheads="1"/>
            </p:cNvSpPr>
            <p:nvPr/>
          </p:nvSpPr>
          <p:spPr bwMode="auto">
            <a:xfrm>
              <a:off x="3282" y="3106"/>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0</a:t>
              </a:r>
              <a:endParaRPr lang="en-US" altLang="tr-TR" sz="2400" b="0"/>
            </a:p>
          </p:txBody>
        </p:sp>
        <p:sp>
          <p:nvSpPr>
            <p:cNvPr id="16404" name="Line 20"/>
            <p:cNvSpPr>
              <a:spLocks noChangeShapeType="1"/>
            </p:cNvSpPr>
            <p:nvPr/>
          </p:nvSpPr>
          <p:spPr bwMode="auto">
            <a:xfrm flipV="1">
              <a:off x="2018" y="2450"/>
              <a:ext cx="1624" cy="576"/>
            </a:xfrm>
            <a:prstGeom prst="line">
              <a:avLst/>
            </a:prstGeom>
            <a:noFill/>
            <a:ln w="57150">
              <a:solidFill>
                <a:srgbClr val="6633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5" name="Line 22"/>
            <p:cNvSpPr>
              <a:spLocks noChangeShapeType="1"/>
            </p:cNvSpPr>
            <p:nvPr/>
          </p:nvSpPr>
          <p:spPr bwMode="auto">
            <a:xfrm flipV="1">
              <a:off x="2002" y="1978"/>
              <a:ext cx="1624" cy="576"/>
            </a:xfrm>
            <a:prstGeom prst="line">
              <a:avLst/>
            </a:prstGeom>
            <a:noFill/>
            <a:ln w="57150">
              <a:solidFill>
                <a:srgbClr val="CC66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6" name="Line 24"/>
            <p:cNvSpPr>
              <a:spLocks noChangeShapeType="1"/>
            </p:cNvSpPr>
            <p:nvPr/>
          </p:nvSpPr>
          <p:spPr bwMode="auto">
            <a:xfrm flipV="1">
              <a:off x="2010" y="1842"/>
              <a:ext cx="1624" cy="576"/>
            </a:xfrm>
            <a:prstGeom prst="line">
              <a:avLst/>
            </a:prstGeom>
            <a:noFill/>
            <a:ln w="57150">
              <a:solidFill>
                <a:srgbClr val="FF66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7" name="Line 26"/>
            <p:cNvSpPr>
              <a:spLocks noChangeShapeType="1"/>
            </p:cNvSpPr>
            <p:nvPr/>
          </p:nvSpPr>
          <p:spPr bwMode="auto">
            <a:xfrm flipV="1">
              <a:off x="1978" y="1570"/>
              <a:ext cx="1624" cy="584"/>
            </a:xfrm>
            <a:prstGeom prst="line">
              <a:avLst/>
            </a:prstGeom>
            <a:noFill/>
            <a:ln w="57150">
              <a:solidFill>
                <a:srgbClr val="FF9966"/>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8" name="Line 28"/>
            <p:cNvSpPr>
              <a:spLocks noChangeShapeType="1"/>
            </p:cNvSpPr>
            <p:nvPr/>
          </p:nvSpPr>
          <p:spPr bwMode="auto">
            <a:xfrm flipV="1">
              <a:off x="1954" y="1098"/>
              <a:ext cx="1672" cy="656"/>
            </a:xfrm>
            <a:prstGeom prst="line">
              <a:avLst/>
            </a:prstGeom>
            <a:noFill/>
            <a:ln w="57150">
              <a:solidFill>
                <a:srgbClr val="FF9966"/>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09" name="Rectangle 30"/>
            <p:cNvSpPr>
              <a:spLocks noChangeArrowheads="1"/>
            </p:cNvSpPr>
            <p:nvPr/>
          </p:nvSpPr>
          <p:spPr bwMode="auto">
            <a:xfrm rot="-1260000">
              <a:off x="1819" y="1324"/>
              <a:ext cx="11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FF9966"/>
                  </a:solidFill>
                </a:rPr>
                <a:t>Cu + 3.32 at%Ni</a:t>
              </a:r>
              <a:endParaRPr lang="en-US" altLang="tr-TR" sz="2400" b="0"/>
            </a:p>
          </p:txBody>
        </p:sp>
        <p:sp>
          <p:nvSpPr>
            <p:cNvPr id="16410" name="Rectangle 31"/>
            <p:cNvSpPr>
              <a:spLocks noChangeArrowheads="1"/>
            </p:cNvSpPr>
            <p:nvPr/>
          </p:nvSpPr>
          <p:spPr bwMode="auto">
            <a:xfrm rot="-1140000">
              <a:off x="2004" y="1694"/>
              <a:ext cx="11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FF9966"/>
                  </a:solidFill>
                </a:rPr>
                <a:t>Cu + 2.16 at%Ni</a:t>
              </a:r>
              <a:endParaRPr lang="en-US" altLang="tr-TR" sz="2400" b="0"/>
            </a:p>
          </p:txBody>
        </p:sp>
        <p:sp>
          <p:nvSpPr>
            <p:cNvPr id="16411" name="Rectangle 32"/>
            <p:cNvSpPr>
              <a:spLocks noChangeArrowheads="1"/>
            </p:cNvSpPr>
            <p:nvPr/>
          </p:nvSpPr>
          <p:spPr bwMode="auto">
            <a:xfrm rot="-1200000">
              <a:off x="1698" y="1954"/>
              <a:ext cx="189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FF6600"/>
                  </a:solidFill>
                </a:rPr>
                <a:t>deformed Cu + 1.12 at%Ni</a:t>
              </a:r>
              <a:endParaRPr lang="en-US" altLang="tr-TR" sz="2400" b="0"/>
            </a:p>
          </p:txBody>
        </p:sp>
        <p:sp>
          <p:nvSpPr>
            <p:cNvPr id="16412" name="Line 33"/>
            <p:cNvSpPr>
              <a:spLocks noChangeShapeType="1"/>
            </p:cNvSpPr>
            <p:nvPr/>
          </p:nvSpPr>
          <p:spPr bwMode="auto">
            <a:xfrm>
              <a:off x="1442" y="2794"/>
              <a:ext cx="9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13" name="Line 34"/>
            <p:cNvSpPr>
              <a:spLocks noChangeShapeType="1"/>
            </p:cNvSpPr>
            <p:nvPr/>
          </p:nvSpPr>
          <p:spPr bwMode="auto">
            <a:xfrm>
              <a:off x="1442" y="2442"/>
              <a:ext cx="9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14" name="Line 35"/>
            <p:cNvSpPr>
              <a:spLocks noChangeShapeType="1"/>
            </p:cNvSpPr>
            <p:nvPr/>
          </p:nvSpPr>
          <p:spPr bwMode="auto">
            <a:xfrm>
              <a:off x="1442" y="2098"/>
              <a:ext cx="9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15" name="Line 36"/>
            <p:cNvSpPr>
              <a:spLocks noChangeShapeType="1"/>
            </p:cNvSpPr>
            <p:nvPr/>
          </p:nvSpPr>
          <p:spPr bwMode="auto">
            <a:xfrm>
              <a:off x="1442" y="1754"/>
              <a:ext cx="9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16" name="Line 37"/>
            <p:cNvSpPr>
              <a:spLocks noChangeShapeType="1"/>
            </p:cNvSpPr>
            <p:nvPr/>
          </p:nvSpPr>
          <p:spPr bwMode="auto">
            <a:xfrm>
              <a:off x="1442" y="1402"/>
              <a:ext cx="9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6417" name="Rectangle 38"/>
            <p:cNvSpPr>
              <a:spLocks noChangeArrowheads="1"/>
            </p:cNvSpPr>
            <p:nvPr/>
          </p:nvSpPr>
          <p:spPr bwMode="auto">
            <a:xfrm>
              <a:off x="1298" y="2674"/>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1</a:t>
              </a:r>
              <a:endParaRPr lang="en-US" altLang="tr-TR" sz="2400" b="0"/>
            </a:p>
          </p:txBody>
        </p:sp>
        <p:sp>
          <p:nvSpPr>
            <p:cNvPr id="16418" name="Rectangle 39"/>
            <p:cNvSpPr>
              <a:spLocks noChangeArrowheads="1"/>
            </p:cNvSpPr>
            <p:nvPr/>
          </p:nvSpPr>
          <p:spPr bwMode="auto">
            <a:xfrm>
              <a:off x="1298" y="2338"/>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2</a:t>
              </a:r>
              <a:endParaRPr lang="en-US" altLang="tr-TR" sz="2400" b="0"/>
            </a:p>
          </p:txBody>
        </p:sp>
        <p:sp>
          <p:nvSpPr>
            <p:cNvPr id="16419" name="Rectangle 40"/>
            <p:cNvSpPr>
              <a:spLocks noChangeArrowheads="1"/>
            </p:cNvSpPr>
            <p:nvPr/>
          </p:nvSpPr>
          <p:spPr bwMode="auto">
            <a:xfrm>
              <a:off x="1298" y="1994"/>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3</a:t>
              </a:r>
              <a:endParaRPr lang="en-US" altLang="tr-TR" sz="2400" b="0"/>
            </a:p>
          </p:txBody>
        </p:sp>
        <p:sp>
          <p:nvSpPr>
            <p:cNvPr id="16420" name="Rectangle 41"/>
            <p:cNvSpPr>
              <a:spLocks noChangeArrowheads="1"/>
            </p:cNvSpPr>
            <p:nvPr/>
          </p:nvSpPr>
          <p:spPr bwMode="auto">
            <a:xfrm>
              <a:off x="1298" y="1658"/>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4</a:t>
              </a:r>
              <a:endParaRPr lang="en-US" altLang="tr-TR" sz="2400" b="0"/>
            </a:p>
          </p:txBody>
        </p:sp>
        <p:sp>
          <p:nvSpPr>
            <p:cNvPr id="16421" name="Rectangle 42"/>
            <p:cNvSpPr>
              <a:spLocks noChangeArrowheads="1"/>
            </p:cNvSpPr>
            <p:nvPr/>
          </p:nvSpPr>
          <p:spPr bwMode="auto">
            <a:xfrm>
              <a:off x="1298" y="1314"/>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5</a:t>
              </a:r>
              <a:endParaRPr lang="en-US" altLang="tr-TR" sz="2400" b="0"/>
            </a:p>
          </p:txBody>
        </p:sp>
        <p:sp>
          <p:nvSpPr>
            <p:cNvPr id="16422" name="Rectangle 43"/>
            <p:cNvSpPr>
              <a:spLocks noChangeArrowheads="1"/>
            </p:cNvSpPr>
            <p:nvPr/>
          </p:nvSpPr>
          <p:spPr bwMode="auto">
            <a:xfrm>
              <a:off x="1298" y="978"/>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6</a:t>
              </a:r>
              <a:endParaRPr lang="en-US" altLang="tr-TR" sz="2400" b="0"/>
            </a:p>
          </p:txBody>
        </p:sp>
        <p:sp>
          <p:nvSpPr>
            <p:cNvPr id="16423" name="Rectangle 44"/>
            <p:cNvSpPr>
              <a:spLocks noChangeArrowheads="1"/>
            </p:cNvSpPr>
            <p:nvPr/>
          </p:nvSpPr>
          <p:spPr bwMode="auto">
            <a:xfrm rot="-5400000">
              <a:off x="238" y="1945"/>
              <a:ext cx="11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Resistivity, </a:t>
              </a:r>
              <a:r>
                <a:rPr lang="en-US" altLang="tr-TR" sz="2400" b="0">
                  <a:solidFill>
                    <a:srgbClr val="000000"/>
                  </a:solidFill>
                  <a:latin typeface="Symbol" panose="05050102010706020507" pitchFamily="18" charset="2"/>
                </a:rPr>
                <a:t>r</a:t>
              </a:r>
              <a:r>
                <a:rPr lang="en-US" altLang="tr-TR" sz="2400" b="0">
                  <a:solidFill>
                    <a:srgbClr val="000000"/>
                  </a:solidFill>
                </a:rPr>
                <a:t> </a:t>
              </a:r>
              <a:endParaRPr lang="en-US" altLang="tr-TR" sz="2400" b="0"/>
            </a:p>
          </p:txBody>
        </p:sp>
        <p:sp>
          <p:nvSpPr>
            <p:cNvPr id="16424" name="Rectangle 45"/>
            <p:cNvSpPr>
              <a:spLocks noChangeArrowheads="1"/>
            </p:cNvSpPr>
            <p:nvPr/>
          </p:nvSpPr>
          <p:spPr bwMode="auto">
            <a:xfrm rot="-5400000">
              <a:off x="593" y="2052"/>
              <a:ext cx="95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(10</a:t>
              </a:r>
              <a:r>
                <a:rPr lang="en-US" altLang="tr-TR" sz="2000" b="0" baseline="30000">
                  <a:solidFill>
                    <a:srgbClr val="000000"/>
                  </a:solidFill>
                </a:rPr>
                <a:t>-8</a:t>
              </a:r>
              <a:r>
                <a:rPr lang="en-US" altLang="tr-TR" sz="2000" b="0">
                  <a:solidFill>
                    <a:srgbClr val="000000"/>
                  </a:solidFill>
                </a:rPr>
                <a:t> Ohm-m)</a:t>
              </a:r>
              <a:endParaRPr lang="en-US" altLang="tr-TR" sz="2400" b="0"/>
            </a:p>
          </p:txBody>
        </p:sp>
        <p:sp>
          <p:nvSpPr>
            <p:cNvPr id="16425" name="Rectangle 46"/>
            <p:cNvSpPr>
              <a:spLocks noChangeArrowheads="1"/>
            </p:cNvSpPr>
            <p:nvPr/>
          </p:nvSpPr>
          <p:spPr bwMode="auto">
            <a:xfrm>
              <a:off x="1290" y="3010"/>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0</a:t>
              </a:r>
              <a:endParaRPr lang="en-US" altLang="tr-TR" sz="2400" b="0"/>
            </a:p>
          </p:txBody>
        </p:sp>
        <p:sp>
          <p:nvSpPr>
            <p:cNvPr id="16426" name="Rectangle 47"/>
            <p:cNvSpPr>
              <a:spLocks noChangeArrowheads="1"/>
            </p:cNvSpPr>
            <p:nvPr/>
          </p:nvSpPr>
          <p:spPr bwMode="auto">
            <a:xfrm rot="-1140000">
              <a:off x="2092" y="2342"/>
              <a:ext cx="11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CC6600"/>
                  </a:solidFill>
                </a:rPr>
                <a:t>Cu + 1.12 at%Ni</a:t>
              </a:r>
              <a:endParaRPr lang="en-US" altLang="tr-TR" sz="2400" b="0"/>
            </a:p>
          </p:txBody>
        </p:sp>
        <p:sp>
          <p:nvSpPr>
            <p:cNvPr id="16427" name="Rectangle 48"/>
            <p:cNvSpPr>
              <a:spLocks noChangeArrowheads="1"/>
            </p:cNvSpPr>
            <p:nvPr/>
          </p:nvSpPr>
          <p:spPr bwMode="auto">
            <a:xfrm rot="-1140000">
              <a:off x="2617" y="2716"/>
              <a:ext cx="69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663300"/>
                  </a:solidFill>
                </a:rPr>
                <a:t>“Pure” Cu</a:t>
              </a:r>
              <a:endParaRPr lang="en-US" altLang="tr-TR" sz="2400" b="0"/>
            </a:p>
          </p:txBody>
        </p:sp>
      </p:grpSp>
      <p:pic>
        <p:nvPicPr>
          <p:cNvPr id="44" name="Picture 43"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6428" name="TextBox 16427"/>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2547831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E74C297-4C2A-4133-B770-8BC5B986D283}" type="slidenum">
              <a:rPr lang="en-US" altLang="tr-TR" sz="1200" b="0"/>
              <a:pPr>
                <a:spcBef>
                  <a:spcPct val="0"/>
                </a:spcBef>
                <a:buFontTx/>
                <a:buNone/>
              </a:pPr>
              <a:t>16</a:t>
            </a:fld>
            <a:endParaRPr lang="en-US" altLang="tr-TR" sz="1200" b="0"/>
          </a:p>
        </p:txBody>
      </p:sp>
      <p:pic>
        <p:nvPicPr>
          <p:cNvPr id="17411"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50" y="1819275"/>
            <a:ext cx="2301875"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sp>
        <p:nvSpPr>
          <p:cNvPr id="17412" name="Rectangle 3"/>
          <p:cNvSpPr>
            <a:spLocks noGrp="1" noChangeArrowheads="1"/>
          </p:cNvSpPr>
          <p:nvPr>
            <p:ph type="title"/>
          </p:nvPr>
        </p:nvSpPr>
        <p:spPr>
          <a:xfrm>
            <a:off x="685800" y="201613"/>
            <a:ext cx="7772400" cy="533400"/>
          </a:xfrm>
        </p:spPr>
        <p:txBody>
          <a:bodyPr/>
          <a:lstStyle/>
          <a:p>
            <a:r>
              <a:rPr lang="en-US" altLang="tr-TR">
                <a:ea typeface="ＭＳ Ｐゴシック" panose="020B0600070205080204" pitchFamily="34" charset="-128"/>
              </a:rPr>
              <a:t>THERMAL</a:t>
            </a:r>
          </a:p>
        </p:txBody>
      </p:sp>
      <p:sp>
        <p:nvSpPr>
          <p:cNvPr id="17413" name="Rectangle 4"/>
          <p:cNvSpPr>
            <a:spLocks noChangeArrowheads="1"/>
          </p:cNvSpPr>
          <p:nvPr/>
        </p:nvSpPr>
        <p:spPr bwMode="auto">
          <a:xfrm>
            <a:off x="400050" y="733425"/>
            <a:ext cx="386715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Space Shuttle Tiles:</a:t>
            </a:r>
          </a:p>
          <a:p>
            <a:pPr>
              <a:spcBef>
                <a:spcPct val="0"/>
              </a:spcBef>
              <a:buFontTx/>
              <a:buNone/>
            </a:pPr>
            <a:r>
              <a:rPr lang="en-US" altLang="tr-TR" sz="2200" b="0"/>
              <a:t>    -- Silica fiber insulation</a:t>
            </a:r>
          </a:p>
          <a:p>
            <a:pPr>
              <a:spcBef>
                <a:spcPct val="0"/>
              </a:spcBef>
              <a:buFontTx/>
              <a:buNone/>
            </a:pPr>
            <a:r>
              <a:rPr lang="en-US" altLang="tr-TR" sz="2200" b="0"/>
              <a:t>       offers low </a:t>
            </a:r>
            <a:r>
              <a:rPr lang="en-US" altLang="tr-TR" sz="2200" b="0">
                <a:solidFill>
                  <a:schemeClr val="accent2"/>
                </a:solidFill>
              </a:rPr>
              <a:t>heat conduction</a:t>
            </a:r>
            <a:r>
              <a:rPr lang="en-US" altLang="tr-TR" sz="2200" b="0"/>
              <a:t>.</a:t>
            </a:r>
            <a:endParaRPr lang="en-US" altLang="tr-TR" sz="2400" b="0">
              <a:solidFill>
                <a:srgbClr val="000000"/>
              </a:solidFill>
            </a:endParaRPr>
          </a:p>
        </p:txBody>
      </p:sp>
      <p:sp>
        <p:nvSpPr>
          <p:cNvPr id="17414" name="Rectangle 5"/>
          <p:cNvSpPr>
            <a:spLocks noChangeArrowheads="1"/>
          </p:cNvSpPr>
          <p:nvPr/>
        </p:nvSpPr>
        <p:spPr bwMode="auto">
          <a:xfrm>
            <a:off x="4800600" y="733425"/>
            <a:ext cx="40386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a:t>
            </a:r>
            <a:r>
              <a:rPr lang="en-US" altLang="tr-TR" sz="2400" b="0">
                <a:solidFill>
                  <a:schemeClr val="accent2"/>
                </a:solidFill>
              </a:rPr>
              <a:t>Thermal Conductivity</a:t>
            </a:r>
            <a:endParaRPr lang="en-US" altLang="tr-TR" sz="2400" b="0">
              <a:solidFill>
                <a:srgbClr val="000000"/>
              </a:solidFill>
            </a:endParaRPr>
          </a:p>
          <a:p>
            <a:pPr>
              <a:spcBef>
                <a:spcPct val="0"/>
              </a:spcBef>
              <a:buFontTx/>
              <a:buNone/>
            </a:pPr>
            <a:r>
              <a:rPr lang="en-US" altLang="tr-TR" sz="2400" b="0">
                <a:solidFill>
                  <a:srgbClr val="000000"/>
                </a:solidFill>
              </a:rPr>
              <a:t>    of Copper:</a:t>
            </a:r>
            <a:endParaRPr lang="en-US" altLang="tr-TR" sz="2200" b="0"/>
          </a:p>
          <a:p>
            <a:pPr>
              <a:spcBef>
                <a:spcPct val="0"/>
              </a:spcBef>
              <a:buFontTx/>
              <a:buNone/>
            </a:pPr>
            <a:r>
              <a:rPr lang="en-US" altLang="tr-TR" sz="2200" b="0"/>
              <a:t>    -- It decreases when</a:t>
            </a:r>
          </a:p>
          <a:p>
            <a:pPr>
              <a:spcBef>
                <a:spcPct val="0"/>
              </a:spcBef>
              <a:buFontTx/>
              <a:buNone/>
            </a:pPr>
            <a:r>
              <a:rPr lang="en-US" altLang="tr-TR" sz="2200" b="0"/>
              <a:t>       you add zinc!</a:t>
            </a:r>
            <a:endParaRPr lang="en-US" altLang="tr-TR" sz="2200" b="0">
              <a:latin typeface="Times" panose="02020603050405020304" pitchFamily="18" charset="0"/>
            </a:endParaRPr>
          </a:p>
        </p:txBody>
      </p:sp>
      <p:sp>
        <p:nvSpPr>
          <p:cNvPr id="17415" name="Rectangle 8"/>
          <p:cNvSpPr>
            <a:spLocks noChangeArrowheads="1"/>
          </p:cNvSpPr>
          <p:nvPr/>
        </p:nvSpPr>
        <p:spPr bwMode="auto">
          <a:xfrm>
            <a:off x="3581400" y="5105400"/>
            <a:ext cx="16002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a:t>
            </a:r>
          </a:p>
          <a:p>
            <a:pPr>
              <a:spcBef>
                <a:spcPct val="0"/>
              </a:spcBef>
              <a:buFontTx/>
              <a:buNone/>
            </a:pPr>
            <a:r>
              <a:rPr lang="en-US" altLang="tr-TR" sz="1200" b="0">
                <a:solidFill>
                  <a:srgbClr val="000000"/>
                </a:solidFill>
              </a:rPr>
              <a:t>Fig. 19.4W, </a:t>
            </a:r>
            <a:r>
              <a:rPr lang="en-US" altLang="tr-TR" sz="1200" b="0" i="1">
                <a:solidFill>
                  <a:srgbClr val="000000"/>
                </a:solidFill>
              </a:rPr>
              <a:t>Callister 6e.  </a:t>
            </a:r>
            <a:r>
              <a:rPr lang="en-US" altLang="tr-TR" sz="1200" b="0">
                <a:solidFill>
                  <a:srgbClr val="000000"/>
                </a:solidFill>
              </a:rPr>
              <a:t>(Courtesy of Lockheed Aerospace Ceramics Systems, Sunnyvale, CA)</a:t>
            </a:r>
          </a:p>
          <a:p>
            <a:pPr>
              <a:spcBef>
                <a:spcPct val="0"/>
              </a:spcBef>
              <a:buFontTx/>
              <a:buNone/>
            </a:pPr>
            <a:r>
              <a:rPr lang="en-US" altLang="tr-TR" sz="1200" b="0">
                <a:solidFill>
                  <a:srgbClr val="000000"/>
                </a:solidFill>
              </a:rPr>
              <a:t>(Note:  "W" denotes fig. is on CD-ROM.)</a:t>
            </a:r>
          </a:p>
        </p:txBody>
      </p:sp>
      <p:sp>
        <p:nvSpPr>
          <p:cNvPr id="17416" name="Rectangle 9"/>
          <p:cNvSpPr>
            <a:spLocks noChangeArrowheads="1"/>
          </p:cNvSpPr>
          <p:nvPr/>
        </p:nvSpPr>
        <p:spPr bwMode="auto">
          <a:xfrm>
            <a:off x="5410200" y="5105400"/>
            <a:ext cx="32766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19.4, </a:t>
            </a:r>
            <a:r>
              <a:rPr lang="en-US" altLang="tr-TR" sz="1200" b="0" i="1">
                <a:solidFill>
                  <a:srgbClr val="000000"/>
                </a:solidFill>
              </a:rPr>
              <a:t>Callister &amp; Rethwisch 8e. </a:t>
            </a:r>
            <a:r>
              <a:rPr lang="en-US" altLang="tr-TR" sz="1200" b="0">
                <a:solidFill>
                  <a:srgbClr val="000000"/>
                </a:solidFill>
              </a:rPr>
              <a:t>(Fig. 19.4 is adapted from </a:t>
            </a:r>
            <a:r>
              <a:rPr lang="en-US" altLang="tr-TR" sz="1200" b="0" i="1">
                <a:solidFill>
                  <a:srgbClr val="000000"/>
                </a:solidFill>
              </a:rPr>
              <a:t>Metals Handbook: Properties and Selection: Nonferrous alloys and Pure Metals</a:t>
            </a:r>
            <a:r>
              <a:rPr lang="en-US" altLang="tr-TR" sz="1200" b="0">
                <a:solidFill>
                  <a:srgbClr val="000000"/>
                </a:solidFill>
              </a:rPr>
              <a:t>, Vol. 2, 9th ed., H. Baker, (Managing Editor), American Society for Metals, 1979, p. 315.)</a:t>
            </a:r>
          </a:p>
        </p:txBody>
      </p:sp>
      <p:grpSp>
        <p:nvGrpSpPr>
          <p:cNvPr id="17417" name="Group 10"/>
          <p:cNvGrpSpPr>
            <a:grpSpLocks/>
          </p:cNvGrpSpPr>
          <p:nvPr/>
        </p:nvGrpSpPr>
        <p:grpSpPr bwMode="auto">
          <a:xfrm>
            <a:off x="4879975" y="2076450"/>
            <a:ext cx="3886200" cy="2921000"/>
            <a:chOff x="2928" y="1344"/>
            <a:chExt cx="2448" cy="1840"/>
          </a:xfrm>
        </p:grpSpPr>
        <p:sp>
          <p:nvSpPr>
            <p:cNvPr id="17423" name="AutoShape 11"/>
            <p:cNvSpPr>
              <a:spLocks noChangeAspect="1" noChangeArrowheads="1" noTextEdit="1"/>
            </p:cNvSpPr>
            <p:nvPr/>
          </p:nvSpPr>
          <p:spPr bwMode="auto">
            <a:xfrm>
              <a:off x="2928" y="1344"/>
              <a:ext cx="2448" cy="1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p>
          </p:txBody>
        </p:sp>
        <p:pic>
          <p:nvPicPr>
            <p:cNvPr id="1742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0" y="1352"/>
              <a:ext cx="2040" cy="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5" name="Rectangle 13"/>
            <p:cNvSpPr>
              <a:spLocks noChangeArrowheads="1"/>
            </p:cNvSpPr>
            <p:nvPr/>
          </p:nvSpPr>
          <p:spPr bwMode="auto">
            <a:xfrm>
              <a:off x="3568" y="3000"/>
              <a:ext cx="1616"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7426" name="Rectangle 14"/>
            <p:cNvSpPr>
              <a:spLocks noChangeArrowheads="1"/>
            </p:cNvSpPr>
            <p:nvPr/>
          </p:nvSpPr>
          <p:spPr bwMode="auto">
            <a:xfrm>
              <a:off x="3568" y="3000"/>
              <a:ext cx="15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Composition (wt% Zinc)</a:t>
              </a:r>
              <a:endParaRPr lang="en-US" altLang="tr-TR" sz="2400" b="0"/>
            </a:p>
          </p:txBody>
        </p:sp>
        <p:sp>
          <p:nvSpPr>
            <p:cNvPr id="17427" name="Rectangle 15"/>
            <p:cNvSpPr>
              <a:spLocks noChangeArrowheads="1"/>
            </p:cNvSpPr>
            <p:nvPr/>
          </p:nvSpPr>
          <p:spPr bwMode="auto">
            <a:xfrm>
              <a:off x="2936" y="1608"/>
              <a:ext cx="336" cy="15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7428" name="Rectangle 16"/>
            <p:cNvSpPr>
              <a:spLocks noChangeArrowheads="1"/>
            </p:cNvSpPr>
            <p:nvPr/>
          </p:nvSpPr>
          <p:spPr bwMode="auto">
            <a:xfrm rot="-5400000">
              <a:off x="2330" y="2163"/>
              <a:ext cx="13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Thermal Conductivity </a:t>
              </a:r>
              <a:endParaRPr lang="en-US" altLang="tr-TR" sz="2400" b="0"/>
            </a:p>
          </p:txBody>
        </p:sp>
        <p:sp>
          <p:nvSpPr>
            <p:cNvPr id="17429" name="Rectangle 17"/>
            <p:cNvSpPr>
              <a:spLocks noChangeArrowheads="1"/>
            </p:cNvSpPr>
            <p:nvPr/>
          </p:nvSpPr>
          <p:spPr bwMode="auto">
            <a:xfrm rot="-5400000">
              <a:off x="2899" y="2155"/>
              <a:ext cx="5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(W/m-K)</a:t>
              </a:r>
              <a:endParaRPr lang="en-US" altLang="tr-TR" sz="2400" b="0"/>
            </a:p>
          </p:txBody>
        </p:sp>
        <p:sp>
          <p:nvSpPr>
            <p:cNvPr id="17430" name="Line 18"/>
            <p:cNvSpPr>
              <a:spLocks noChangeShapeType="1"/>
            </p:cNvSpPr>
            <p:nvPr/>
          </p:nvSpPr>
          <p:spPr bwMode="auto">
            <a:xfrm flipH="1" flipV="1">
              <a:off x="4896" y="2496"/>
              <a:ext cx="8" cy="8"/>
            </a:xfrm>
            <a:prstGeom prst="line">
              <a:avLst/>
            </a:prstGeom>
            <a:noFill/>
            <a:ln w="25400">
              <a:solidFill>
                <a:srgbClr val="CC66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7431" name="Rectangle 19"/>
            <p:cNvSpPr>
              <a:spLocks noChangeArrowheads="1"/>
            </p:cNvSpPr>
            <p:nvPr/>
          </p:nvSpPr>
          <p:spPr bwMode="auto">
            <a:xfrm>
              <a:off x="3352" y="1544"/>
              <a:ext cx="240" cy="13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7432" name="Rectangle 20"/>
            <p:cNvSpPr>
              <a:spLocks noChangeArrowheads="1"/>
            </p:cNvSpPr>
            <p:nvPr/>
          </p:nvSpPr>
          <p:spPr bwMode="auto">
            <a:xfrm>
              <a:off x="3312" y="1560"/>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400</a:t>
              </a:r>
              <a:endParaRPr lang="en-US" altLang="tr-TR" sz="2400" b="0"/>
            </a:p>
          </p:txBody>
        </p:sp>
        <p:sp>
          <p:nvSpPr>
            <p:cNvPr id="17433" name="Rectangle 21"/>
            <p:cNvSpPr>
              <a:spLocks noChangeArrowheads="1"/>
            </p:cNvSpPr>
            <p:nvPr/>
          </p:nvSpPr>
          <p:spPr bwMode="auto">
            <a:xfrm>
              <a:off x="3328" y="1880"/>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300</a:t>
              </a:r>
              <a:endParaRPr lang="en-US" altLang="tr-TR" sz="2400" b="0"/>
            </a:p>
          </p:txBody>
        </p:sp>
        <p:sp>
          <p:nvSpPr>
            <p:cNvPr id="17434" name="Rectangle 22"/>
            <p:cNvSpPr>
              <a:spLocks noChangeArrowheads="1"/>
            </p:cNvSpPr>
            <p:nvPr/>
          </p:nvSpPr>
          <p:spPr bwMode="auto">
            <a:xfrm>
              <a:off x="3328" y="2168"/>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200</a:t>
              </a:r>
              <a:endParaRPr lang="en-US" altLang="tr-TR" sz="2400" b="0"/>
            </a:p>
          </p:txBody>
        </p:sp>
        <p:sp>
          <p:nvSpPr>
            <p:cNvPr id="17435" name="Rectangle 23"/>
            <p:cNvSpPr>
              <a:spLocks noChangeArrowheads="1"/>
            </p:cNvSpPr>
            <p:nvPr/>
          </p:nvSpPr>
          <p:spPr bwMode="auto">
            <a:xfrm>
              <a:off x="3328" y="2480"/>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100</a:t>
              </a:r>
              <a:endParaRPr lang="en-US" altLang="tr-TR" sz="2400" b="0"/>
            </a:p>
          </p:txBody>
        </p:sp>
        <p:sp>
          <p:nvSpPr>
            <p:cNvPr id="17436" name="Rectangle 24"/>
            <p:cNvSpPr>
              <a:spLocks noChangeArrowheads="1"/>
            </p:cNvSpPr>
            <p:nvPr/>
          </p:nvSpPr>
          <p:spPr bwMode="auto">
            <a:xfrm>
              <a:off x="3464" y="276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0</a:t>
              </a:r>
              <a:endParaRPr lang="en-US" altLang="tr-TR" sz="2400" b="0"/>
            </a:p>
          </p:txBody>
        </p:sp>
        <p:sp>
          <p:nvSpPr>
            <p:cNvPr id="17437" name="Rectangle 25"/>
            <p:cNvSpPr>
              <a:spLocks noChangeArrowheads="1"/>
            </p:cNvSpPr>
            <p:nvPr/>
          </p:nvSpPr>
          <p:spPr bwMode="auto">
            <a:xfrm>
              <a:off x="3568" y="2888"/>
              <a:ext cx="1544"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7438" name="Rectangle 26"/>
            <p:cNvSpPr>
              <a:spLocks noChangeArrowheads="1"/>
            </p:cNvSpPr>
            <p:nvPr/>
          </p:nvSpPr>
          <p:spPr bwMode="auto">
            <a:xfrm>
              <a:off x="3560" y="2872"/>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0</a:t>
              </a:r>
              <a:endParaRPr lang="en-US" altLang="tr-TR" sz="2400" b="0"/>
            </a:p>
          </p:txBody>
        </p:sp>
        <p:sp>
          <p:nvSpPr>
            <p:cNvPr id="17439" name="Rectangle 27"/>
            <p:cNvSpPr>
              <a:spLocks noChangeArrowheads="1"/>
            </p:cNvSpPr>
            <p:nvPr/>
          </p:nvSpPr>
          <p:spPr bwMode="auto">
            <a:xfrm>
              <a:off x="3880" y="28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10</a:t>
              </a:r>
              <a:endParaRPr lang="en-US" altLang="tr-TR" sz="2400" b="0"/>
            </a:p>
          </p:txBody>
        </p:sp>
        <p:sp>
          <p:nvSpPr>
            <p:cNvPr id="17440" name="Rectangle 28"/>
            <p:cNvSpPr>
              <a:spLocks noChangeArrowheads="1"/>
            </p:cNvSpPr>
            <p:nvPr/>
          </p:nvSpPr>
          <p:spPr bwMode="auto">
            <a:xfrm>
              <a:off x="4256" y="28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20</a:t>
              </a:r>
              <a:endParaRPr lang="en-US" altLang="tr-TR" sz="2400" b="0"/>
            </a:p>
          </p:txBody>
        </p:sp>
        <p:sp>
          <p:nvSpPr>
            <p:cNvPr id="17441" name="Rectangle 29"/>
            <p:cNvSpPr>
              <a:spLocks noChangeArrowheads="1"/>
            </p:cNvSpPr>
            <p:nvPr/>
          </p:nvSpPr>
          <p:spPr bwMode="auto">
            <a:xfrm>
              <a:off x="4608" y="28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30</a:t>
              </a:r>
              <a:endParaRPr lang="en-US" altLang="tr-TR" sz="2400" b="0"/>
            </a:p>
          </p:txBody>
        </p:sp>
        <p:sp>
          <p:nvSpPr>
            <p:cNvPr id="17442" name="Rectangle 30"/>
            <p:cNvSpPr>
              <a:spLocks noChangeArrowheads="1"/>
            </p:cNvSpPr>
            <p:nvPr/>
          </p:nvSpPr>
          <p:spPr bwMode="auto">
            <a:xfrm>
              <a:off x="4960" y="2872"/>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40</a:t>
              </a:r>
              <a:endParaRPr lang="en-US" altLang="tr-TR" sz="2400" b="0"/>
            </a:p>
          </p:txBody>
        </p:sp>
        <p:sp>
          <p:nvSpPr>
            <p:cNvPr id="17443" name="Rectangle 31"/>
            <p:cNvSpPr>
              <a:spLocks noChangeArrowheads="1"/>
            </p:cNvSpPr>
            <p:nvPr/>
          </p:nvSpPr>
          <p:spPr bwMode="auto">
            <a:xfrm>
              <a:off x="5072" y="1472"/>
              <a:ext cx="280" cy="14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7444" name="Freeform 32"/>
            <p:cNvSpPr>
              <a:spLocks/>
            </p:cNvSpPr>
            <p:nvPr/>
          </p:nvSpPr>
          <p:spPr bwMode="auto">
            <a:xfrm>
              <a:off x="3608" y="1680"/>
              <a:ext cx="1296" cy="816"/>
            </a:xfrm>
            <a:custGeom>
              <a:avLst/>
              <a:gdLst>
                <a:gd name="T0" fmla="*/ 0 w 1296"/>
                <a:gd name="T1" fmla="*/ 0 h 816"/>
                <a:gd name="T2" fmla="*/ 8 w 1296"/>
                <a:gd name="T3" fmla="*/ 48 h 816"/>
                <a:gd name="T4" fmla="*/ 16 w 1296"/>
                <a:gd name="T5" fmla="*/ 104 h 816"/>
                <a:gd name="T6" fmla="*/ 24 w 1296"/>
                <a:gd name="T7" fmla="*/ 160 h 816"/>
                <a:gd name="T8" fmla="*/ 40 w 1296"/>
                <a:gd name="T9" fmla="*/ 224 h 816"/>
                <a:gd name="T10" fmla="*/ 64 w 1296"/>
                <a:gd name="T11" fmla="*/ 304 h 816"/>
                <a:gd name="T12" fmla="*/ 112 w 1296"/>
                <a:gd name="T13" fmla="*/ 384 h 816"/>
                <a:gd name="T14" fmla="*/ 152 w 1296"/>
                <a:gd name="T15" fmla="*/ 448 h 816"/>
                <a:gd name="T16" fmla="*/ 208 w 1296"/>
                <a:gd name="T17" fmla="*/ 512 h 816"/>
                <a:gd name="T18" fmla="*/ 280 w 1296"/>
                <a:gd name="T19" fmla="*/ 576 h 816"/>
                <a:gd name="T20" fmla="*/ 376 w 1296"/>
                <a:gd name="T21" fmla="*/ 632 h 816"/>
                <a:gd name="T22" fmla="*/ 464 w 1296"/>
                <a:gd name="T23" fmla="*/ 672 h 816"/>
                <a:gd name="T24" fmla="*/ 560 w 1296"/>
                <a:gd name="T25" fmla="*/ 704 h 816"/>
                <a:gd name="T26" fmla="*/ 672 w 1296"/>
                <a:gd name="T27" fmla="*/ 736 h 816"/>
                <a:gd name="T28" fmla="*/ 728 w 1296"/>
                <a:gd name="T29" fmla="*/ 744 h 816"/>
                <a:gd name="T30" fmla="*/ 792 w 1296"/>
                <a:gd name="T31" fmla="*/ 760 h 816"/>
                <a:gd name="T32" fmla="*/ 880 w 1296"/>
                <a:gd name="T33" fmla="*/ 776 h 816"/>
                <a:gd name="T34" fmla="*/ 984 w 1296"/>
                <a:gd name="T35" fmla="*/ 792 h 816"/>
                <a:gd name="T36" fmla="*/ 1104 w 1296"/>
                <a:gd name="T37" fmla="*/ 800 h 816"/>
                <a:gd name="T38" fmla="*/ 1240 w 1296"/>
                <a:gd name="T39" fmla="*/ 816 h 816"/>
                <a:gd name="T40" fmla="*/ 1296 w 1296"/>
                <a:gd name="T41" fmla="*/ 816 h 8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96"/>
                <a:gd name="T64" fmla="*/ 0 h 816"/>
                <a:gd name="T65" fmla="*/ 1296 w 1296"/>
                <a:gd name="T66" fmla="*/ 816 h 8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96" h="816">
                  <a:moveTo>
                    <a:pt x="0" y="0"/>
                  </a:moveTo>
                  <a:lnTo>
                    <a:pt x="8" y="48"/>
                  </a:lnTo>
                  <a:lnTo>
                    <a:pt x="16" y="104"/>
                  </a:lnTo>
                  <a:lnTo>
                    <a:pt x="24" y="160"/>
                  </a:lnTo>
                  <a:lnTo>
                    <a:pt x="40" y="224"/>
                  </a:lnTo>
                  <a:lnTo>
                    <a:pt x="64" y="304"/>
                  </a:lnTo>
                  <a:lnTo>
                    <a:pt x="112" y="384"/>
                  </a:lnTo>
                  <a:lnTo>
                    <a:pt x="152" y="448"/>
                  </a:lnTo>
                  <a:lnTo>
                    <a:pt x="208" y="512"/>
                  </a:lnTo>
                  <a:lnTo>
                    <a:pt x="280" y="576"/>
                  </a:lnTo>
                  <a:lnTo>
                    <a:pt x="376" y="632"/>
                  </a:lnTo>
                  <a:lnTo>
                    <a:pt x="464" y="672"/>
                  </a:lnTo>
                  <a:lnTo>
                    <a:pt x="560" y="704"/>
                  </a:lnTo>
                  <a:lnTo>
                    <a:pt x="672" y="736"/>
                  </a:lnTo>
                  <a:lnTo>
                    <a:pt x="728" y="744"/>
                  </a:lnTo>
                  <a:lnTo>
                    <a:pt x="792" y="760"/>
                  </a:lnTo>
                  <a:lnTo>
                    <a:pt x="880" y="776"/>
                  </a:lnTo>
                  <a:lnTo>
                    <a:pt x="984" y="792"/>
                  </a:lnTo>
                  <a:lnTo>
                    <a:pt x="1104" y="800"/>
                  </a:lnTo>
                  <a:lnTo>
                    <a:pt x="1240" y="816"/>
                  </a:lnTo>
                  <a:lnTo>
                    <a:pt x="1296" y="816"/>
                  </a:lnTo>
                </a:path>
              </a:pathLst>
            </a:custGeom>
            <a:noFill/>
            <a:ln w="38100">
              <a:solidFill>
                <a:srgbClr val="CC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tr-TR"/>
            </a:p>
          </p:txBody>
        </p:sp>
        <p:sp>
          <p:nvSpPr>
            <p:cNvPr id="17445" name="Rectangle 33"/>
            <p:cNvSpPr>
              <a:spLocks noChangeArrowheads="1"/>
            </p:cNvSpPr>
            <p:nvPr/>
          </p:nvSpPr>
          <p:spPr bwMode="auto">
            <a:xfrm>
              <a:off x="3600" y="1496"/>
              <a:ext cx="1456" cy="137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grpSp>
      <p:grpSp>
        <p:nvGrpSpPr>
          <p:cNvPr id="17418" name="Group 40"/>
          <p:cNvGrpSpPr>
            <a:grpSpLocks/>
          </p:cNvGrpSpPr>
          <p:nvPr/>
        </p:nvGrpSpPr>
        <p:grpSpPr bwMode="auto">
          <a:xfrm>
            <a:off x="546100" y="4241800"/>
            <a:ext cx="2965450" cy="2349500"/>
            <a:chOff x="344" y="2672"/>
            <a:chExt cx="1868" cy="1480"/>
          </a:xfrm>
        </p:grpSpPr>
        <p:pic>
          <p:nvPicPr>
            <p:cNvPr id="17420"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 y="2672"/>
              <a:ext cx="1857" cy="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sp>
          <p:nvSpPr>
            <p:cNvPr id="17421" name="Line 35"/>
            <p:cNvSpPr>
              <a:spLocks noChangeShapeType="1"/>
            </p:cNvSpPr>
            <p:nvPr/>
          </p:nvSpPr>
          <p:spPr bwMode="auto">
            <a:xfrm>
              <a:off x="346" y="4119"/>
              <a:ext cx="1866"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7422" name="Rectangle 36"/>
            <p:cNvSpPr>
              <a:spLocks noChangeArrowheads="1"/>
            </p:cNvSpPr>
            <p:nvPr/>
          </p:nvSpPr>
          <p:spPr bwMode="auto">
            <a:xfrm>
              <a:off x="1005" y="4049"/>
              <a:ext cx="547" cy="1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r>
                <a:rPr lang="en-US" altLang="tr-TR" sz="2000" b="0"/>
                <a:t>100</a:t>
              </a:r>
              <a:r>
                <a:rPr lang="en-US" altLang="tr-TR" sz="800" b="0"/>
                <a:t> </a:t>
              </a:r>
              <a:r>
                <a:rPr lang="en-US" altLang="tr-TR" sz="2000" b="0">
                  <a:latin typeface="Symbol" panose="05050102010706020507" pitchFamily="18" charset="2"/>
                </a:rPr>
                <a:t>m</a:t>
              </a:r>
              <a:r>
                <a:rPr lang="en-US" altLang="tr-TR" sz="2000" b="0"/>
                <a:t>m</a:t>
              </a:r>
              <a:r>
                <a:rPr lang="en-US" altLang="tr-TR" sz="2400" b="0"/>
                <a:t> </a:t>
              </a:r>
            </a:p>
          </p:txBody>
        </p:sp>
      </p:grpSp>
      <p:sp>
        <p:nvSpPr>
          <p:cNvPr id="17419" name="Rectangle 42"/>
          <p:cNvSpPr>
            <a:spLocks noChangeArrowheads="1"/>
          </p:cNvSpPr>
          <p:nvPr/>
        </p:nvSpPr>
        <p:spPr bwMode="auto">
          <a:xfrm>
            <a:off x="3040063" y="1912938"/>
            <a:ext cx="1851025"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chapter-opening photograph, Chapter 17, </a:t>
            </a:r>
            <a:r>
              <a:rPr lang="en-US" altLang="tr-TR" sz="1200" b="0" i="1">
                <a:solidFill>
                  <a:srgbClr val="000000"/>
                </a:solidFill>
              </a:rPr>
              <a:t>Callister &amp; Rethwisch 3e. </a:t>
            </a:r>
            <a:r>
              <a:rPr lang="en-US" altLang="tr-TR" sz="1200" b="0">
                <a:solidFill>
                  <a:srgbClr val="000000"/>
                </a:solidFill>
              </a:rPr>
              <a:t>(Courtesy of Lockheed</a:t>
            </a:r>
          </a:p>
          <a:p>
            <a:pPr>
              <a:spcBef>
                <a:spcPct val="0"/>
              </a:spcBef>
              <a:buFontTx/>
              <a:buNone/>
            </a:pPr>
            <a:r>
              <a:rPr lang="en-US" altLang="tr-TR" sz="1200" b="0">
                <a:solidFill>
                  <a:srgbClr val="000000"/>
                </a:solidFill>
              </a:rPr>
              <a:t>Missiles and Space</a:t>
            </a:r>
          </a:p>
          <a:p>
            <a:pPr>
              <a:spcBef>
                <a:spcPct val="0"/>
              </a:spcBef>
              <a:buFontTx/>
              <a:buNone/>
            </a:pPr>
            <a:r>
              <a:rPr lang="en-US" altLang="tr-TR" sz="1200" b="0">
                <a:solidFill>
                  <a:srgbClr val="000000"/>
                </a:solidFill>
              </a:rPr>
              <a:t>Company, Inc.)</a:t>
            </a:r>
          </a:p>
        </p:txBody>
      </p:sp>
      <p:pic>
        <p:nvPicPr>
          <p:cNvPr id="38" name="Picture 37" descr="iyte logo.jpe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7446" name="TextBox 1744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25810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003FEBBD-6D16-467A-BCEB-683F1A9856FE}" type="slidenum">
              <a:rPr lang="en-US" altLang="tr-TR" sz="1200" b="0"/>
              <a:pPr>
                <a:spcBef>
                  <a:spcPct val="0"/>
                </a:spcBef>
                <a:buFontTx/>
                <a:buNone/>
              </a:pPr>
              <a:t>17</a:t>
            </a:fld>
            <a:endParaRPr lang="en-US" altLang="tr-TR" sz="1200" b="0"/>
          </a:p>
        </p:txBody>
      </p:sp>
      <p:sp>
        <p:nvSpPr>
          <p:cNvPr id="20483" name="Rectangle 2"/>
          <p:cNvSpPr>
            <a:spLocks noGrp="1" noChangeArrowheads="1"/>
          </p:cNvSpPr>
          <p:nvPr>
            <p:ph type="title"/>
          </p:nvPr>
        </p:nvSpPr>
        <p:spPr/>
        <p:txBody>
          <a:bodyPr/>
          <a:lstStyle/>
          <a:p>
            <a:r>
              <a:rPr lang="en-US" altLang="tr-TR">
                <a:ea typeface="ＭＳ Ｐゴシック" panose="020B0600070205080204" pitchFamily="34" charset="-128"/>
              </a:rPr>
              <a:t>DETERIORATIVE</a:t>
            </a:r>
          </a:p>
        </p:txBody>
      </p:sp>
      <p:sp>
        <p:nvSpPr>
          <p:cNvPr id="20484" name="Rectangle 5"/>
          <p:cNvSpPr>
            <a:spLocks noChangeArrowheads="1"/>
          </p:cNvSpPr>
          <p:nvPr/>
        </p:nvSpPr>
        <p:spPr bwMode="auto">
          <a:xfrm>
            <a:off x="457200" y="1066800"/>
            <a:ext cx="3036888"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  Stress &amp; Saltwater...</a:t>
            </a:r>
          </a:p>
          <a:p>
            <a:pPr>
              <a:spcBef>
                <a:spcPct val="0"/>
              </a:spcBef>
              <a:buFontTx/>
              <a:buNone/>
            </a:pPr>
            <a:r>
              <a:rPr lang="en-US" altLang="tr-TR" sz="2200" b="0"/>
              <a:t>    -- causes cracks! </a:t>
            </a:r>
            <a:endParaRPr lang="en-US" altLang="tr-TR" sz="2200" b="0">
              <a:latin typeface="Times" panose="02020603050405020304" pitchFamily="18" charset="0"/>
            </a:endParaRPr>
          </a:p>
        </p:txBody>
      </p:sp>
      <p:sp>
        <p:nvSpPr>
          <p:cNvPr id="20485" name="Rectangle 9"/>
          <p:cNvSpPr>
            <a:spLocks noChangeArrowheads="1"/>
          </p:cNvSpPr>
          <p:nvPr/>
        </p:nvSpPr>
        <p:spPr bwMode="auto">
          <a:xfrm>
            <a:off x="609600" y="4114800"/>
            <a:ext cx="32766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chapter-opening photograph, Chapter 16, </a:t>
            </a:r>
            <a:r>
              <a:rPr lang="en-US" altLang="tr-TR" sz="1200" b="0" i="1">
                <a:solidFill>
                  <a:srgbClr val="000000"/>
                </a:solidFill>
              </a:rPr>
              <a:t>Callister &amp; Rethwisch 3e.</a:t>
            </a:r>
          </a:p>
          <a:p>
            <a:pPr>
              <a:spcBef>
                <a:spcPct val="0"/>
              </a:spcBef>
              <a:buFontTx/>
              <a:buNone/>
            </a:pPr>
            <a:r>
              <a:rPr lang="en-US" altLang="tr-TR" sz="1200" b="0">
                <a:solidFill>
                  <a:srgbClr val="000000"/>
                </a:solidFill>
              </a:rPr>
              <a:t>(from </a:t>
            </a:r>
            <a:r>
              <a:rPr lang="en-US" altLang="tr-TR" sz="1200" b="0" i="1">
                <a:solidFill>
                  <a:srgbClr val="000000"/>
                </a:solidFill>
              </a:rPr>
              <a:t>Marine Corrosion, Causes, and Prevention</a:t>
            </a:r>
            <a:r>
              <a:rPr lang="en-US" altLang="tr-TR" sz="1200" b="0">
                <a:solidFill>
                  <a:srgbClr val="000000"/>
                </a:solidFill>
              </a:rPr>
              <a:t>, John Wiley and Sons, Inc., 1975.)</a:t>
            </a:r>
          </a:p>
        </p:txBody>
      </p:sp>
      <p:grpSp>
        <p:nvGrpSpPr>
          <p:cNvPr id="20486" name="Group 10"/>
          <p:cNvGrpSpPr>
            <a:grpSpLocks/>
          </p:cNvGrpSpPr>
          <p:nvPr/>
        </p:nvGrpSpPr>
        <p:grpSpPr bwMode="auto">
          <a:xfrm>
            <a:off x="4267200" y="4572000"/>
            <a:ext cx="4495800" cy="2095500"/>
            <a:chOff x="2688" y="2880"/>
            <a:chExt cx="2832" cy="1320"/>
          </a:xfrm>
        </p:grpSpPr>
        <p:grpSp>
          <p:nvGrpSpPr>
            <p:cNvPr id="20524" name="Group 11"/>
            <p:cNvGrpSpPr>
              <a:grpSpLocks/>
            </p:cNvGrpSpPr>
            <p:nvPr/>
          </p:nvGrpSpPr>
          <p:grpSpPr bwMode="auto">
            <a:xfrm>
              <a:off x="4096" y="2880"/>
              <a:ext cx="1424" cy="991"/>
              <a:chOff x="4096" y="2880"/>
              <a:chExt cx="1424" cy="991"/>
            </a:xfrm>
          </p:grpSpPr>
          <p:grpSp>
            <p:nvGrpSpPr>
              <p:cNvPr id="20527" name="Group 12"/>
              <p:cNvGrpSpPr>
                <a:grpSpLocks noChangeAspect="1"/>
              </p:cNvGrpSpPr>
              <p:nvPr/>
            </p:nvGrpSpPr>
            <p:grpSpPr bwMode="auto">
              <a:xfrm>
                <a:off x="4096" y="2880"/>
                <a:ext cx="1424" cy="991"/>
                <a:chOff x="4096" y="2880"/>
                <a:chExt cx="1424" cy="991"/>
              </a:xfrm>
            </p:grpSpPr>
            <p:sp>
              <p:nvSpPr>
                <p:cNvPr id="20530" name="AutoShape 13"/>
                <p:cNvSpPr>
                  <a:spLocks noChangeAspect="1" noChangeArrowheads="1" noTextEdit="1"/>
                </p:cNvSpPr>
                <p:nvPr/>
              </p:nvSpPr>
              <p:spPr bwMode="auto">
                <a:xfrm>
                  <a:off x="4096" y="2880"/>
                  <a:ext cx="1424" cy="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p>
              </p:txBody>
            </p:sp>
            <p:pic>
              <p:nvPicPr>
                <p:cNvPr id="20531"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2" y="2886"/>
                  <a:ext cx="1399" cy="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28" name="Line 15"/>
              <p:cNvSpPr>
                <a:spLocks noChangeShapeType="1"/>
              </p:cNvSpPr>
              <p:nvPr/>
            </p:nvSpPr>
            <p:spPr bwMode="auto">
              <a:xfrm flipH="1">
                <a:off x="4158" y="2954"/>
                <a:ext cx="1003"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20529" name="Rectangle 16"/>
              <p:cNvSpPr>
                <a:spLocks noChangeArrowheads="1"/>
              </p:cNvSpPr>
              <p:nvPr/>
            </p:nvSpPr>
            <p:spPr bwMode="auto">
              <a:xfrm>
                <a:off x="4492" y="2880"/>
                <a:ext cx="354"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400" b="0">
                    <a:solidFill>
                      <a:srgbClr val="000000"/>
                    </a:solidFill>
                  </a:rPr>
                  <a:t>4</a:t>
                </a:r>
                <a:r>
                  <a:rPr lang="en-US" altLang="tr-TR" sz="800" b="0">
                    <a:solidFill>
                      <a:srgbClr val="000000"/>
                    </a:solidFill>
                  </a:rPr>
                  <a:t> </a:t>
                </a:r>
                <a:r>
                  <a:rPr lang="en-US" altLang="tr-TR" sz="1400" b="0">
                    <a:solidFill>
                      <a:srgbClr val="000000"/>
                    </a:solidFill>
                    <a:latin typeface="Symbol" panose="05050102010706020507" pitchFamily="18" charset="2"/>
                  </a:rPr>
                  <a:t>m</a:t>
                </a:r>
                <a:r>
                  <a:rPr lang="en-US" altLang="tr-TR" sz="1400" b="0">
                    <a:solidFill>
                      <a:srgbClr val="000000"/>
                    </a:solidFill>
                  </a:rPr>
                  <a:t>m</a:t>
                </a:r>
              </a:p>
            </p:txBody>
          </p:sp>
        </p:grpSp>
        <p:sp>
          <p:nvSpPr>
            <p:cNvPr id="20525" name="Rectangle 17"/>
            <p:cNvSpPr>
              <a:spLocks noChangeArrowheads="1"/>
            </p:cNvSpPr>
            <p:nvPr/>
          </p:nvSpPr>
          <p:spPr bwMode="auto">
            <a:xfrm>
              <a:off x="2688" y="2928"/>
              <a:ext cx="1440" cy="5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t>-- material:</a:t>
              </a:r>
            </a:p>
            <a:p>
              <a:pPr>
                <a:spcBef>
                  <a:spcPct val="0"/>
                </a:spcBef>
                <a:buFontTx/>
                <a:buNone/>
              </a:pPr>
              <a:r>
                <a:rPr lang="en-US" altLang="tr-TR" sz="1800" b="0"/>
                <a:t>    </a:t>
              </a:r>
              <a:r>
                <a:rPr lang="en-US" altLang="tr-TR" sz="1600" b="0"/>
                <a:t>7150-T651 Al "alloy"</a:t>
              </a:r>
            </a:p>
            <a:p>
              <a:pPr>
                <a:spcBef>
                  <a:spcPct val="0"/>
                </a:spcBef>
                <a:buFontTx/>
                <a:buNone/>
              </a:pPr>
              <a:r>
                <a:rPr lang="en-US" altLang="tr-TR" sz="1600" b="0"/>
                <a:t>     (Zn,Cu,Mg,Zr)</a:t>
              </a:r>
            </a:p>
          </p:txBody>
        </p:sp>
        <p:sp>
          <p:nvSpPr>
            <p:cNvPr id="20526" name="Rectangle 18"/>
            <p:cNvSpPr>
              <a:spLocks noChangeArrowheads="1"/>
            </p:cNvSpPr>
            <p:nvPr/>
          </p:nvSpPr>
          <p:spPr bwMode="auto">
            <a:xfrm>
              <a:off x="2688" y="3735"/>
              <a:ext cx="2448"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11.26, </a:t>
              </a:r>
              <a:br>
                <a:rPr lang="en-US" altLang="tr-TR" sz="1200" b="0">
                  <a:solidFill>
                    <a:srgbClr val="000000"/>
                  </a:solidFill>
                </a:rPr>
              </a:br>
              <a:r>
                <a:rPr lang="en-US" altLang="tr-TR" sz="1200" b="0" i="1">
                  <a:solidFill>
                    <a:srgbClr val="000000"/>
                  </a:solidFill>
                </a:rPr>
                <a:t>Callister &amp; Rethwisch 8e. </a:t>
              </a:r>
              <a:r>
                <a:rPr lang="en-US" altLang="tr-TR" sz="1200" b="0">
                  <a:solidFill>
                    <a:srgbClr val="000000"/>
                  </a:solidFill>
                </a:rPr>
                <a:t>(Provided courtesy of G.H. Narayanan and A.G. Miller, Boeing Commercial Airplane Company.)</a:t>
              </a:r>
            </a:p>
          </p:txBody>
        </p:sp>
      </p:grpSp>
      <p:sp>
        <p:nvSpPr>
          <p:cNvPr id="20487" name="Rectangle 20"/>
          <p:cNvSpPr>
            <a:spLocks noChangeArrowheads="1"/>
          </p:cNvSpPr>
          <p:nvPr/>
        </p:nvSpPr>
        <p:spPr bwMode="auto">
          <a:xfrm>
            <a:off x="4191000" y="1066800"/>
            <a:ext cx="3540125"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  Heat treatment:</a:t>
            </a:r>
            <a:r>
              <a:rPr lang="en-US" altLang="tr-TR" sz="2200" b="0"/>
              <a:t>  slows</a:t>
            </a:r>
            <a:endParaRPr lang="en-US" altLang="tr-TR" sz="2400" b="0"/>
          </a:p>
          <a:p>
            <a:pPr>
              <a:spcBef>
                <a:spcPct val="0"/>
              </a:spcBef>
              <a:buFontTx/>
              <a:buNone/>
            </a:pPr>
            <a:r>
              <a:rPr lang="en-US" altLang="tr-TR" sz="2200" b="0"/>
              <a:t>    crack speed in salt water! </a:t>
            </a:r>
          </a:p>
        </p:txBody>
      </p:sp>
      <p:sp>
        <p:nvSpPr>
          <p:cNvPr id="20488" name="Rectangle 21"/>
          <p:cNvSpPr>
            <a:spLocks noChangeArrowheads="1"/>
          </p:cNvSpPr>
          <p:nvPr/>
        </p:nvSpPr>
        <p:spPr bwMode="auto">
          <a:xfrm>
            <a:off x="4267200" y="3733800"/>
            <a:ext cx="4648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11.20(b), R.W. Hertzberg, "Deformation and Fracture Mechanics of Engineering Materials" (4th ed.), p. 505, John Wiley and Sons, 1996.  (Original source:  Markus O. Speidel, Brown Boveri Co.)</a:t>
            </a:r>
          </a:p>
        </p:txBody>
      </p:sp>
      <p:grpSp>
        <p:nvGrpSpPr>
          <p:cNvPr id="20489" name="Group 60"/>
          <p:cNvGrpSpPr>
            <a:grpSpLocks/>
          </p:cNvGrpSpPr>
          <p:nvPr/>
        </p:nvGrpSpPr>
        <p:grpSpPr bwMode="auto">
          <a:xfrm>
            <a:off x="4713288" y="1889125"/>
            <a:ext cx="3194050" cy="1736725"/>
            <a:chOff x="2969" y="1190"/>
            <a:chExt cx="2012" cy="1094"/>
          </a:xfrm>
        </p:grpSpPr>
        <p:sp>
          <p:nvSpPr>
            <p:cNvPr id="20494" name="Rectangle 23"/>
            <p:cNvSpPr>
              <a:spLocks noChangeArrowheads="1"/>
            </p:cNvSpPr>
            <p:nvPr/>
          </p:nvSpPr>
          <p:spPr bwMode="auto">
            <a:xfrm>
              <a:off x="4203" y="1383"/>
              <a:ext cx="4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500" b="0">
                  <a:solidFill>
                    <a:srgbClr val="990000"/>
                  </a:solidFill>
                </a:rPr>
                <a:t>“held at </a:t>
              </a:r>
              <a:endParaRPr lang="en-US" altLang="tr-TR" sz="2400" b="0"/>
            </a:p>
          </p:txBody>
        </p:sp>
        <p:sp>
          <p:nvSpPr>
            <p:cNvPr id="20495" name="Rectangle 24"/>
            <p:cNvSpPr>
              <a:spLocks noChangeArrowheads="1"/>
            </p:cNvSpPr>
            <p:nvPr/>
          </p:nvSpPr>
          <p:spPr bwMode="auto">
            <a:xfrm>
              <a:off x="4203" y="1523"/>
              <a:ext cx="77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500" b="0">
                  <a:solidFill>
                    <a:srgbClr val="990000"/>
                  </a:solidFill>
                </a:rPr>
                <a:t>160</a:t>
              </a:r>
              <a:r>
                <a:rPr lang="en-US" altLang="tr-TR" sz="1500" b="0">
                  <a:solidFill>
                    <a:srgbClr val="990000"/>
                  </a:solidFill>
                  <a:cs typeface="Arial" panose="020B0604020202020204" pitchFamily="34" charset="0"/>
                </a:rPr>
                <a:t>ºC for 1 hr </a:t>
              </a:r>
              <a:endParaRPr lang="en-US" altLang="tr-TR" sz="2400" b="0">
                <a:cs typeface="Arial" panose="020B0604020202020204" pitchFamily="34" charset="0"/>
              </a:endParaRPr>
            </a:p>
          </p:txBody>
        </p:sp>
        <p:sp>
          <p:nvSpPr>
            <p:cNvPr id="20496" name="Rectangle 25"/>
            <p:cNvSpPr>
              <a:spLocks noChangeArrowheads="1"/>
            </p:cNvSpPr>
            <p:nvPr/>
          </p:nvSpPr>
          <p:spPr bwMode="auto">
            <a:xfrm>
              <a:off x="4203" y="1662"/>
              <a:ext cx="7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500" b="0">
                  <a:solidFill>
                    <a:srgbClr val="990000"/>
                  </a:solidFill>
                </a:rPr>
                <a:t>before testing”</a:t>
              </a:r>
              <a:endParaRPr lang="en-US" altLang="tr-TR" sz="2400" b="0"/>
            </a:p>
          </p:txBody>
        </p:sp>
        <p:grpSp>
          <p:nvGrpSpPr>
            <p:cNvPr id="20497" name="Group 26"/>
            <p:cNvGrpSpPr>
              <a:grpSpLocks/>
            </p:cNvGrpSpPr>
            <p:nvPr/>
          </p:nvGrpSpPr>
          <p:grpSpPr bwMode="auto">
            <a:xfrm>
              <a:off x="3428" y="2114"/>
              <a:ext cx="1442" cy="67"/>
              <a:chOff x="3428" y="2114"/>
              <a:chExt cx="1442" cy="67"/>
            </a:xfrm>
          </p:grpSpPr>
          <p:sp>
            <p:nvSpPr>
              <p:cNvPr id="20522" name="Freeform 27"/>
              <p:cNvSpPr>
                <a:spLocks/>
              </p:cNvSpPr>
              <p:nvPr/>
            </p:nvSpPr>
            <p:spPr bwMode="auto">
              <a:xfrm>
                <a:off x="4797" y="2114"/>
                <a:ext cx="73" cy="67"/>
              </a:xfrm>
              <a:custGeom>
                <a:avLst/>
                <a:gdLst>
                  <a:gd name="T0" fmla="*/ 73 w 73"/>
                  <a:gd name="T1" fmla="*/ 33 h 67"/>
                  <a:gd name="T2" fmla="*/ 0 w 73"/>
                  <a:gd name="T3" fmla="*/ 67 h 67"/>
                  <a:gd name="T4" fmla="*/ 27 w 73"/>
                  <a:gd name="T5" fmla="*/ 33 h 67"/>
                  <a:gd name="T6" fmla="*/ 0 w 73"/>
                  <a:gd name="T7" fmla="*/ 0 h 67"/>
                  <a:gd name="T8" fmla="*/ 73 w 73"/>
                  <a:gd name="T9" fmla="*/ 33 h 67"/>
                  <a:gd name="T10" fmla="*/ 0 60000 65536"/>
                  <a:gd name="T11" fmla="*/ 0 60000 65536"/>
                  <a:gd name="T12" fmla="*/ 0 60000 65536"/>
                  <a:gd name="T13" fmla="*/ 0 60000 65536"/>
                  <a:gd name="T14" fmla="*/ 0 60000 65536"/>
                  <a:gd name="T15" fmla="*/ 0 w 73"/>
                  <a:gd name="T16" fmla="*/ 0 h 67"/>
                  <a:gd name="T17" fmla="*/ 73 w 73"/>
                  <a:gd name="T18" fmla="*/ 67 h 67"/>
                </a:gdLst>
                <a:ahLst/>
                <a:cxnLst>
                  <a:cxn ang="T10">
                    <a:pos x="T0" y="T1"/>
                  </a:cxn>
                  <a:cxn ang="T11">
                    <a:pos x="T2" y="T3"/>
                  </a:cxn>
                  <a:cxn ang="T12">
                    <a:pos x="T4" y="T5"/>
                  </a:cxn>
                  <a:cxn ang="T13">
                    <a:pos x="T6" y="T7"/>
                  </a:cxn>
                  <a:cxn ang="T14">
                    <a:pos x="T8" y="T9"/>
                  </a:cxn>
                </a:cxnLst>
                <a:rect l="T15" t="T16" r="T17" b="T18"/>
                <a:pathLst>
                  <a:path w="73" h="67">
                    <a:moveTo>
                      <a:pt x="73" y="33"/>
                    </a:moveTo>
                    <a:lnTo>
                      <a:pt x="0" y="67"/>
                    </a:lnTo>
                    <a:lnTo>
                      <a:pt x="27" y="33"/>
                    </a:lnTo>
                    <a:lnTo>
                      <a:pt x="0" y="0"/>
                    </a:lnTo>
                    <a:lnTo>
                      <a:pt x="73" y="33"/>
                    </a:lnTo>
                    <a:close/>
                  </a:path>
                </a:pathLst>
              </a:custGeom>
              <a:solidFill>
                <a:srgbClr val="000000"/>
              </a:solidFill>
              <a:ln w="11113">
                <a:solidFill>
                  <a:srgbClr val="000000"/>
                </a:solidFill>
                <a:round/>
                <a:headEnd/>
                <a:tailEnd/>
              </a:ln>
            </p:spPr>
            <p:txBody>
              <a:bodyPr/>
              <a:lstStyle/>
              <a:p>
                <a:endParaRPr lang="tr-TR"/>
              </a:p>
            </p:txBody>
          </p:sp>
          <p:sp>
            <p:nvSpPr>
              <p:cNvPr id="20523" name="Line 28"/>
              <p:cNvSpPr>
                <a:spLocks noChangeShapeType="1"/>
              </p:cNvSpPr>
              <p:nvPr/>
            </p:nvSpPr>
            <p:spPr bwMode="auto">
              <a:xfrm>
                <a:off x="3428" y="2147"/>
                <a:ext cx="139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20498" name="Line 29"/>
            <p:cNvSpPr>
              <a:spLocks noChangeShapeType="1"/>
            </p:cNvSpPr>
            <p:nvPr/>
          </p:nvSpPr>
          <p:spPr bwMode="auto">
            <a:xfrm flipV="1">
              <a:off x="3634" y="2061"/>
              <a:ext cx="1" cy="8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499" name="Line 30"/>
            <p:cNvSpPr>
              <a:spLocks noChangeShapeType="1"/>
            </p:cNvSpPr>
            <p:nvPr/>
          </p:nvSpPr>
          <p:spPr bwMode="auto">
            <a:xfrm flipV="1">
              <a:off x="3847" y="2061"/>
              <a:ext cx="1" cy="8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00" name="Line 31"/>
            <p:cNvSpPr>
              <a:spLocks noChangeShapeType="1"/>
            </p:cNvSpPr>
            <p:nvPr/>
          </p:nvSpPr>
          <p:spPr bwMode="auto">
            <a:xfrm flipV="1">
              <a:off x="4059" y="2061"/>
              <a:ext cx="1" cy="8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01" name="Line 32"/>
            <p:cNvSpPr>
              <a:spLocks noChangeShapeType="1"/>
            </p:cNvSpPr>
            <p:nvPr/>
          </p:nvSpPr>
          <p:spPr bwMode="auto">
            <a:xfrm flipV="1">
              <a:off x="4272" y="2061"/>
              <a:ext cx="1" cy="8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02" name="Line 33"/>
            <p:cNvSpPr>
              <a:spLocks noChangeShapeType="1"/>
            </p:cNvSpPr>
            <p:nvPr/>
          </p:nvSpPr>
          <p:spPr bwMode="auto">
            <a:xfrm flipV="1">
              <a:off x="4485" y="2061"/>
              <a:ext cx="1" cy="8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03" name="Line 34"/>
            <p:cNvSpPr>
              <a:spLocks noChangeShapeType="1"/>
            </p:cNvSpPr>
            <p:nvPr/>
          </p:nvSpPr>
          <p:spPr bwMode="auto">
            <a:xfrm flipV="1">
              <a:off x="4697" y="2054"/>
              <a:ext cx="1" cy="9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04" name="Rectangle 35"/>
            <p:cNvSpPr>
              <a:spLocks noChangeArrowheads="1"/>
            </p:cNvSpPr>
            <p:nvPr/>
          </p:nvSpPr>
          <p:spPr bwMode="auto">
            <a:xfrm>
              <a:off x="3754" y="2121"/>
              <a:ext cx="91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700" b="0">
                  <a:solidFill>
                    <a:srgbClr val="000000"/>
                  </a:solidFill>
                </a:rPr>
                <a:t>increasing load</a:t>
              </a:r>
              <a:endParaRPr lang="en-US" altLang="tr-TR" sz="2400" b="0"/>
            </a:p>
          </p:txBody>
        </p:sp>
        <p:sp>
          <p:nvSpPr>
            <p:cNvPr id="20505" name="Rectangle 36"/>
            <p:cNvSpPr>
              <a:spLocks noChangeArrowheads="1"/>
            </p:cNvSpPr>
            <p:nvPr/>
          </p:nvSpPr>
          <p:spPr bwMode="auto">
            <a:xfrm rot="-5400000">
              <a:off x="2510" y="1649"/>
              <a:ext cx="108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700" b="0">
                  <a:solidFill>
                    <a:srgbClr val="000000"/>
                  </a:solidFill>
                </a:rPr>
                <a:t>crack speed (m/s)</a:t>
              </a:r>
              <a:endParaRPr lang="en-US" altLang="tr-TR" sz="2400" b="0"/>
            </a:p>
          </p:txBody>
        </p:sp>
        <p:grpSp>
          <p:nvGrpSpPr>
            <p:cNvPr id="20506" name="Group 37"/>
            <p:cNvGrpSpPr>
              <a:grpSpLocks/>
            </p:cNvGrpSpPr>
            <p:nvPr/>
          </p:nvGrpSpPr>
          <p:grpSpPr bwMode="auto">
            <a:xfrm>
              <a:off x="3395" y="1200"/>
              <a:ext cx="66" cy="957"/>
              <a:chOff x="3395" y="1170"/>
              <a:chExt cx="66" cy="957"/>
            </a:xfrm>
          </p:grpSpPr>
          <p:sp>
            <p:nvSpPr>
              <p:cNvPr id="20520" name="Freeform 38"/>
              <p:cNvSpPr>
                <a:spLocks/>
              </p:cNvSpPr>
              <p:nvPr/>
            </p:nvSpPr>
            <p:spPr bwMode="auto">
              <a:xfrm>
                <a:off x="3395" y="1170"/>
                <a:ext cx="66" cy="74"/>
              </a:xfrm>
              <a:custGeom>
                <a:avLst/>
                <a:gdLst>
                  <a:gd name="T0" fmla="*/ 33 w 66"/>
                  <a:gd name="T1" fmla="*/ 0 h 74"/>
                  <a:gd name="T2" fmla="*/ 66 w 66"/>
                  <a:gd name="T3" fmla="*/ 74 h 74"/>
                  <a:gd name="T4" fmla="*/ 33 w 66"/>
                  <a:gd name="T5" fmla="*/ 47 h 74"/>
                  <a:gd name="T6" fmla="*/ 0 w 66"/>
                  <a:gd name="T7" fmla="*/ 74 h 74"/>
                  <a:gd name="T8" fmla="*/ 33 w 66"/>
                  <a:gd name="T9" fmla="*/ 0 h 74"/>
                  <a:gd name="T10" fmla="*/ 0 60000 65536"/>
                  <a:gd name="T11" fmla="*/ 0 60000 65536"/>
                  <a:gd name="T12" fmla="*/ 0 60000 65536"/>
                  <a:gd name="T13" fmla="*/ 0 60000 65536"/>
                  <a:gd name="T14" fmla="*/ 0 60000 65536"/>
                  <a:gd name="T15" fmla="*/ 0 w 66"/>
                  <a:gd name="T16" fmla="*/ 0 h 74"/>
                  <a:gd name="T17" fmla="*/ 66 w 66"/>
                  <a:gd name="T18" fmla="*/ 74 h 74"/>
                </a:gdLst>
                <a:ahLst/>
                <a:cxnLst>
                  <a:cxn ang="T10">
                    <a:pos x="T0" y="T1"/>
                  </a:cxn>
                  <a:cxn ang="T11">
                    <a:pos x="T2" y="T3"/>
                  </a:cxn>
                  <a:cxn ang="T12">
                    <a:pos x="T4" y="T5"/>
                  </a:cxn>
                  <a:cxn ang="T13">
                    <a:pos x="T6" y="T7"/>
                  </a:cxn>
                  <a:cxn ang="T14">
                    <a:pos x="T8" y="T9"/>
                  </a:cxn>
                </a:cxnLst>
                <a:rect l="T15" t="T16" r="T17" b="T18"/>
                <a:pathLst>
                  <a:path w="66" h="74">
                    <a:moveTo>
                      <a:pt x="33" y="0"/>
                    </a:moveTo>
                    <a:lnTo>
                      <a:pt x="66" y="74"/>
                    </a:lnTo>
                    <a:lnTo>
                      <a:pt x="33" y="47"/>
                    </a:lnTo>
                    <a:lnTo>
                      <a:pt x="0" y="74"/>
                    </a:lnTo>
                    <a:lnTo>
                      <a:pt x="33" y="0"/>
                    </a:lnTo>
                    <a:close/>
                  </a:path>
                </a:pathLst>
              </a:custGeom>
              <a:solidFill>
                <a:srgbClr val="000000"/>
              </a:solidFill>
              <a:ln w="11113">
                <a:solidFill>
                  <a:srgbClr val="000000"/>
                </a:solidFill>
                <a:round/>
                <a:headEnd/>
                <a:tailEnd/>
              </a:ln>
            </p:spPr>
            <p:txBody>
              <a:bodyPr/>
              <a:lstStyle/>
              <a:p>
                <a:endParaRPr lang="tr-TR"/>
              </a:p>
            </p:txBody>
          </p:sp>
          <p:sp>
            <p:nvSpPr>
              <p:cNvPr id="20521" name="Line 39"/>
              <p:cNvSpPr>
                <a:spLocks noChangeShapeType="1"/>
              </p:cNvSpPr>
              <p:nvPr/>
            </p:nvSpPr>
            <p:spPr bwMode="auto">
              <a:xfrm flipV="1">
                <a:off x="3428" y="1217"/>
                <a:ext cx="1" cy="91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20507" name="Freeform 40"/>
            <p:cNvSpPr>
              <a:spLocks/>
            </p:cNvSpPr>
            <p:nvPr/>
          </p:nvSpPr>
          <p:spPr bwMode="auto">
            <a:xfrm>
              <a:off x="3667" y="1277"/>
              <a:ext cx="465" cy="684"/>
            </a:xfrm>
            <a:custGeom>
              <a:avLst/>
              <a:gdLst>
                <a:gd name="T0" fmla="*/ 0 w 465"/>
                <a:gd name="T1" fmla="*/ 684 h 684"/>
                <a:gd name="T2" fmla="*/ 73 w 465"/>
                <a:gd name="T3" fmla="*/ 186 h 684"/>
                <a:gd name="T4" fmla="*/ 93 w 465"/>
                <a:gd name="T5" fmla="*/ 66 h 684"/>
                <a:gd name="T6" fmla="*/ 133 w 465"/>
                <a:gd name="T7" fmla="*/ 6 h 684"/>
                <a:gd name="T8" fmla="*/ 153 w 465"/>
                <a:gd name="T9" fmla="*/ 0 h 684"/>
                <a:gd name="T10" fmla="*/ 465 w 465"/>
                <a:gd name="T11" fmla="*/ 6 h 684"/>
                <a:gd name="T12" fmla="*/ 0 60000 65536"/>
                <a:gd name="T13" fmla="*/ 0 60000 65536"/>
                <a:gd name="T14" fmla="*/ 0 60000 65536"/>
                <a:gd name="T15" fmla="*/ 0 60000 65536"/>
                <a:gd name="T16" fmla="*/ 0 60000 65536"/>
                <a:gd name="T17" fmla="*/ 0 60000 65536"/>
                <a:gd name="T18" fmla="*/ 0 w 465"/>
                <a:gd name="T19" fmla="*/ 0 h 684"/>
                <a:gd name="T20" fmla="*/ 465 w 465"/>
                <a:gd name="T21" fmla="*/ 684 h 684"/>
              </a:gdLst>
              <a:ahLst/>
              <a:cxnLst>
                <a:cxn ang="T12">
                  <a:pos x="T0" y="T1"/>
                </a:cxn>
                <a:cxn ang="T13">
                  <a:pos x="T2" y="T3"/>
                </a:cxn>
                <a:cxn ang="T14">
                  <a:pos x="T4" y="T5"/>
                </a:cxn>
                <a:cxn ang="T15">
                  <a:pos x="T6" y="T7"/>
                </a:cxn>
                <a:cxn ang="T16">
                  <a:pos x="T8" y="T9"/>
                </a:cxn>
                <a:cxn ang="T17">
                  <a:pos x="T10" y="T11"/>
                </a:cxn>
              </a:cxnLst>
              <a:rect l="T18" t="T19" r="T20" b="T21"/>
              <a:pathLst>
                <a:path w="465" h="684">
                  <a:moveTo>
                    <a:pt x="0" y="684"/>
                  </a:moveTo>
                  <a:lnTo>
                    <a:pt x="73" y="186"/>
                  </a:lnTo>
                  <a:lnTo>
                    <a:pt x="93" y="66"/>
                  </a:lnTo>
                  <a:lnTo>
                    <a:pt x="133" y="6"/>
                  </a:lnTo>
                  <a:lnTo>
                    <a:pt x="153" y="0"/>
                  </a:lnTo>
                  <a:lnTo>
                    <a:pt x="465" y="6"/>
                  </a:lnTo>
                </a:path>
              </a:pathLst>
            </a:custGeom>
            <a:noFill/>
            <a:ln w="57150">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p>
              <a:endParaRPr lang="tr-TR"/>
            </a:p>
          </p:txBody>
        </p:sp>
        <p:sp>
          <p:nvSpPr>
            <p:cNvPr id="20508" name="Rectangle 41"/>
            <p:cNvSpPr>
              <a:spLocks noChangeArrowheads="1"/>
            </p:cNvSpPr>
            <p:nvPr/>
          </p:nvSpPr>
          <p:spPr bwMode="auto">
            <a:xfrm>
              <a:off x="4203" y="1237"/>
              <a:ext cx="3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500" b="0">
                  <a:solidFill>
                    <a:srgbClr val="000099"/>
                  </a:solidFill>
                </a:rPr>
                <a:t>“as-is”</a:t>
              </a:r>
              <a:endParaRPr lang="en-US" altLang="tr-TR" sz="2400" b="0"/>
            </a:p>
          </p:txBody>
        </p:sp>
        <p:sp>
          <p:nvSpPr>
            <p:cNvPr id="20509" name="Freeform 42"/>
            <p:cNvSpPr>
              <a:spLocks/>
            </p:cNvSpPr>
            <p:nvPr/>
          </p:nvSpPr>
          <p:spPr bwMode="auto">
            <a:xfrm>
              <a:off x="3734" y="1489"/>
              <a:ext cx="392" cy="246"/>
            </a:xfrm>
            <a:custGeom>
              <a:avLst/>
              <a:gdLst>
                <a:gd name="T0" fmla="*/ 392 w 392"/>
                <a:gd name="T1" fmla="*/ 0 h 246"/>
                <a:gd name="T2" fmla="*/ 192 w 392"/>
                <a:gd name="T3" fmla="*/ 0 h 246"/>
                <a:gd name="T4" fmla="*/ 133 w 392"/>
                <a:gd name="T5" fmla="*/ 20 h 246"/>
                <a:gd name="T6" fmla="*/ 73 w 392"/>
                <a:gd name="T7" fmla="*/ 80 h 246"/>
                <a:gd name="T8" fmla="*/ 13 w 392"/>
                <a:gd name="T9" fmla="*/ 200 h 246"/>
                <a:gd name="T10" fmla="*/ 0 w 392"/>
                <a:gd name="T11" fmla="*/ 246 h 246"/>
                <a:gd name="T12" fmla="*/ 0 60000 65536"/>
                <a:gd name="T13" fmla="*/ 0 60000 65536"/>
                <a:gd name="T14" fmla="*/ 0 60000 65536"/>
                <a:gd name="T15" fmla="*/ 0 60000 65536"/>
                <a:gd name="T16" fmla="*/ 0 60000 65536"/>
                <a:gd name="T17" fmla="*/ 0 60000 65536"/>
                <a:gd name="T18" fmla="*/ 0 w 392"/>
                <a:gd name="T19" fmla="*/ 0 h 246"/>
                <a:gd name="T20" fmla="*/ 392 w 392"/>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392" h="246">
                  <a:moveTo>
                    <a:pt x="392" y="0"/>
                  </a:moveTo>
                  <a:lnTo>
                    <a:pt x="192" y="0"/>
                  </a:lnTo>
                  <a:lnTo>
                    <a:pt x="133" y="20"/>
                  </a:lnTo>
                  <a:lnTo>
                    <a:pt x="73" y="80"/>
                  </a:lnTo>
                  <a:lnTo>
                    <a:pt x="13" y="200"/>
                  </a:lnTo>
                  <a:lnTo>
                    <a:pt x="0" y="246"/>
                  </a:lnTo>
                </a:path>
              </a:pathLst>
            </a:custGeom>
            <a:noFill/>
            <a:ln w="5715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tr-TR"/>
            </a:p>
          </p:txBody>
        </p:sp>
        <p:sp>
          <p:nvSpPr>
            <p:cNvPr id="20510" name="Rectangle 43"/>
            <p:cNvSpPr>
              <a:spLocks noChangeArrowheads="1"/>
            </p:cNvSpPr>
            <p:nvPr/>
          </p:nvSpPr>
          <p:spPr bwMode="auto">
            <a:xfrm>
              <a:off x="3109" y="1802"/>
              <a:ext cx="1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500" b="0">
                  <a:solidFill>
                    <a:srgbClr val="000000"/>
                  </a:solidFill>
                </a:rPr>
                <a:t>10</a:t>
              </a:r>
              <a:endParaRPr lang="en-US" altLang="tr-TR" sz="2400" b="0"/>
            </a:p>
          </p:txBody>
        </p:sp>
        <p:sp>
          <p:nvSpPr>
            <p:cNvPr id="20511" name="Rectangle 44"/>
            <p:cNvSpPr>
              <a:spLocks noChangeArrowheads="1"/>
            </p:cNvSpPr>
            <p:nvPr/>
          </p:nvSpPr>
          <p:spPr bwMode="auto">
            <a:xfrm>
              <a:off x="3242" y="1775"/>
              <a:ext cx="15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300" b="0">
                  <a:solidFill>
                    <a:srgbClr val="000000"/>
                  </a:solidFill>
                </a:rPr>
                <a:t>-10</a:t>
              </a:r>
              <a:endParaRPr lang="en-US" altLang="tr-TR" sz="2000" b="0"/>
            </a:p>
          </p:txBody>
        </p:sp>
        <p:sp>
          <p:nvSpPr>
            <p:cNvPr id="20512" name="Rectangle 45"/>
            <p:cNvSpPr>
              <a:spLocks noChangeArrowheads="1"/>
            </p:cNvSpPr>
            <p:nvPr/>
          </p:nvSpPr>
          <p:spPr bwMode="auto">
            <a:xfrm>
              <a:off x="3162" y="1237"/>
              <a:ext cx="1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500" b="0">
                  <a:solidFill>
                    <a:srgbClr val="000000"/>
                  </a:solidFill>
                </a:rPr>
                <a:t>10</a:t>
              </a:r>
              <a:endParaRPr lang="en-US" altLang="tr-TR" sz="2400" b="0"/>
            </a:p>
          </p:txBody>
        </p:sp>
        <p:sp>
          <p:nvSpPr>
            <p:cNvPr id="20513" name="Rectangle 46"/>
            <p:cNvSpPr>
              <a:spLocks noChangeArrowheads="1"/>
            </p:cNvSpPr>
            <p:nvPr/>
          </p:nvSpPr>
          <p:spPr bwMode="auto">
            <a:xfrm>
              <a:off x="3295" y="1210"/>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300" b="0">
                  <a:solidFill>
                    <a:srgbClr val="000000"/>
                  </a:solidFill>
                </a:rPr>
                <a:t>-8</a:t>
              </a:r>
              <a:endParaRPr lang="en-US" altLang="tr-TR" sz="2000" b="0"/>
            </a:p>
          </p:txBody>
        </p:sp>
        <p:sp>
          <p:nvSpPr>
            <p:cNvPr id="20514" name="Line 47"/>
            <p:cNvSpPr>
              <a:spLocks noChangeShapeType="1"/>
            </p:cNvSpPr>
            <p:nvPr/>
          </p:nvSpPr>
          <p:spPr bwMode="auto">
            <a:xfrm>
              <a:off x="3428" y="1297"/>
              <a:ext cx="60"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15" name="Line 48"/>
            <p:cNvSpPr>
              <a:spLocks noChangeShapeType="1"/>
            </p:cNvSpPr>
            <p:nvPr/>
          </p:nvSpPr>
          <p:spPr bwMode="auto">
            <a:xfrm>
              <a:off x="3428" y="1576"/>
              <a:ext cx="60"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16" name="Line 49"/>
            <p:cNvSpPr>
              <a:spLocks noChangeShapeType="1"/>
            </p:cNvSpPr>
            <p:nvPr/>
          </p:nvSpPr>
          <p:spPr bwMode="auto">
            <a:xfrm>
              <a:off x="3428" y="1855"/>
              <a:ext cx="60"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20517" name="Rectangle 50"/>
            <p:cNvSpPr>
              <a:spLocks noChangeArrowheads="1"/>
            </p:cNvSpPr>
            <p:nvPr/>
          </p:nvSpPr>
          <p:spPr bwMode="auto">
            <a:xfrm>
              <a:off x="3933" y="1802"/>
              <a:ext cx="7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000" b="0">
                  <a:solidFill>
                    <a:srgbClr val="000000"/>
                  </a:solidFill>
                </a:rPr>
                <a:t>Alloy 7178 tested in </a:t>
              </a:r>
              <a:endParaRPr lang="en-US" altLang="tr-TR" sz="2400" b="0"/>
            </a:p>
          </p:txBody>
        </p:sp>
        <p:sp>
          <p:nvSpPr>
            <p:cNvPr id="20518" name="Rectangle 51"/>
            <p:cNvSpPr>
              <a:spLocks noChangeArrowheads="1"/>
            </p:cNvSpPr>
            <p:nvPr/>
          </p:nvSpPr>
          <p:spPr bwMode="auto">
            <a:xfrm>
              <a:off x="3933" y="1895"/>
              <a:ext cx="88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000" b="0">
                  <a:solidFill>
                    <a:srgbClr val="000000"/>
                  </a:solidFill>
                </a:rPr>
                <a:t>saturated aqueous NaCl </a:t>
              </a:r>
              <a:endParaRPr lang="en-US" altLang="tr-TR" sz="2400" b="0"/>
            </a:p>
          </p:txBody>
        </p:sp>
        <p:sp>
          <p:nvSpPr>
            <p:cNvPr id="20519" name="Rectangle 52"/>
            <p:cNvSpPr>
              <a:spLocks noChangeArrowheads="1"/>
            </p:cNvSpPr>
            <p:nvPr/>
          </p:nvSpPr>
          <p:spPr bwMode="auto">
            <a:xfrm>
              <a:off x="3933" y="1988"/>
              <a:ext cx="56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000" b="0">
                  <a:solidFill>
                    <a:srgbClr val="000000"/>
                  </a:solidFill>
                </a:rPr>
                <a:t>solution at 23</a:t>
              </a:r>
              <a:r>
                <a:rPr lang="en-US" altLang="tr-TR" sz="1000" b="0">
                  <a:solidFill>
                    <a:srgbClr val="000000"/>
                  </a:solidFill>
                  <a:cs typeface="Arial" panose="020B0604020202020204" pitchFamily="34" charset="0"/>
                </a:rPr>
                <a:t>ºC</a:t>
              </a:r>
              <a:endParaRPr lang="en-US" altLang="tr-TR" sz="2400" b="0">
                <a:cs typeface="Arial" panose="020B0604020202020204" pitchFamily="34" charset="0"/>
              </a:endParaRPr>
            </a:p>
          </p:txBody>
        </p:sp>
      </p:grpSp>
      <p:grpSp>
        <p:nvGrpSpPr>
          <p:cNvPr id="20490" name="Group 59"/>
          <p:cNvGrpSpPr>
            <a:grpSpLocks/>
          </p:cNvGrpSpPr>
          <p:nvPr/>
        </p:nvGrpSpPr>
        <p:grpSpPr bwMode="auto">
          <a:xfrm>
            <a:off x="627063" y="1490663"/>
            <a:ext cx="3316287" cy="2519362"/>
            <a:chOff x="395" y="939"/>
            <a:chExt cx="2089" cy="1587"/>
          </a:xfrm>
        </p:grpSpPr>
        <p:graphicFrame>
          <p:nvGraphicFramePr>
            <p:cNvPr id="20491" name="Object 0"/>
            <p:cNvGraphicFramePr>
              <a:graphicFrameLocks noChangeAspect="1"/>
            </p:cNvGraphicFramePr>
            <p:nvPr/>
          </p:nvGraphicFramePr>
          <p:xfrm>
            <a:off x="395" y="1151"/>
            <a:ext cx="1388" cy="1375"/>
          </p:xfrm>
          <a:graphic>
            <a:graphicData uri="http://schemas.openxmlformats.org/presentationml/2006/ole">
              <mc:AlternateContent xmlns:mc="http://schemas.openxmlformats.org/markup-compatibility/2006">
                <mc:Choice xmlns:v="urn:schemas-microsoft-com:vml" Requires="v">
                  <p:oleObj name="Image" r:id="rId4" imgW="914402" imgH="1011595" progId="Photoshop.Image.9">
                    <p:embed/>
                  </p:oleObj>
                </mc:Choice>
                <mc:Fallback>
                  <p:oleObj name="Image" r:id="rId4" imgW="914402" imgH="1011595" progId="Photoshop.Image.9">
                    <p:embed/>
                    <p:pic>
                      <p:nvPicPr>
                        <p:cNvPr id="20491" name="Object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 y="1151"/>
                          <a:ext cx="1388" cy="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2" name="Line 8"/>
            <p:cNvSpPr>
              <a:spLocks noChangeShapeType="1"/>
            </p:cNvSpPr>
            <p:nvPr/>
          </p:nvSpPr>
          <p:spPr bwMode="auto">
            <a:xfrm flipV="1">
              <a:off x="1552" y="1416"/>
              <a:ext cx="528" cy="288"/>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tr-TR"/>
            </a:p>
          </p:txBody>
        </p:sp>
        <p:graphicFrame>
          <p:nvGraphicFramePr>
            <p:cNvPr id="20493" name="Object 1"/>
            <p:cNvGraphicFramePr>
              <a:graphicFrameLocks noChangeAspect="1"/>
            </p:cNvGraphicFramePr>
            <p:nvPr/>
          </p:nvGraphicFramePr>
          <p:xfrm>
            <a:off x="2083" y="939"/>
            <a:ext cx="401" cy="1394"/>
          </p:xfrm>
          <a:graphic>
            <a:graphicData uri="http://schemas.openxmlformats.org/presentationml/2006/ole">
              <mc:AlternateContent xmlns:mc="http://schemas.openxmlformats.org/markup-compatibility/2006">
                <mc:Choice xmlns:v="urn:schemas-microsoft-com:vml" Requires="v">
                  <p:oleObj name="Image" r:id="rId6" imgW="133920" imgH="462944" progId="Photoshop.Image.9">
                    <p:embed/>
                  </p:oleObj>
                </mc:Choice>
                <mc:Fallback>
                  <p:oleObj name="Image" r:id="rId6" imgW="133920" imgH="462944" progId="Photoshop.Image.9">
                    <p:embed/>
                    <p:pic>
                      <p:nvPicPr>
                        <p:cNvPr id="20493"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3" y="939"/>
                          <a:ext cx="401" cy="1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52" name="Picture 51" descr="iyte logo.jpeg"/>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20532" name="TextBox 20531"/>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269092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B32A56E0-2C91-4678-BCE2-779537CA5655}" type="slidenum">
              <a:rPr lang="en-US" altLang="tr-TR" sz="1200" b="0"/>
              <a:pPr>
                <a:spcBef>
                  <a:spcPct val="0"/>
                </a:spcBef>
                <a:buFontTx/>
                <a:buNone/>
              </a:pPr>
              <a:t>18</a:t>
            </a:fld>
            <a:endParaRPr lang="en-US" altLang="tr-TR" sz="1200" b="0"/>
          </a:p>
        </p:txBody>
      </p:sp>
      <p:sp>
        <p:nvSpPr>
          <p:cNvPr id="18435" name="Rectangle 2"/>
          <p:cNvSpPr>
            <a:spLocks noGrp="1" noChangeArrowheads="1"/>
          </p:cNvSpPr>
          <p:nvPr>
            <p:ph type="title"/>
          </p:nvPr>
        </p:nvSpPr>
        <p:spPr/>
        <p:txBody>
          <a:bodyPr/>
          <a:lstStyle/>
          <a:p>
            <a:r>
              <a:rPr lang="en-US" altLang="tr-TR">
                <a:ea typeface="ＭＳ Ｐゴシック" panose="020B0600070205080204" pitchFamily="34" charset="-128"/>
              </a:rPr>
              <a:t>MAGNETIC</a:t>
            </a:r>
          </a:p>
        </p:txBody>
      </p:sp>
      <p:sp>
        <p:nvSpPr>
          <p:cNvPr id="18436" name="Rectangle 5"/>
          <p:cNvSpPr>
            <a:spLocks noChangeArrowheads="1"/>
          </p:cNvSpPr>
          <p:nvPr/>
        </p:nvSpPr>
        <p:spPr bwMode="auto">
          <a:xfrm>
            <a:off x="4648200" y="977900"/>
            <a:ext cx="40386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None/>
            </a:pPr>
            <a:r>
              <a:rPr lang="en-US" altLang="tr-TR" b="0">
                <a:solidFill>
                  <a:srgbClr val="000000"/>
                </a:solidFill>
                <a:latin typeface="Arial"/>
                <a:ea typeface="ＭＳ Ｐゴシック"/>
                <a:cs typeface="Arial"/>
              </a:rPr>
              <a:t>•</a:t>
            </a:r>
            <a:r>
              <a:rPr lang="en-US" b="0">
                <a:solidFill>
                  <a:srgbClr val="000000"/>
                </a:solidFill>
                <a:latin typeface="Arial"/>
                <a:ea typeface="ＭＳ Ｐゴシック"/>
                <a:cs typeface="Arial"/>
              </a:rPr>
              <a:t> </a:t>
            </a:r>
            <a:r>
              <a:rPr lang="en-US" sz="2400" b="0">
                <a:solidFill>
                  <a:schemeClr val="accent2"/>
                </a:solidFill>
                <a:latin typeface="Arial"/>
                <a:ea typeface="ＭＳ Ｐゴシック"/>
                <a:cs typeface="Arial"/>
              </a:rPr>
              <a:t>Magnetic Permeability</a:t>
            </a:r>
          </a:p>
          <a:p>
            <a:pPr>
              <a:spcBef>
                <a:spcPct val="0"/>
              </a:spcBef>
              <a:buFontTx/>
              <a:buNone/>
            </a:pPr>
            <a:r>
              <a:rPr lang="en-US" sz="2400" b="0">
                <a:solidFill>
                  <a:srgbClr val="000000"/>
                </a:solidFill>
                <a:latin typeface="Arial"/>
                <a:cs typeface="Arial"/>
              </a:rPr>
              <a:t>vs. Composition:</a:t>
            </a:r>
          </a:p>
          <a:p>
            <a:pPr>
              <a:spcBef>
                <a:spcPct val="0"/>
              </a:spcBef>
              <a:buFontTx/>
              <a:buNone/>
            </a:pPr>
            <a:r>
              <a:rPr lang="en-US" sz="2200" b="0">
                <a:latin typeface="Arial"/>
                <a:cs typeface="Arial"/>
              </a:rPr>
              <a:t>-- Adding 3 atomic % Si</a:t>
            </a:r>
          </a:p>
          <a:p>
            <a:pPr>
              <a:spcBef>
                <a:spcPct val="0"/>
              </a:spcBef>
              <a:buFontTx/>
              <a:buNone/>
            </a:pPr>
            <a:r>
              <a:rPr lang="en-US" sz="2200" b="0">
                <a:latin typeface="Arial"/>
                <a:cs typeface="Arial"/>
              </a:rPr>
              <a:t>makes Fe a better</a:t>
            </a:r>
          </a:p>
          <a:p>
            <a:pPr>
              <a:spcBef>
                <a:spcPct val="0"/>
              </a:spcBef>
              <a:buNone/>
            </a:pPr>
            <a:r>
              <a:rPr lang="en-US" sz="2200" b="0">
                <a:latin typeface="Arial"/>
                <a:cs typeface="Arial"/>
              </a:rPr>
              <a:t>recording medium!</a:t>
            </a:r>
          </a:p>
          <a:p>
            <a:pPr>
              <a:spcBef>
                <a:spcPct val="0"/>
              </a:spcBef>
              <a:buFontTx/>
              <a:buNone/>
            </a:pPr>
            <a:endParaRPr lang="en-US" altLang="tr-TR" b="0">
              <a:cs typeface="Arial"/>
            </a:endParaRPr>
          </a:p>
        </p:txBody>
      </p:sp>
      <p:sp>
        <p:nvSpPr>
          <p:cNvPr id="18437" name="Rectangle 6"/>
          <p:cNvSpPr>
            <a:spLocks noChangeArrowheads="1"/>
          </p:cNvSpPr>
          <p:nvPr/>
        </p:nvSpPr>
        <p:spPr bwMode="auto">
          <a:xfrm>
            <a:off x="4953000" y="5181600"/>
            <a:ext cx="2871788"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457200" indent="-457200">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C.R.  Barrett, W.D.  Nix, and</a:t>
            </a:r>
          </a:p>
          <a:p>
            <a:pPr>
              <a:spcBef>
                <a:spcPct val="0"/>
              </a:spcBef>
              <a:buFontTx/>
              <a:buNone/>
            </a:pPr>
            <a:r>
              <a:rPr lang="en-US" altLang="tr-TR" sz="1200" b="0">
                <a:solidFill>
                  <a:srgbClr val="000000"/>
                </a:solidFill>
              </a:rPr>
              <a:t>A.S. Tetelman, </a:t>
            </a:r>
            <a:r>
              <a:rPr lang="en-US" altLang="tr-TR" sz="1200" b="0" i="1">
                <a:solidFill>
                  <a:srgbClr val="000000"/>
                </a:solidFill>
              </a:rPr>
              <a:t>The Principles of</a:t>
            </a:r>
          </a:p>
          <a:p>
            <a:pPr>
              <a:spcBef>
                <a:spcPct val="0"/>
              </a:spcBef>
              <a:buFontTx/>
              <a:buNone/>
            </a:pPr>
            <a:r>
              <a:rPr lang="en-US" altLang="tr-TR" sz="1200" b="0" i="1">
                <a:solidFill>
                  <a:srgbClr val="000000"/>
                </a:solidFill>
              </a:rPr>
              <a:t>Engineering Materials</a:t>
            </a:r>
            <a:r>
              <a:rPr lang="en-US" altLang="tr-TR" sz="1200" b="0">
                <a:solidFill>
                  <a:srgbClr val="000000"/>
                </a:solidFill>
              </a:rPr>
              <a:t>,  Fig. 1-7(a), p. 9,</a:t>
            </a:r>
          </a:p>
          <a:p>
            <a:pPr>
              <a:spcBef>
                <a:spcPct val="0"/>
              </a:spcBef>
              <a:buFont typeface="Times" panose="02020603050405020304" pitchFamily="18" charset="0"/>
              <a:buAutoNum type="arabicPeriod" startAt="1973"/>
            </a:pPr>
            <a:r>
              <a:rPr lang="en-US" altLang="tr-TR" sz="1200" b="0">
                <a:solidFill>
                  <a:srgbClr val="000000"/>
                </a:solidFill>
              </a:rPr>
              <a:t>Electronically reproduced</a:t>
            </a:r>
          </a:p>
          <a:p>
            <a:pPr>
              <a:spcBef>
                <a:spcPct val="0"/>
              </a:spcBef>
              <a:buFont typeface="Times" panose="02020603050405020304" pitchFamily="18" charset="0"/>
              <a:buNone/>
            </a:pPr>
            <a:r>
              <a:rPr lang="en-US" altLang="tr-TR" sz="1200" b="0">
                <a:solidFill>
                  <a:srgbClr val="000000"/>
                </a:solidFill>
              </a:rPr>
              <a:t>by permission of Pearson Education, Inc.,</a:t>
            </a:r>
          </a:p>
          <a:p>
            <a:pPr>
              <a:spcBef>
                <a:spcPct val="0"/>
              </a:spcBef>
              <a:buFont typeface="Times" panose="02020603050405020304" pitchFamily="18" charset="0"/>
              <a:buNone/>
            </a:pPr>
            <a:r>
              <a:rPr lang="en-US" altLang="tr-TR" sz="1200" b="0">
                <a:solidFill>
                  <a:srgbClr val="000000"/>
                </a:solidFill>
              </a:rPr>
              <a:t>Upper Saddle River, New Jersey.</a:t>
            </a:r>
          </a:p>
        </p:txBody>
      </p:sp>
      <p:sp>
        <p:nvSpPr>
          <p:cNvPr id="18438" name="Rectangle 7"/>
          <p:cNvSpPr>
            <a:spLocks noChangeArrowheads="1"/>
          </p:cNvSpPr>
          <p:nvPr/>
        </p:nvSpPr>
        <p:spPr bwMode="auto">
          <a:xfrm>
            <a:off x="914400" y="5399088"/>
            <a:ext cx="3276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Fig. 20.23, </a:t>
            </a:r>
            <a:r>
              <a:rPr lang="en-US" altLang="tr-TR" sz="1200" b="0" i="1">
                <a:solidFill>
                  <a:srgbClr val="000000"/>
                </a:solidFill>
              </a:rPr>
              <a:t>Callister &amp; Rethwisch 8e.</a:t>
            </a:r>
          </a:p>
        </p:txBody>
      </p:sp>
      <p:sp>
        <p:nvSpPr>
          <p:cNvPr id="18439" name="Rectangle 8"/>
          <p:cNvSpPr>
            <a:spLocks noChangeArrowheads="1"/>
          </p:cNvSpPr>
          <p:nvPr/>
        </p:nvSpPr>
        <p:spPr bwMode="auto">
          <a:xfrm>
            <a:off x="717550" y="977900"/>
            <a:ext cx="2919413"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a:t>
            </a:r>
            <a:r>
              <a:rPr lang="en-US" altLang="tr-TR" sz="2400" b="0">
                <a:solidFill>
                  <a:schemeClr val="accent2"/>
                </a:solidFill>
              </a:rPr>
              <a:t>Magnetic Storage</a:t>
            </a:r>
            <a:r>
              <a:rPr lang="en-US" altLang="tr-TR" sz="2400" b="0">
                <a:solidFill>
                  <a:srgbClr val="000000"/>
                </a:solidFill>
              </a:rPr>
              <a:t>:</a:t>
            </a:r>
          </a:p>
          <a:p>
            <a:pPr>
              <a:spcBef>
                <a:spcPct val="0"/>
              </a:spcBef>
              <a:buFontTx/>
              <a:buNone/>
            </a:pPr>
            <a:r>
              <a:rPr lang="en-US" altLang="tr-TR" sz="2200" b="0"/>
              <a:t>    -- Recording medium</a:t>
            </a:r>
          </a:p>
          <a:p>
            <a:pPr>
              <a:spcBef>
                <a:spcPct val="0"/>
              </a:spcBef>
              <a:buFontTx/>
              <a:buNone/>
            </a:pPr>
            <a:r>
              <a:rPr lang="en-US" altLang="tr-TR" sz="2200" b="0"/>
              <a:t>       is magnetized by</a:t>
            </a:r>
          </a:p>
          <a:p>
            <a:pPr>
              <a:spcBef>
                <a:spcPct val="0"/>
              </a:spcBef>
              <a:buFontTx/>
              <a:buNone/>
            </a:pPr>
            <a:r>
              <a:rPr lang="en-US" altLang="tr-TR" sz="2200" b="0"/>
              <a:t>       recording head.</a:t>
            </a:r>
          </a:p>
        </p:txBody>
      </p:sp>
      <p:grpSp>
        <p:nvGrpSpPr>
          <p:cNvPr id="18440" name="Group 22"/>
          <p:cNvGrpSpPr>
            <a:grpSpLocks/>
          </p:cNvGrpSpPr>
          <p:nvPr/>
        </p:nvGrpSpPr>
        <p:grpSpPr bwMode="auto">
          <a:xfrm>
            <a:off x="4911725" y="3070225"/>
            <a:ext cx="2794000" cy="2063750"/>
            <a:chOff x="3094" y="1934"/>
            <a:chExt cx="1760" cy="1300"/>
          </a:xfrm>
        </p:grpSpPr>
        <p:sp>
          <p:nvSpPr>
            <p:cNvPr id="18442" name="Rectangle 10"/>
            <p:cNvSpPr>
              <a:spLocks noChangeArrowheads="1"/>
            </p:cNvSpPr>
            <p:nvPr/>
          </p:nvSpPr>
          <p:spPr bwMode="auto">
            <a:xfrm>
              <a:off x="3424" y="3042"/>
              <a:ext cx="10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Magnetic Field</a:t>
              </a:r>
              <a:endParaRPr lang="en-US" altLang="tr-TR" sz="2000" b="0"/>
            </a:p>
          </p:txBody>
        </p:sp>
        <p:sp>
          <p:nvSpPr>
            <p:cNvPr id="18443" name="Rectangle 11"/>
            <p:cNvSpPr>
              <a:spLocks noChangeArrowheads="1"/>
            </p:cNvSpPr>
            <p:nvPr/>
          </p:nvSpPr>
          <p:spPr bwMode="auto">
            <a:xfrm rot="-5400000">
              <a:off x="2692" y="2382"/>
              <a:ext cx="9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Magnetization</a:t>
              </a:r>
              <a:endParaRPr lang="en-US" altLang="tr-TR" sz="2000" b="0"/>
            </a:p>
          </p:txBody>
        </p:sp>
        <p:sp>
          <p:nvSpPr>
            <p:cNvPr id="18444" name="Rectangle 12"/>
            <p:cNvSpPr>
              <a:spLocks noChangeArrowheads="1"/>
            </p:cNvSpPr>
            <p:nvPr/>
          </p:nvSpPr>
          <p:spPr bwMode="auto">
            <a:xfrm>
              <a:off x="3364" y="1934"/>
              <a:ext cx="1152" cy="108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8445" name="Freeform 13"/>
            <p:cNvSpPr>
              <a:spLocks/>
            </p:cNvSpPr>
            <p:nvPr/>
          </p:nvSpPr>
          <p:spPr bwMode="auto">
            <a:xfrm>
              <a:off x="3368" y="2370"/>
              <a:ext cx="904" cy="640"/>
            </a:xfrm>
            <a:custGeom>
              <a:avLst/>
              <a:gdLst>
                <a:gd name="T0" fmla="*/ 0 w 904"/>
                <a:gd name="T1" fmla="*/ 640 h 640"/>
                <a:gd name="T2" fmla="*/ 96 w 904"/>
                <a:gd name="T3" fmla="*/ 552 h 640"/>
                <a:gd name="T4" fmla="*/ 256 w 904"/>
                <a:gd name="T5" fmla="*/ 400 h 640"/>
                <a:gd name="T6" fmla="*/ 432 w 904"/>
                <a:gd name="T7" fmla="*/ 248 h 640"/>
                <a:gd name="T8" fmla="*/ 616 w 904"/>
                <a:gd name="T9" fmla="*/ 128 h 640"/>
                <a:gd name="T10" fmla="*/ 808 w 904"/>
                <a:gd name="T11" fmla="*/ 32 h 640"/>
                <a:gd name="T12" fmla="*/ 904 w 904"/>
                <a:gd name="T13" fmla="*/ 0 h 640"/>
                <a:gd name="T14" fmla="*/ 0 60000 65536"/>
                <a:gd name="T15" fmla="*/ 0 60000 65536"/>
                <a:gd name="T16" fmla="*/ 0 60000 65536"/>
                <a:gd name="T17" fmla="*/ 0 60000 65536"/>
                <a:gd name="T18" fmla="*/ 0 60000 65536"/>
                <a:gd name="T19" fmla="*/ 0 60000 65536"/>
                <a:gd name="T20" fmla="*/ 0 60000 65536"/>
                <a:gd name="T21" fmla="*/ 0 w 904"/>
                <a:gd name="T22" fmla="*/ 0 h 640"/>
                <a:gd name="T23" fmla="*/ 904 w 904"/>
                <a:gd name="T24" fmla="*/ 640 h 6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4" h="640">
                  <a:moveTo>
                    <a:pt x="0" y="640"/>
                  </a:moveTo>
                  <a:lnTo>
                    <a:pt x="96" y="552"/>
                  </a:lnTo>
                  <a:lnTo>
                    <a:pt x="256" y="400"/>
                  </a:lnTo>
                  <a:lnTo>
                    <a:pt x="432" y="248"/>
                  </a:lnTo>
                  <a:lnTo>
                    <a:pt x="616" y="128"/>
                  </a:lnTo>
                  <a:lnTo>
                    <a:pt x="808" y="32"/>
                  </a:lnTo>
                  <a:lnTo>
                    <a:pt x="904" y="0"/>
                  </a:lnTo>
                </a:path>
              </a:pathLst>
            </a:custGeom>
            <a:noFill/>
            <a:ln w="38100">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tr-TR"/>
            </a:p>
          </p:txBody>
        </p:sp>
        <p:sp>
          <p:nvSpPr>
            <p:cNvPr id="18446" name="Rectangle 16"/>
            <p:cNvSpPr>
              <a:spLocks noChangeArrowheads="1"/>
            </p:cNvSpPr>
            <p:nvPr/>
          </p:nvSpPr>
          <p:spPr bwMode="auto">
            <a:xfrm>
              <a:off x="4200" y="1978"/>
              <a:ext cx="65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Fe+3%Si</a:t>
              </a:r>
              <a:endParaRPr lang="en-US" altLang="tr-TR" sz="2400" b="0"/>
            </a:p>
          </p:txBody>
        </p:sp>
        <p:sp>
          <p:nvSpPr>
            <p:cNvPr id="18447" name="Rectangle 17"/>
            <p:cNvSpPr>
              <a:spLocks noChangeArrowheads="1"/>
            </p:cNvSpPr>
            <p:nvPr/>
          </p:nvSpPr>
          <p:spPr bwMode="auto">
            <a:xfrm>
              <a:off x="4280" y="2306"/>
              <a:ext cx="1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993300"/>
                  </a:solidFill>
                </a:rPr>
                <a:t>Fe</a:t>
              </a:r>
              <a:endParaRPr lang="en-US" altLang="tr-TR" sz="2400" b="0"/>
            </a:p>
          </p:txBody>
        </p:sp>
        <p:sp>
          <p:nvSpPr>
            <p:cNvPr id="18448" name="Freeform 21"/>
            <p:cNvSpPr>
              <a:spLocks/>
            </p:cNvSpPr>
            <p:nvPr/>
          </p:nvSpPr>
          <p:spPr bwMode="auto">
            <a:xfrm>
              <a:off x="3375" y="2044"/>
              <a:ext cx="763" cy="960"/>
            </a:xfrm>
            <a:custGeom>
              <a:avLst/>
              <a:gdLst>
                <a:gd name="T0" fmla="*/ 0 w 763"/>
                <a:gd name="T1" fmla="*/ 960 h 960"/>
                <a:gd name="T2" fmla="*/ 109 w 763"/>
                <a:gd name="T3" fmla="*/ 800 h 960"/>
                <a:gd name="T4" fmla="*/ 269 w 763"/>
                <a:gd name="T5" fmla="*/ 443 h 960"/>
                <a:gd name="T6" fmla="*/ 414 w 763"/>
                <a:gd name="T7" fmla="*/ 189 h 960"/>
                <a:gd name="T8" fmla="*/ 763 w 763"/>
                <a:gd name="T9" fmla="*/ 0 h 960"/>
                <a:gd name="T10" fmla="*/ 0 60000 65536"/>
                <a:gd name="T11" fmla="*/ 0 60000 65536"/>
                <a:gd name="T12" fmla="*/ 0 60000 65536"/>
                <a:gd name="T13" fmla="*/ 0 60000 65536"/>
                <a:gd name="T14" fmla="*/ 0 60000 65536"/>
                <a:gd name="T15" fmla="*/ 0 w 763"/>
                <a:gd name="T16" fmla="*/ 0 h 960"/>
                <a:gd name="T17" fmla="*/ 763 w 763"/>
                <a:gd name="T18" fmla="*/ 960 h 960"/>
              </a:gdLst>
              <a:ahLst/>
              <a:cxnLst>
                <a:cxn ang="T10">
                  <a:pos x="T0" y="T1"/>
                </a:cxn>
                <a:cxn ang="T11">
                  <a:pos x="T2" y="T3"/>
                </a:cxn>
                <a:cxn ang="T12">
                  <a:pos x="T4" y="T5"/>
                </a:cxn>
                <a:cxn ang="T13">
                  <a:pos x="T6" y="T7"/>
                </a:cxn>
                <a:cxn ang="T14">
                  <a:pos x="T8" y="T9"/>
                </a:cxn>
              </a:cxnLst>
              <a:rect l="T15" t="T16" r="T17" b="T18"/>
              <a:pathLst>
                <a:path w="763" h="960">
                  <a:moveTo>
                    <a:pt x="0" y="960"/>
                  </a:moveTo>
                  <a:cubicBezTo>
                    <a:pt x="32" y="923"/>
                    <a:pt x="64" y="886"/>
                    <a:pt x="109" y="800"/>
                  </a:cubicBezTo>
                  <a:cubicBezTo>
                    <a:pt x="154" y="714"/>
                    <a:pt x="218" y="545"/>
                    <a:pt x="269" y="443"/>
                  </a:cubicBezTo>
                  <a:cubicBezTo>
                    <a:pt x="320" y="341"/>
                    <a:pt x="332" y="263"/>
                    <a:pt x="414" y="189"/>
                  </a:cubicBezTo>
                  <a:cubicBezTo>
                    <a:pt x="496" y="115"/>
                    <a:pt x="629" y="57"/>
                    <a:pt x="763" y="0"/>
                  </a:cubicBezTo>
                </a:path>
              </a:pathLst>
            </a:custGeom>
            <a:noFill/>
            <a:ln w="38100">
              <a:solidFill>
                <a:srgbClr val="55555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tr-TR"/>
            </a:p>
          </p:txBody>
        </p:sp>
      </p:grpSp>
      <p:pic>
        <p:nvPicPr>
          <p:cNvPr id="18441" name="Picture 17" descr="Fig_20_23.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667" y="2789873"/>
            <a:ext cx="4392613" cy="261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iyte logo.jpe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8449" name="TextBox 18448"/>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969121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FA97188D-85D4-4B09-B02E-9E81C87F01C9}" type="slidenum">
              <a:rPr lang="en-US" altLang="tr-TR" sz="1200" b="0"/>
              <a:pPr>
                <a:spcBef>
                  <a:spcPct val="0"/>
                </a:spcBef>
                <a:buFontTx/>
                <a:buNone/>
              </a:pPr>
              <a:t>19</a:t>
            </a:fld>
            <a:endParaRPr lang="en-US" altLang="tr-TR" sz="1200" b="0"/>
          </a:p>
        </p:txBody>
      </p:sp>
      <p:sp>
        <p:nvSpPr>
          <p:cNvPr id="19459" name="Rectangle 2"/>
          <p:cNvSpPr>
            <a:spLocks noChangeArrowheads="1"/>
          </p:cNvSpPr>
          <p:nvPr/>
        </p:nvSpPr>
        <p:spPr bwMode="auto">
          <a:xfrm>
            <a:off x="385763" y="1066800"/>
            <a:ext cx="7036029"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None/>
            </a:pPr>
            <a:r>
              <a:rPr lang="en-US" altLang="tr-TR" sz="2400" b="0">
                <a:latin typeface="Arial"/>
                <a:ea typeface="ＭＳ Ｐゴシック"/>
                <a:cs typeface="Arial"/>
              </a:rPr>
              <a:t>•  </a:t>
            </a:r>
            <a:r>
              <a:rPr lang="en-US" altLang="tr-TR" sz="2400" b="0">
                <a:solidFill>
                  <a:schemeClr val="accent2"/>
                </a:solidFill>
                <a:latin typeface="Arial"/>
                <a:ea typeface="ＭＳ Ｐゴシック"/>
                <a:cs typeface="Arial"/>
              </a:rPr>
              <a:t>Transmittance</a:t>
            </a:r>
            <a:r>
              <a:rPr lang="en-US" altLang="tr-TR" sz="2400" b="0">
                <a:latin typeface="Arial"/>
                <a:ea typeface="ＭＳ Ｐゴシック"/>
                <a:cs typeface="Arial"/>
              </a:rPr>
              <a:t>:</a:t>
            </a:r>
            <a:r>
              <a:rPr lang="en-US" altLang="tr-TR" sz="2400" b="0">
                <a:solidFill>
                  <a:srgbClr val="4D4D4D"/>
                </a:solidFill>
                <a:latin typeface="Arial"/>
                <a:ea typeface="ＭＳ Ｐゴシック"/>
                <a:cs typeface="Arial"/>
              </a:rPr>
              <a:t> </a:t>
            </a:r>
            <a:endParaRPr lang="en-US">
              <a:cs typeface="Arial" panose="020B0604020202020204" pitchFamily="34" charset="0"/>
            </a:endParaRPr>
          </a:p>
          <a:p>
            <a:pPr>
              <a:spcBef>
                <a:spcPct val="0"/>
              </a:spcBef>
              <a:buNone/>
            </a:pPr>
            <a:r>
              <a:rPr lang="en-US" altLang="tr-TR" sz="2200" b="0">
                <a:latin typeface="Arial"/>
                <a:ea typeface="ＭＳ Ｐゴシック"/>
                <a:cs typeface="Arial"/>
              </a:rPr>
              <a:t>    -- Aluminum oxide may be transparent, translucent, or</a:t>
            </a:r>
            <a:endParaRPr lang="en-US"/>
          </a:p>
          <a:p>
            <a:pPr>
              <a:spcBef>
                <a:spcPct val="0"/>
              </a:spcBef>
              <a:buNone/>
            </a:pPr>
            <a:r>
              <a:rPr lang="en-US" altLang="tr-TR" sz="2200" b="0">
                <a:latin typeface="Arial"/>
                <a:ea typeface="ＭＳ Ｐゴシック"/>
                <a:cs typeface="Arial"/>
              </a:rPr>
              <a:t>       opaque depending on the material structure. </a:t>
            </a:r>
            <a:endParaRPr lang="en-US"/>
          </a:p>
        </p:txBody>
      </p:sp>
      <p:sp>
        <p:nvSpPr>
          <p:cNvPr id="19460" name="Rectangle 8"/>
          <p:cNvSpPr>
            <a:spLocks noChangeArrowheads="1"/>
          </p:cNvSpPr>
          <p:nvPr/>
        </p:nvSpPr>
        <p:spPr bwMode="auto">
          <a:xfrm>
            <a:off x="6934200" y="5030788"/>
            <a:ext cx="18780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1.2,</a:t>
            </a:r>
          </a:p>
          <a:p>
            <a:pPr>
              <a:spcBef>
                <a:spcPct val="0"/>
              </a:spcBef>
              <a:buFontTx/>
              <a:buNone/>
            </a:pPr>
            <a:r>
              <a:rPr lang="en-US" altLang="tr-TR" sz="1200" b="0" i="1">
                <a:solidFill>
                  <a:srgbClr val="000000"/>
                </a:solidFill>
              </a:rPr>
              <a:t>Callister &amp; Rethwisch 8e.</a:t>
            </a:r>
          </a:p>
          <a:p>
            <a:pPr>
              <a:spcBef>
                <a:spcPct val="0"/>
              </a:spcBef>
              <a:buFontTx/>
              <a:buNone/>
            </a:pPr>
            <a:r>
              <a:rPr lang="en-US" altLang="tr-TR" sz="1200" b="0">
                <a:solidFill>
                  <a:srgbClr val="000000"/>
                </a:solidFill>
              </a:rPr>
              <a:t>(Specimen preparation,</a:t>
            </a:r>
          </a:p>
          <a:p>
            <a:pPr>
              <a:spcBef>
                <a:spcPct val="0"/>
              </a:spcBef>
              <a:buFontTx/>
              <a:buNone/>
            </a:pPr>
            <a:r>
              <a:rPr lang="en-US" altLang="tr-TR" sz="1200" b="0">
                <a:solidFill>
                  <a:srgbClr val="000000"/>
                </a:solidFill>
              </a:rPr>
              <a:t>P.A. Lessing; photo by S. Tanner.)</a:t>
            </a:r>
          </a:p>
        </p:txBody>
      </p:sp>
      <p:grpSp>
        <p:nvGrpSpPr>
          <p:cNvPr id="19461" name="Group 16"/>
          <p:cNvGrpSpPr>
            <a:grpSpLocks/>
          </p:cNvGrpSpPr>
          <p:nvPr/>
        </p:nvGrpSpPr>
        <p:grpSpPr bwMode="auto">
          <a:xfrm>
            <a:off x="533400" y="2362200"/>
            <a:ext cx="6496050" cy="3822700"/>
            <a:chOff x="336" y="1488"/>
            <a:chExt cx="4092" cy="2408"/>
          </a:xfrm>
        </p:grpSpPr>
        <p:pic>
          <p:nvPicPr>
            <p:cNvPr id="19463" name="Picture 15" descr="Photo of optical flats-n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8" y="1907"/>
              <a:ext cx="3178" cy="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Line 4"/>
            <p:cNvSpPr>
              <a:spLocks noChangeShapeType="1"/>
            </p:cNvSpPr>
            <p:nvPr/>
          </p:nvSpPr>
          <p:spPr bwMode="auto">
            <a:xfrm>
              <a:off x="991" y="1872"/>
              <a:ext cx="656" cy="102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9465" name="Line 5"/>
            <p:cNvSpPr>
              <a:spLocks noChangeShapeType="1"/>
            </p:cNvSpPr>
            <p:nvPr/>
          </p:nvSpPr>
          <p:spPr bwMode="auto">
            <a:xfrm>
              <a:off x="2471" y="1904"/>
              <a:ext cx="64" cy="97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9466" name="Line 6"/>
            <p:cNvSpPr>
              <a:spLocks noChangeShapeType="1"/>
            </p:cNvSpPr>
            <p:nvPr/>
          </p:nvSpPr>
          <p:spPr bwMode="auto">
            <a:xfrm flipH="1">
              <a:off x="3543" y="1872"/>
              <a:ext cx="328" cy="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9467" name="Rectangle 9"/>
            <p:cNvSpPr>
              <a:spLocks noChangeArrowheads="1"/>
            </p:cNvSpPr>
            <p:nvPr/>
          </p:nvSpPr>
          <p:spPr bwMode="auto">
            <a:xfrm>
              <a:off x="336" y="1680"/>
              <a:ext cx="9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chemeClr val="tx2"/>
                  </a:solidFill>
                </a:rPr>
                <a:t>single crystal</a:t>
              </a:r>
            </a:p>
          </p:txBody>
        </p:sp>
        <p:sp>
          <p:nvSpPr>
            <p:cNvPr id="19468" name="Rectangle 10"/>
            <p:cNvSpPr>
              <a:spLocks noChangeArrowheads="1"/>
            </p:cNvSpPr>
            <p:nvPr/>
          </p:nvSpPr>
          <p:spPr bwMode="auto">
            <a:xfrm>
              <a:off x="2048" y="1488"/>
              <a:ext cx="84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r>
                <a:rPr lang="en-US" altLang="tr-TR" sz="2000" b="0">
                  <a:solidFill>
                    <a:schemeClr val="tx2"/>
                  </a:solidFill>
                </a:rPr>
                <a:t>polycrystal:</a:t>
              </a:r>
            </a:p>
            <a:p>
              <a:pPr algn="ctr">
                <a:spcBef>
                  <a:spcPct val="0"/>
                </a:spcBef>
                <a:buFontTx/>
                <a:buNone/>
              </a:pPr>
              <a:r>
                <a:rPr lang="en-US" altLang="tr-TR" sz="2000" b="0">
                  <a:solidFill>
                    <a:schemeClr val="tx2"/>
                  </a:solidFill>
                </a:rPr>
                <a:t>low porosity</a:t>
              </a:r>
            </a:p>
          </p:txBody>
        </p:sp>
        <p:sp>
          <p:nvSpPr>
            <p:cNvPr id="19469" name="Rectangle 11"/>
            <p:cNvSpPr>
              <a:spLocks noChangeArrowheads="1"/>
            </p:cNvSpPr>
            <p:nvPr/>
          </p:nvSpPr>
          <p:spPr bwMode="auto">
            <a:xfrm>
              <a:off x="3521" y="1488"/>
              <a:ext cx="90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r>
                <a:rPr lang="en-US" altLang="tr-TR" sz="2000" b="0">
                  <a:solidFill>
                    <a:schemeClr val="tx2"/>
                  </a:solidFill>
                </a:rPr>
                <a:t>polycrystal:</a:t>
              </a:r>
            </a:p>
            <a:p>
              <a:pPr algn="ctr">
                <a:spcBef>
                  <a:spcPct val="0"/>
                </a:spcBef>
                <a:buFontTx/>
                <a:buNone/>
              </a:pPr>
              <a:r>
                <a:rPr lang="en-US" altLang="tr-TR" sz="2000" b="0">
                  <a:solidFill>
                    <a:schemeClr val="tx2"/>
                  </a:solidFill>
                </a:rPr>
                <a:t>high porosity</a:t>
              </a:r>
            </a:p>
          </p:txBody>
        </p:sp>
      </p:grpSp>
      <p:sp>
        <p:nvSpPr>
          <p:cNvPr id="19462" name="Rectangle 12"/>
          <p:cNvSpPr>
            <a:spLocks noGrp="1" noChangeArrowheads="1"/>
          </p:cNvSpPr>
          <p:nvPr>
            <p:ph type="title" idx="4294967295"/>
          </p:nvPr>
        </p:nvSpPr>
        <p:spPr/>
        <p:txBody>
          <a:bodyPr/>
          <a:lstStyle/>
          <a:p>
            <a:r>
              <a:rPr lang="en-US" altLang="tr-TR">
                <a:ea typeface="ＭＳ Ｐゴシック" panose="020B0600070205080204" pitchFamily="34" charset="-128"/>
              </a:rPr>
              <a:t>OPTICAL</a:t>
            </a:r>
          </a:p>
        </p:txBody>
      </p:sp>
      <p:pic>
        <p:nvPicPr>
          <p:cNvPr id="14" name="Picture 13" descr="iyte logo.jpe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9470" name="TextBox 19469"/>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70980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813E652B-A22A-4A28-A7E0-77B319BD9259}" type="slidenum">
              <a:rPr lang="en-US" altLang="tr-TR" sz="1200" b="0"/>
              <a:pPr>
                <a:spcBef>
                  <a:spcPct val="0"/>
                </a:spcBef>
                <a:buFontTx/>
                <a:buNone/>
              </a:pPr>
              <a:t>20</a:t>
            </a:fld>
            <a:endParaRPr lang="en-US" altLang="tr-TR" sz="1200" b="0"/>
          </a:p>
        </p:txBody>
      </p:sp>
      <p:sp>
        <p:nvSpPr>
          <p:cNvPr id="12291" name="Rectangle 6"/>
          <p:cNvSpPr>
            <a:spLocks noChangeArrowheads="1"/>
          </p:cNvSpPr>
          <p:nvPr/>
        </p:nvSpPr>
        <p:spPr bwMode="auto">
          <a:xfrm>
            <a:off x="798513" y="5737225"/>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latin typeface="Times" panose="02020603050405020304" pitchFamily="18" charset="0"/>
            </a:endParaRPr>
          </a:p>
        </p:txBody>
      </p:sp>
      <p:sp>
        <p:nvSpPr>
          <p:cNvPr id="12292" name="Rectangle 11"/>
          <p:cNvSpPr>
            <a:spLocks noChangeArrowheads="1"/>
          </p:cNvSpPr>
          <p:nvPr/>
        </p:nvSpPr>
        <p:spPr bwMode="auto">
          <a:xfrm>
            <a:off x="1349375" y="1341438"/>
            <a:ext cx="41767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ex:  hardness vs structure of steel</a:t>
            </a:r>
            <a:endParaRPr lang="en-US" altLang="tr-TR" sz="2200" b="0">
              <a:latin typeface="Times" panose="02020603050405020304" pitchFamily="18" charset="0"/>
            </a:endParaRPr>
          </a:p>
        </p:txBody>
      </p:sp>
      <p:sp>
        <p:nvSpPr>
          <p:cNvPr id="12293" name="Rectangle 13"/>
          <p:cNvSpPr>
            <a:spLocks noChangeArrowheads="1"/>
          </p:cNvSpPr>
          <p:nvPr/>
        </p:nvSpPr>
        <p:spPr bwMode="auto">
          <a:xfrm>
            <a:off x="569913" y="987425"/>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latin typeface="Times" panose="02020603050405020304" pitchFamily="18" charset="0"/>
            </a:endParaRPr>
          </a:p>
        </p:txBody>
      </p:sp>
      <p:sp>
        <p:nvSpPr>
          <p:cNvPr id="12294" name="Rectangle 15"/>
          <p:cNvSpPr>
            <a:spLocks noChangeArrowheads="1"/>
          </p:cNvSpPr>
          <p:nvPr/>
        </p:nvSpPr>
        <p:spPr bwMode="auto">
          <a:xfrm>
            <a:off x="914400" y="1020763"/>
            <a:ext cx="46307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  </a:t>
            </a:r>
            <a:r>
              <a:rPr lang="en-US" altLang="tr-TR" sz="2400" b="0">
                <a:solidFill>
                  <a:schemeClr val="accent2"/>
                </a:solidFill>
              </a:rPr>
              <a:t>Properties </a:t>
            </a:r>
            <a:r>
              <a:rPr lang="en-US" altLang="tr-TR" sz="2400" b="0">
                <a:solidFill>
                  <a:srgbClr val="000000"/>
                </a:solidFill>
              </a:rPr>
              <a:t>depend on</a:t>
            </a:r>
            <a:r>
              <a:rPr lang="en-US" altLang="tr-TR" sz="2400" b="0">
                <a:solidFill>
                  <a:schemeClr val="accent2"/>
                </a:solidFill>
              </a:rPr>
              <a:t> structure</a:t>
            </a:r>
            <a:r>
              <a:rPr lang="en-US" altLang="tr-TR" sz="2400" b="0">
                <a:solidFill>
                  <a:srgbClr val="000000"/>
                </a:solidFill>
              </a:rPr>
              <a:t> </a:t>
            </a:r>
            <a:endParaRPr lang="en-US" altLang="tr-TR" sz="2400" b="0">
              <a:latin typeface="Times" panose="02020603050405020304" pitchFamily="18" charset="0"/>
            </a:endParaRPr>
          </a:p>
        </p:txBody>
      </p:sp>
      <p:sp>
        <p:nvSpPr>
          <p:cNvPr id="12295" name="Rectangle 17"/>
          <p:cNvSpPr>
            <a:spLocks noChangeArrowheads="1"/>
          </p:cNvSpPr>
          <p:nvPr/>
        </p:nvSpPr>
        <p:spPr bwMode="auto">
          <a:xfrm>
            <a:off x="5943600" y="3200400"/>
            <a:ext cx="26797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Data obtained from Figs. 10.30(a)</a:t>
            </a:r>
          </a:p>
          <a:p>
            <a:pPr>
              <a:spcBef>
                <a:spcPct val="0"/>
              </a:spcBef>
              <a:buFontTx/>
              <a:buNone/>
            </a:pPr>
            <a:r>
              <a:rPr lang="en-US" altLang="tr-TR" sz="1200" b="0">
                <a:solidFill>
                  <a:srgbClr val="000000"/>
                </a:solidFill>
              </a:rPr>
              <a:t>and 10.32 with 4 wt% C composition,</a:t>
            </a:r>
          </a:p>
          <a:p>
            <a:pPr>
              <a:spcBef>
                <a:spcPct val="0"/>
              </a:spcBef>
              <a:buFontTx/>
              <a:buNone/>
            </a:pPr>
            <a:r>
              <a:rPr lang="en-US" altLang="tr-TR" sz="1200" b="0">
                <a:solidFill>
                  <a:srgbClr val="000000"/>
                </a:solidFill>
              </a:rPr>
              <a:t>and from Fig. 11.14 and associated</a:t>
            </a:r>
          </a:p>
          <a:p>
            <a:pPr>
              <a:spcBef>
                <a:spcPct val="0"/>
              </a:spcBef>
              <a:buFontTx/>
              <a:buNone/>
            </a:pPr>
            <a:r>
              <a:rPr lang="en-US" altLang="tr-TR" sz="1200" b="0">
                <a:solidFill>
                  <a:srgbClr val="000000"/>
                </a:solidFill>
              </a:rPr>
              <a:t>discussion, </a:t>
            </a:r>
            <a:r>
              <a:rPr lang="en-US" altLang="tr-TR" sz="1200" b="0" i="1">
                <a:solidFill>
                  <a:srgbClr val="000000"/>
                </a:solidFill>
              </a:rPr>
              <a:t>Callister &amp; Rethwisch 8e</a:t>
            </a:r>
            <a:r>
              <a:rPr lang="en-US" altLang="tr-TR" sz="1200" b="0">
                <a:solidFill>
                  <a:srgbClr val="000000"/>
                </a:solidFill>
              </a:rPr>
              <a:t>.</a:t>
            </a:r>
          </a:p>
          <a:p>
            <a:pPr>
              <a:spcBef>
                <a:spcPct val="0"/>
              </a:spcBef>
              <a:buFontTx/>
              <a:buNone/>
            </a:pPr>
            <a:r>
              <a:rPr lang="en-US" altLang="tr-TR" sz="1200" b="0">
                <a:solidFill>
                  <a:srgbClr val="000000"/>
                </a:solidFill>
              </a:rPr>
              <a:t>Micrographs adapted from (a) Fig.</a:t>
            </a:r>
          </a:p>
          <a:p>
            <a:pPr>
              <a:spcBef>
                <a:spcPct val="0"/>
              </a:spcBef>
              <a:buFontTx/>
              <a:buNone/>
            </a:pPr>
            <a:r>
              <a:rPr lang="en-US" altLang="tr-TR" sz="1200" b="0">
                <a:solidFill>
                  <a:srgbClr val="000000"/>
                </a:solidFill>
              </a:rPr>
              <a:t>10.19; (b) Fig. 9.30;(c) Fig. 10.33;</a:t>
            </a:r>
          </a:p>
          <a:p>
            <a:pPr>
              <a:spcBef>
                <a:spcPct val="0"/>
              </a:spcBef>
              <a:buFontTx/>
              <a:buNone/>
            </a:pPr>
            <a:r>
              <a:rPr lang="en-US" altLang="tr-TR" sz="1200" b="0">
                <a:solidFill>
                  <a:srgbClr val="000000"/>
                </a:solidFill>
              </a:rPr>
              <a:t>and (d) Fig. 10.21, </a:t>
            </a:r>
            <a:r>
              <a:rPr lang="en-US" altLang="tr-TR" sz="1200" b="0" i="1">
                <a:solidFill>
                  <a:srgbClr val="000000"/>
                </a:solidFill>
              </a:rPr>
              <a:t>Callister &amp; Rethwisch 8e</a:t>
            </a:r>
            <a:r>
              <a:rPr lang="en-US" altLang="tr-TR" sz="1200" b="0">
                <a:solidFill>
                  <a:srgbClr val="000000"/>
                </a:solidFill>
              </a:rPr>
              <a:t>.</a:t>
            </a:r>
          </a:p>
        </p:txBody>
      </p:sp>
      <p:sp>
        <p:nvSpPr>
          <p:cNvPr id="12296" name="Rectangle 18"/>
          <p:cNvSpPr>
            <a:spLocks noChangeArrowheads="1"/>
          </p:cNvSpPr>
          <p:nvPr/>
        </p:nvSpPr>
        <p:spPr bwMode="auto">
          <a:xfrm>
            <a:off x="9015413" y="3438525"/>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 </a:t>
            </a:r>
            <a:endParaRPr lang="en-US" altLang="tr-TR" sz="2400" b="0">
              <a:latin typeface="Times" panose="02020603050405020304" pitchFamily="18" charset="0"/>
            </a:endParaRPr>
          </a:p>
        </p:txBody>
      </p:sp>
      <p:sp>
        <p:nvSpPr>
          <p:cNvPr id="12297" name="Rectangle 20"/>
          <p:cNvSpPr>
            <a:spLocks noChangeArrowheads="1"/>
          </p:cNvSpPr>
          <p:nvPr/>
        </p:nvSpPr>
        <p:spPr bwMode="auto">
          <a:xfrm>
            <a:off x="9015413" y="3616325"/>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 </a:t>
            </a:r>
            <a:endParaRPr lang="en-US" altLang="tr-TR" sz="2400" b="0">
              <a:latin typeface="Times" panose="02020603050405020304" pitchFamily="18" charset="0"/>
            </a:endParaRPr>
          </a:p>
        </p:txBody>
      </p:sp>
      <p:sp>
        <p:nvSpPr>
          <p:cNvPr id="12298" name="Rectangle 22"/>
          <p:cNvSpPr>
            <a:spLocks noChangeArrowheads="1"/>
          </p:cNvSpPr>
          <p:nvPr/>
        </p:nvSpPr>
        <p:spPr bwMode="auto">
          <a:xfrm>
            <a:off x="9015413" y="3794125"/>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 </a:t>
            </a:r>
            <a:endParaRPr lang="en-US" altLang="tr-TR" sz="2400" b="0">
              <a:latin typeface="Times" panose="02020603050405020304" pitchFamily="18" charset="0"/>
            </a:endParaRPr>
          </a:p>
        </p:txBody>
      </p:sp>
      <p:sp>
        <p:nvSpPr>
          <p:cNvPr id="12299" name="Rectangle 25"/>
          <p:cNvSpPr>
            <a:spLocks noChangeArrowheads="1"/>
          </p:cNvSpPr>
          <p:nvPr/>
        </p:nvSpPr>
        <p:spPr bwMode="auto">
          <a:xfrm>
            <a:off x="9015413" y="4149725"/>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 </a:t>
            </a:r>
            <a:endParaRPr lang="en-US" altLang="tr-TR" sz="2400" b="0">
              <a:latin typeface="Times" panose="02020603050405020304" pitchFamily="18" charset="0"/>
            </a:endParaRPr>
          </a:p>
        </p:txBody>
      </p:sp>
      <p:sp>
        <p:nvSpPr>
          <p:cNvPr id="12300" name="Rectangle 27"/>
          <p:cNvSpPr>
            <a:spLocks noChangeArrowheads="1"/>
          </p:cNvSpPr>
          <p:nvPr/>
        </p:nvSpPr>
        <p:spPr bwMode="auto">
          <a:xfrm>
            <a:off x="9015413" y="4327525"/>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 </a:t>
            </a:r>
            <a:endParaRPr lang="en-US" altLang="tr-TR" sz="2400" b="0">
              <a:latin typeface="Times" panose="02020603050405020304" pitchFamily="18" charset="0"/>
            </a:endParaRPr>
          </a:p>
        </p:txBody>
      </p:sp>
      <p:sp>
        <p:nvSpPr>
          <p:cNvPr id="12301" name="Rectangle 29"/>
          <p:cNvSpPr>
            <a:spLocks noChangeArrowheads="1"/>
          </p:cNvSpPr>
          <p:nvPr/>
        </p:nvSpPr>
        <p:spPr bwMode="auto">
          <a:xfrm>
            <a:off x="1349375" y="6065838"/>
            <a:ext cx="44719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ex:  structure vs cooling rate of steel</a:t>
            </a:r>
            <a:endParaRPr lang="en-US" altLang="tr-TR" sz="2200" b="0">
              <a:latin typeface="Times" panose="02020603050405020304" pitchFamily="18" charset="0"/>
            </a:endParaRPr>
          </a:p>
        </p:txBody>
      </p:sp>
      <p:sp>
        <p:nvSpPr>
          <p:cNvPr id="12302" name="Rectangle 30"/>
          <p:cNvSpPr>
            <a:spLocks noChangeArrowheads="1"/>
          </p:cNvSpPr>
          <p:nvPr/>
        </p:nvSpPr>
        <p:spPr bwMode="auto">
          <a:xfrm>
            <a:off x="914400" y="5734050"/>
            <a:ext cx="48847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0000"/>
                </a:solidFill>
              </a:rPr>
              <a:t> •  </a:t>
            </a:r>
            <a:r>
              <a:rPr lang="en-US" altLang="tr-TR" sz="2400" b="0">
                <a:solidFill>
                  <a:schemeClr val="accent2"/>
                </a:solidFill>
              </a:rPr>
              <a:t>Processing </a:t>
            </a:r>
            <a:r>
              <a:rPr lang="en-US" altLang="tr-TR" sz="2400" b="0">
                <a:solidFill>
                  <a:srgbClr val="000000"/>
                </a:solidFill>
              </a:rPr>
              <a:t>can change</a:t>
            </a:r>
            <a:r>
              <a:rPr lang="en-US" altLang="tr-TR" sz="2400" b="0">
                <a:solidFill>
                  <a:schemeClr val="accent2"/>
                </a:solidFill>
              </a:rPr>
              <a:t> structure</a:t>
            </a:r>
            <a:r>
              <a:rPr lang="en-US" altLang="tr-TR" sz="2400" b="0">
                <a:solidFill>
                  <a:srgbClr val="000000"/>
                </a:solidFill>
              </a:rPr>
              <a:t> </a:t>
            </a:r>
            <a:endParaRPr lang="en-US" altLang="tr-TR" sz="2400" b="0">
              <a:latin typeface="Times" panose="02020603050405020304" pitchFamily="18" charset="0"/>
            </a:endParaRPr>
          </a:p>
        </p:txBody>
      </p:sp>
      <p:sp>
        <p:nvSpPr>
          <p:cNvPr id="12303" name="Rectangle 33"/>
          <p:cNvSpPr>
            <a:spLocks noGrp="1" noChangeArrowheads="1"/>
          </p:cNvSpPr>
          <p:nvPr>
            <p:ph type="title" idx="4294967295"/>
          </p:nvPr>
        </p:nvSpPr>
        <p:spPr/>
        <p:txBody>
          <a:bodyPr/>
          <a:lstStyle/>
          <a:p>
            <a:r>
              <a:rPr lang="en-US" altLang="tr-TR" sz="3200">
                <a:ea typeface="ＭＳ Ｐゴシック" panose="020B0600070205080204" pitchFamily="34" charset="-128"/>
              </a:rPr>
              <a:t>Structure, Processing, &amp; Properties</a:t>
            </a:r>
          </a:p>
        </p:txBody>
      </p:sp>
      <p:sp>
        <p:nvSpPr>
          <p:cNvPr id="12304" name="Text Box 35"/>
          <p:cNvSpPr txBox="1">
            <a:spLocks noChangeArrowheads="1"/>
          </p:cNvSpPr>
          <p:nvPr/>
        </p:nvSpPr>
        <p:spPr bwMode="auto">
          <a:xfrm rot="-5400000">
            <a:off x="392113" y="3589338"/>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Hardness (BHN)</a:t>
            </a:r>
          </a:p>
        </p:txBody>
      </p:sp>
      <p:sp>
        <p:nvSpPr>
          <p:cNvPr id="12305" name="Rectangle 38"/>
          <p:cNvSpPr>
            <a:spLocks noChangeArrowheads="1"/>
          </p:cNvSpPr>
          <p:nvPr/>
        </p:nvSpPr>
        <p:spPr bwMode="auto">
          <a:xfrm>
            <a:off x="3657600" y="5308600"/>
            <a:ext cx="2181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Cooling Rate (</a:t>
            </a:r>
            <a:r>
              <a:rPr lang="en-US" altLang="tr-TR" sz="2000" b="0">
                <a:solidFill>
                  <a:srgbClr val="000000"/>
                </a:solidFill>
                <a:cs typeface="Arial" panose="020B0604020202020204" pitchFamily="34" charset="0"/>
              </a:rPr>
              <a:t>ºC/s)</a:t>
            </a:r>
            <a:endParaRPr lang="en-US" altLang="tr-TR" sz="2400" b="0">
              <a:cs typeface="Arial" panose="020B0604020202020204" pitchFamily="34" charset="0"/>
            </a:endParaRPr>
          </a:p>
        </p:txBody>
      </p:sp>
      <p:sp>
        <p:nvSpPr>
          <p:cNvPr id="12306" name="Rectangle 39"/>
          <p:cNvSpPr>
            <a:spLocks noChangeArrowheads="1"/>
          </p:cNvSpPr>
          <p:nvPr/>
        </p:nvSpPr>
        <p:spPr bwMode="auto">
          <a:xfrm>
            <a:off x="4546600" y="4978400"/>
            <a:ext cx="12700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grpSp>
        <p:nvGrpSpPr>
          <p:cNvPr id="12307" name="Group 42"/>
          <p:cNvGrpSpPr>
            <a:grpSpLocks/>
          </p:cNvGrpSpPr>
          <p:nvPr/>
        </p:nvGrpSpPr>
        <p:grpSpPr bwMode="auto">
          <a:xfrm>
            <a:off x="2425700" y="2197100"/>
            <a:ext cx="127000" cy="2743200"/>
            <a:chOff x="1528" y="1384"/>
            <a:chExt cx="80" cy="1728"/>
          </a:xfrm>
        </p:grpSpPr>
        <p:sp>
          <p:nvSpPr>
            <p:cNvPr id="12393" name="Freeform 40"/>
            <p:cNvSpPr>
              <a:spLocks/>
            </p:cNvSpPr>
            <p:nvPr/>
          </p:nvSpPr>
          <p:spPr bwMode="auto">
            <a:xfrm>
              <a:off x="1528" y="1384"/>
              <a:ext cx="80" cy="64"/>
            </a:xfrm>
            <a:custGeom>
              <a:avLst/>
              <a:gdLst>
                <a:gd name="T0" fmla="*/ 40 w 80"/>
                <a:gd name="T1" fmla="*/ 0 h 64"/>
                <a:gd name="T2" fmla="*/ 80 w 80"/>
                <a:gd name="T3" fmla="*/ 64 h 64"/>
                <a:gd name="T4" fmla="*/ 40 w 80"/>
                <a:gd name="T5" fmla="*/ 40 h 64"/>
                <a:gd name="T6" fmla="*/ 0 w 80"/>
                <a:gd name="T7" fmla="*/ 64 h 64"/>
                <a:gd name="T8" fmla="*/ 40 w 80"/>
                <a:gd name="T9" fmla="*/ 0 h 64"/>
                <a:gd name="T10" fmla="*/ 0 60000 65536"/>
                <a:gd name="T11" fmla="*/ 0 60000 65536"/>
                <a:gd name="T12" fmla="*/ 0 60000 65536"/>
                <a:gd name="T13" fmla="*/ 0 60000 65536"/>
                <a:gd name="T14" fmla="*/ 0 60000 65536"/>
                <a:gd name="T15" fmla="*/ 0 w 80"/>
                <a:gd name="T16" fmla="*/ 0 h 64"/>
                <a:gd name="T17" fmla="*/ 80 w 80"/>
                <a:gd name="T18" fmla="*/ 64 h 64"/>
              </a:gdLst>
              <a:ahLst/>
              <a:cxnLst>
                <a:cxn ang="T10">
                  <a:pos x="T0" y="T1"/>
                </a:cxn>
                <a:cxn ang="T11">
                  <a:pos x="T2" y="T3"/>
                </a:cxn>
                <a:cxn ang="T12">
                  <a:pos x="T4" y="T5"/>
                </a:cxn>
                <a:cxn ang="T13">
                  <a:pos x="T6" y="T7"/>
                </a:cxn>
                <a:cxn ang="T14">
                  <a:pos x="T8" y="T9"/>
                </a:cxn>
              </a:cxnLst>
              <a:rect l="T15" t="T16" r="T17" b="T18"/>
              <a:pathLst>
                <a:path w="80" h="64">
                  <a:moveTo>
                    <a:pt x="40" y="0"/>
                  </a:moveTo>
                  <a:lnTo>
                    <a:pt x="80" y="64"/>
                  </a:lnTo>
                  <a:lnTo>
                    <a:pt x="40" y="40"/>
                  </a:lnTo>
                  <a:lnTo>
                    <a:pt x="0" y="64"/>
                  </a:lnTo>
                  <a:lnTo>
                    <a:pt x="40" y="0"/>
                  </a:lnTo>
                  <a:close/>
                </a:path>
              </a:pathLst>
            </a:custGeom>
            <a:solidFill>
              <a:srgbClr val="000000"/>
            </a:solidFill>
            <a:ln w="12700">
              <a:solidFill>
                <a:srgbClr val="000000"/>
              </a:solidFill>
              <a:round/>
              <a:headEnd/>
              <a:tailEnd/>
            </a:ln>
          </p:spPr>
          <p:txBody>
            <a:bodyPr/>
            <a:lstStyle/>
            <a:p>
              <a:endParaRPr lang="tr-TR"/>
            </a:p>
          </p:txBody>
        </p:sp>
        <p:sp>
          <p:nvSpPr>
            <p:cNvPr id="12394" name="Line 41"/>
            <p:cNvSpPr>
              <a:spLocks noChangeShapeType="1"/>
            </p:cNvSpPr>
            <p:nvPr/>
          </p:nvSpPr>
          <p:spPr bwMode="auto">
            <a:xfrm flipV="1">
              <a:off x="1568" y="1424"/>
              <a:ext cx="1" cy="16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grpSp>
        <p:nvGrpSpPr>
          <p:cNvPr id="12308" name="Group 45"/>
          <p:cNvGrpSpPr>
            <a:grpSpLocks/>
          </p:cNvGrpSpPr>
          <p:nvPr/>
        </p:nvGrpSpPr>
        <p:grpSpPr bwMode="auto">
          <a:xfrm>
            <a:off x="2489200" y="4876800"/>
            <a:ext cx="3657600" cy="127000"/>
            <a:chOff x="1568" y="3072"/>
            <a:chExt cx="2304" cy="80"/>
          </a:xfrm>
        </p:grpSpPr>
        <p:sp>
          <p:nvSpPr>
            <p:cNvPr id="12391" name="Freeform 43"/>
            <p:cNvSpPr>
              <a:spLocks/>
            </p:cNvSpPr>
            <p:nvPr/>
          </p:nvSpPr>
          <p:spPr bwMode="auto">
            <a:xfrm>
              <a:off x="3808" y="3072"/>
              <a:ext cx="64" cy="80"/>
            </a:xfrm>
            <a:custGeom>
              <a:avLst/>
              <a:gdLst>
                <a:gd name="T0" fmla="*/ 64 w 64"/>
                <a:gd name="T1" fmla="*/ 40 h 80"/>
                <a:gd name="T2" fmla="*/ 0 w 64"/>
                <a:gd name="T3" fmla="*/ 80 h 80"/>
                <a:gd name="T4" fmla="*/ 24 w 64"/>
                <a:gd name="T5" fmla="*/ 40 h 80"/>
                <a:gd name="T6" fmla="*/ 0 w 64"/>
                <a:gd name="T7" fmla="*/ 0 h 80"/>
                <a:gd name="T8" fmla="*/ 64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64" y="40"/>
                  </a:moveTo>
                  <a:lnTo>
                    <a:pt x="0" y="80"/>
                  </a:lnTo>
                  <a:lnTo>
                    <a:pt x="24" y="40"/>
                  </a:lnTo>
                  <a:lnTo>
                    <a:pt x="0" y="0"/>
                  </a:lnTo>
                  <a:lnTo>
                    <a:pt x="64" y="40"/>
                  </a:lnTo>
                  <a:close/>
                </a:path>
              </a:pathLst>
            </a:custGeom>
            <a:solidFill>
              <a:srgbClr val="000000"/>
            </a:solidFill>
            <a:ln w="12700">
              <a:solidFill>
                <a:srgbClr val="000000"/>
              </a:solidFill>
              <a:round/>
              <a:headEnd/>
              <a:tailEnd/>
            </a:ln>
          </p:spPr>
          <p:txBody>
            <a:bodyPr/>
            <a:lstStyle/>
            <a:p>
              <a:endParaRPr lang="tr-TR"/>
            </a:p>
          </p:txBody>
        </p:sp>
        <p:sp>
          <p:nvSpPr>
            <p:cNvPr id="12392" name="Line 44"/>
            <p:cNvSpPr>
              <a:spLocks noChangeShapeType="1"/>
            </p:cNvSpPr>
            <p:nvPr/>
          </p:nvSpPr>
          <p:spPr bwMode="auto">
            <a:xfrm>
              <a:off x="1568" y="3112"/>
              <a:ext cx="2264"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2309" name="Line 46"/>
          <p:cNvSpPr>
            <a:spLocks noChangeShapeType="1"/>
          </p:cNvSpPr>
          <p:nvPr/>
        </p:nvSpPr>
        <p:spPr bwMode="auto">
          <a:xfrm>
            <a:off x="2374900" y="4940300"/>
            <a:ext cx="1143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0" name="Line 47"/>
          <p:cNvSpPr>
            <a:spLocks noChangeShapeType="1"/>
          </p:cNvSpPr>
          <p:nvPr/>
        </p:nvSpPr>
        <p:spPr bwMode="auto">
          <a:xfrm>
            <a:off x="2374900" y="4470400"/>
            <a:ext cx="1143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1" name="Line 48"/>
          <p:cNvSpPr>
            <a:spLocks noChangeShapeType="1"/>
          </p:cNvSpPr>
          <p:nvPr/>
        </p:nvSpPr>
        <p:spPr bwMode="auto">
          <a:xfrm>
            <a:off x="2374900" y="3987800"/>
            <a:ext cx="1143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2" name="Line 49"/>
          <p:cNvSpPr>
            <a:spLocks noChangeShapeType="1"/>
          </p:cNvSpPr>
          <p:nvPr/>
        </p:nvSpPr>
        <p:spPr bwMode="auto">
          <a:xfrm>
            <a:off x="2374900" y="3505200"/>
            <a:ext cx="1143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3" name="Line 50"/>
          <p:cNvSpPr>
            <a:spLocks noChangeShapeType="1"/>
          </p:cNvSpPr>
          <p:nvPr/>
        </p:nvSpPr>
        <p:spPr bwMode="auto">
          <a:xfrm>
            <a:off x="2374900" y="3022600"/>
            <a:ext cx="1143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4" name="Line 51"/>
          <p:cNvSpPr>
            <a:spLocks noChangeShapeType="1"/>
          </p:cNvSpPr>
          <p:nvPr/>
        </p:nvSpPr>
        <p:spPr bwMode="auto">
          <a:xfrm>
            <a:off x="2374900" y="2540000"/>
            <a:ext cx="1143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5" name="Line 52"/>
          <p:cNvSpPr>
            <a:spLocks noChangeShapeType="1"/>
          </p:cNvSpPr>
          <p:nvPr/>
        </p:nvSpPr>
        <p:spPr bwMode="auto">
          <a:xfrm flipV="1">
            <a:off x="2489200" y="4927600"/>
            <a:ext cx="1588" cy="114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6" name="Line 53"/>
          <p:cNvSpPr>
            <a:spLocks noChangeShapeType="1"/>
          </p:cNvSpPr>
          <p:nvPr/>
        </p:nvSpPr>
        <p:spPr bwMode="auto">
          <a:xfrm flipV="1">
            <a:off x="3175000" y="4927600"/>
            <a:ext cx="1588" cy="114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7" name="Line 54"/>
          <p:cNvSpPr>
            <a:spLocks noChangeShapeType="1"/>
          </p:cNvSpPr>
          <p:nvPr/>
        </p:nvSpPr>
        <p:spPr bwMode="auto">
          <a:xfrm flipV="1">
            <a:off x="3848100" y="4927600"/>
            <a:ext cx="1588" cy="114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8" name="Line 55"/>
          <p:cNvSpPr>
            <a:spLocks noChangeShapeType="1"/>
          </p:cNvSpPr>
          <p:nvPr/>
        </p:nvSpPr>
        <p:spPr bwMode="auto">
          <a:xfrm flipV="1">
            <a:off x="4521200" y="4927600"/>
            <a:ext cx="1588" cy="114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19" name="Rectangle 58"/>
          <p:cNvSpPr>
            <a:spLocks noChangeArrowheads="1"/>
          </p:cNvSpPr>
          <p:nvPr/>
        </p:nvSpPr>
        <p:spPr bwMode="auto">
          <a:xfrm>
            <a:off x="1879600" y="4787900"/>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100</a:t>
            </a:r>
            <a:endParaRPr lang="en-US" altLang="tr-TR" sz="2400" b="0"/>
          </a:p>
        </p:txBody>
      </p:sp>
      <p:sp>
        <p:nvSpPr>
          <p:cNvPr id="12320" name="Rectangle 59"/>
          <p:cNvSpPr>
            <a:spLocks noChangeArrowheads="1"/>
          </p:cNvSpPr>
          <p:nvPr/>
        </p:nvSpPr>
        <p:spPr bwMode="auto">
          <a:xfrm>
            <a:off x="1879600" y="4305300"/>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2</a:t>
            </a:r>
            <a:endParaRPr lang="en-US" altLang="tr-TR" sz="2400" b="0"/>
          </a:p>
        </p:txBody>
      </p:sp>
      <p:sp>
        <p:nvSpPr>
          <p:cNvPr id="12321" name="Rectangle 60"/>
          <p:cNvSpPr>
            <a:spLocks noChangeArrowheads="1"/>
          </p:cNvSpPr>
          <p:nvPr/>
        </p:nvSpPr>
        <p:spPr bwMode="auto">
          <a:xfrm>
            <a:off x="2032000" y="43053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00</a:t>
            </a:r>
            <a:endParaRPr lang="en-US" altLang="tr-TR" sz="2400" b="0"/>
          </a:p>
        </p:txBody>
      </p:sp>
      <p:sp>
        <p:nvSpPr>
          <p:cNvPr id="12322" name="Rectangle 61"/>
          <p:cNvSpPr>
            <a:spLocks noChangeArrowheads="1"/>
          </p:cNvSpPr>
          <p:nvPr/>
        </p:nvSpPr>
        <p:spPr bwMode="auto">
          <a:xfrm>
            <a:off x="1879600" y="3822700"/>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3</a:t>
            </a:r>
            <a:endParaRPr lang="en-US" altLang="tr-TR" sz="2400" b="0"/>
          </a:p>
        </p:txBody>
      </p:sp>
      <p:sp>
        <p:nvSpPr>
          <p:cNvPr id="12323" name="Rectangle 62"/>
          <p:cNvSpPr>
            <a:spLocks noChangeArrowheads="1"/>
          </p:cNvSpPr>
          <p:nvPr/>
        </p:nvSpPr>
        <p:spPr bwMode="auto">
          <a:xfrm>
            <a:off x="2032000" y="38227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00</a:t>
            </a:r>
            <a:endParaRPr lang="en-US" altLang="tr-TR" sz="2400" b="0"/>
          </a:p>
        </p:txBody>
      </p:sp>
      <p:sp>
        <p:nvSpPr>
          <p:cNvPr id="12324" name="Rectangle 63"/>
          <p:cNvSpPr>
            <a:spLocks noChangeArrowheads="1"/>
          </p:cNvSpPr>
          <p:nvPr/>
        </p:nvSpPr>
        <p:spPr bwMode="auto">
          <a:xfrm>
            <a:off x="1879600" y="3340100"/>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4</a:t>
            </a:r>
            <a:endParaRPr lang="en-US" altLang="tr-TR" sz="2400" b="0"/>
          </a:p>
        </p:txBody>
      </p:sp>
      <p:sp>
        <p:nvSpPr>
          <p:cNvPr id="12325" name="Rectangle 64"/>
          <p:cNvSpPr>
            <a:spLocks noChangeArrowheads="1"/>
          </p:cNvSpPr>
          <p:nvPr/>
        </p:nvSpPr>
        <p:spPr bwMode="auto">
          <a:xfrm>
            <a:off x="2032000" y="33401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00</a:t>
            </a:r>
            <a:endParaRPr lang="en-US" altLang="tr-TR" sz="2400" b="0"/>
          </a:p>
        </p:txBody>
      </p:sp>
      <p:sp>
        <p:nvSpPr>
          <p:cNvPr id="12326" name="Rectangle 65"/>
          <p:cNvSpPr>
            <a:spLocks noChangeArrowheads="1"/>
          </p:cNvSpPr>
          <p:nvPr/>
        </p:nvSpPr>
        <p:spPr bwMode="auto">
          <a:xfrm>
            <a:off x="1879600" y="2870200"/>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5</a:t>
            </a:r>
            <a:endParaRPr lang="en-US" altLang="tr-TR" sz="2400" b="0"/>
          </a:p>
        </p:txBody>
      </p:sp>
      <p:sp>
        <p:nvSpPr>
          <p:cNvPr id="12327" name="Rectangle 66"/>
          <p:cNvSpPr>
            <a:spLocks noChangeArrowheads="1"/>
          </p:cNvSpPr>
          <p:nvPr/>
        </p:nvSpPr>
        <p:spPr bwMode="auto">
          <a:xfrm>
            <a:off x="2032000" y="28702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00</a:t>
            </a:r>
            <a:endParaRPr lang="en-US" altLang="tr-TR" sz="2400" b="0"/>
          </a:p>
        </p:txBody>
      </p:sp>
      <p:sp>
        <p:nvSpPr>
          <p:cNvPr id="12328" name="Rectangle 67"/>
          <p:cNvSpPr>
            <a:spLocks noChangeArrowheads="1"/>
          </p:cNvSpPr>
          <p:nvPr/>
        </p:nvSpPr>
        <p:spPr bwMode="auto">
          <a:xfrm>
            <a:off x="1879600" y="2387600"/>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6</a:t>
            </a:r>
            <a:endParaRPr lang="en-US" altLang="tr-TR" sz="2400" b="0"/>
          </a:p>
        </p:txBody>
      </p:sp>
      <p:sp>
        <p:nvSpPr>
          <p:cNvPr id="12329" name="Rectangle 68"/>
          <p:cNvSpPr>
            <a:spLocks noChangeArrowheads="1"/>
          </p:cNvSpPr>
          <p:nvPr/>
        </p:nvSpPr>
        <p:spPr bwMode="auto">
          <a:xfrm>
            <a:off x="2032000" y="23876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00</a:t>
            </a:r>
            <a:endParaRPr lang="en-US" altLang="tr-TR" sz="2400" b="0"/>
          </a:p>
        </p:txBody>
      </p:sp>
      <p:sp>
        <p:nvSpPr>
          <p:cNvPr id="12330" name="Rectangle 69"/>
          <p:cNvSpPr>
            <a:spLocks noChangeArrowheads="1"/>
          </p:cNvSpPr>
          <p:nvPr/>
        </p:nvSpPr>
        <p:spPr bwMode="auto">
          <a:xfrm>
            <a:off x="2286000" y="5041900"/>
            <a:ext cx="493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0.01</a:t>
            </a:r>
            <a:endParaRPr lang="en-US" altLang="tr-TR" sz="2400" b="0"/>
          </a:p>
        </p:txBody>
      </p:sp>
      <p:sp>
        <p:nvSpPr>
          <p:cNvPr id="12331" name="Rectangle 70"/>
          <p:cNvSpPr>
            <a:spLocks noChangeArrowheads="1"/>
          </p:cNvSpPr>
          <p:nvPr/>
        </p:nvSpPr>
        <p:spPr bwMode="auto">
          <a:xfrm>
            <a:off x="2971800" y="5041900"/>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0.1</a:t>
            </a:r>
            <a:endParaRPr lang="en-US" altLang="tr-TR" sz="2400" b="0"/>
          </a:p>
        </p:txBody>
      </p:sp>
      <p:sp>
        <p:nvSpPr>
          <p:cNvPr id="12332" name="Rectangle 71"/>
          <p:cNvSpPr>
            <a:spLocks noChangeArrowheads="1"/>
          </p:cNvSpPr>
          <p:nvPr/>
        </p:nvSpPr>
        <p:spPr bwMode="auto">
          <a:xfrm>
            <a:off x="3771900" y="5041900"/>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1</a:t>
            </a:r>
            <a:endParaRPr lang="en-US" altLang="tr-TR" sz="2400" b="0"/>
          </a:p>
        </p:txBody>
      </p:sp>
      <p:sp>
        <p:nvSpPr>
          <p:cNvPr id="12333" name="Rectangle 72"/>
          <p:cNvSpPr>
            <a:spLocks noChangeArrowheads="1"/>
          </p:cNvSpPr>
          <p:nvPr/>
        </p:nvSpPr>
        <p:spPr bwMode="auto">
          <a:xfrm>
            <a:off x="4343400" y="50419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10</a:t>
            </a:r>
            <a:endParaRPr lang="en-US" altLang="tr-TR" sz="2400" b="0"/>
          </a:p>
        </p:txBody>
      </p:sp>
      <p:sp>
        <p:nvSpPr>
          <p:cNvPr id="12334" name="Rectangle 73"/>
          <p:cNvSpPr>
            <a:spLocks noChangeArrowheads="1"/>
          </p:cNvSpPr>
          <p:nvPr/>
        </p:nvSpPr>
        <p:spPr bwMode="auto">
          <a:xfrm>
            <a:off x="4914900" y="5041900"/>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100</a:t>
            </a:r>
            <a:endParaRPr lang="en-US" altLang="tr-TR" sz="2400" b="0"/>
          </a:p>
        </p:txBody>
      </p:sp>
      <p:sp>
        <p:nvSpPr>
          <p:cNvPr id="12335" name="Rectangle 74"/>
          <p:cNvSpPr>
            <a:spLocks noChangeArrowheads="1"/>
          </p:cNvSpPr>
          <p:nvPr/>
        </p:nvSpPr>
        <p:spPr bwMode="auto">
          <a:xfrm>
            <a:off x="5600700" y="5041900"/>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000" b="0">
                <a:solidFill>
                  <a:srgbClr val="000000"/>
                </a:solidFill>
              </a:rPr>
              <a:t>1000</a:t>
            </a:r>
            <a:endParaRPr lang="en-US" altLang="tr-TR" sz="2400" b="0"/>
          </a:p>
        </p:txBody>
      </p:sp>
      <p:grpSp>
        <p:nvGrpSpPr>
          <p:cNvPr id="12336" name="Group 136"/>
          <p:cNvGrpSpPr>
            <a:grpSpLocks/>
          </p:cNvGrpSpPr>
          <p:nvPr/>
        </p:nvGrpSpPr>
        <p:grpSpPr bwMode="auto">
          <a:xfrm>
            <a:off x="5626100" y="1955800"/>
            <a:ext cx="1174750" cy="1060450"/>
            <a:chOff x="3544" y="1232"/>
            <a:chExt cx="740" cy="668"/>
          </a:xfrm>
        </p:grpSpPr>
        <p:sp>
          <p:nvSpPr>
            <p:cNvPr id="12378" name="Oval 77"/>
            <p:cNvSpPr>
              <a:spLocks noChangeArrowheads="1"/>
            </p:cNvSpPr>
            <p:nvPr/>
          </p:nvSpPr>
          <p:spPr bwMode="auto">
            <a:xfrm>
              <a:off x="3544" y="1544"/>
              <a:ext cx="104" cy="104"/>
            </a:xfrm>
            <a:prstGeom prst="ellipse">
              <a:avLst/>
            </a:pr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pic>
          <p:nvPicPr>
            <p:cNvPr id="12379" name="Picture 1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4" y="1248"/>
              <a:ext cx="576"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80" name="Rectangle 104"/>
            <p:cNvSpPr>
              <a:spLocks noChangeArrowheads="1"/>
            </p:cNvSpPr>
            <p:nvPr/>
          </p:nvSpPr>
          <p:spPr bwMode="auto">
            <a:xfrm>
              <a:off x="3704" y="1232"/>
              <a:ext cx="200"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81" name="Rectangle 105"/>
            <p:cNvSpPr>
              <a:spLocks noChangeArrowheads="1"/>
            </p:cNvSpPr>
            <p:nvPr/>
          </p:nvSpPr>
          <p:spPr bwMode="auto">
            <a:xfrm>
              <a:off x="3704" y="1232"/>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(d)</a:t>
              </a:r>
              <a:endParaRPr lang="en-US" altLang="tr-TR" sz="2400" b="0"/>
            </a:p>
          </p:txBody>
        </p:sp>
        <p:grpSp>
          <p:nvGrpSpPr>
            <p:cNvPr id="12382" name="Group 135"/>
            <p:cNvGrpSpPr>
              <a:grpSpLocks/>
            </p:cNvGrpSpPr>
            <p:nvPr/>
          </p:nvGrpSpPr>
          <p:grpSpPr bwMode="auto">
            <a:xfrm>
              <a:off x="3760" y="1760"/>
              <a:ext cx="456" cy="136"/>
              <a:chOff x="3760" y="1760"/>
              <a:chExt cx="456" cy="136"/>
            </a:xfrm>
          </p:grpSpPr>
          <p:grpSp>
            <p:nvGrpSpPr>
              <p:cNvPr id="12385" name="Group 109"/>
              <p:cNvGrpSpPr>
                <a:grpSpLocks/>
              </p:cNvGrpSpPr>
              <p:nvPr/>
            </p:nvGrpSpPr>
            <p:grpSpPr bwMode="auto">
              <a:xfrm>
                <a:off x="3760" y="1784"/>
                <a:ext cx="456" cy="80"/>
                <a:chOff x="3760" y="1784"/>
                <a:chExt cx="456" cy="80"/>
              </a:xfrm>
            </p:grpSpPr>
            <p:sp>
              <p:nvSpPr>
                <p:cNvPr id="12388" name="Freeform 106"/>
                <p:cNvSpPr>
                  <a:spLocks/>
                </p:cNvSpPr>
                <p:nvPr/>
              </p:nvSpPr>
              <p:spPr bwMode="auto">
                <a:xfrm>
                  <a:off x="3760" y="1784"/>
                  <a:ext cx="64" cy="80"/>
                </a:xfrm>
                <a:custGeom>
                  <a:avLst/>
                  <a:gdLst>
                    <a:gd name="T0" fmla="*/ 0 w 64"/>
                    <a:gd name="T1" fmla="*/ 40 h 80"/>
                    <a:gd name="T2" fmla="*/ 64 w 64"/>
                    <a:gd name="T3" fmla="*/ 0 h 80"/>
                    <a:gd name="T4" fmla="*/ 40 w 64"/>
                    <a:gd name="T5" fmla="*/ 40 h 80"/>
                    <a:gd name="T6" fmla="*/ 64 w 64"/>
                    <a:gd name="T7" fmla="*/ 80 h 80"/>
                    <a:gd name="T8" fmla="*/ 0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0" y="40"/>
                      </a:moveTo>
                      <a:lnTo>
                        <a:pt x="64" y="0"/>
                      </a:lnTo>
                      <a:lnTo>
                        <a:pt x="40" y="40"/>
                      </a:lnTo>
                      <a:lnTo>
                        <a:pt x="64" y="80"/>
                      </a:lnTo>
                      <a:lnTo>
                        <a:pt x="0" y="40"/>
                      </a:lnTo>
                      <a:close/>
                    </a:path>
                  </a:pathLst>
                </a:custGeom>
                <a:solidFill>
                  <a:srgbClr val="000000"/>
                </a:solidFill>
                <a:ln w="12700">
                  <a:solidFill>
                    <a:srgbClr val="000000"/>
                  </a:solidFill>
                  <a:round/>
                  <a:headEnd/>
                  <a:tailEnd/>
                </a:ln>
              </p:spPr>
              <p:txBody>
                <a:bodyPr/>
                <a:lstStyle/>
                <a:p>
                  <a:endParaRPr lang="tr-TR"/>
                </a:p>
              </p:txBody>
            </p:sp>
            <p:sp>
              <p:nvSpPr>
                <p:cNvPr id="12389" name="Freeform 107"/>
                <p:cNvSpPr>
                  <a:spLocks/>
                </p:cNvSpPr>
                <p:nvPr/>
              </p:nvSpPr>
              <p:spPr bwMode="auto">
                <a:xfrm>
                  <a:off x="4152" y="1784"/>
                  <a:ext cx="64" cy="80"/>
                </a:xfrm>
                <a:custGeom>
                  <a:avLst/>
                  <a:gdLst>
                    <a:gd name="T0" fmla="*/ 64 w 64"/>
                    <a:gd name="T1" fmla="*/ 40 h 80"/>
                    <a:gd name="T2" fmla="*/ 0 w 64"/>
                    <a:gd name="T3" fmla="*/ 80 h 80"/>
                    <a:gd name="T4" fmla="*/ 24 w 64"/>
                    <a:gd name="T5" fmla="*/ 40 h 80"/>
                    <a:gd name="T6" fmla="*/ 0 w 64"/>
                    <a:gd name="T7" fmla="*/ 0 h 80"/>
                    <a:gd name="T8" fmla="*/ 64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64" y="40"/>
                      </a:moveTo>
                      <a:lnTo>
                        <a:pt x="0" y="80"/>
                      </a:lnTo>
                      <a:lnTo>
                        <a:pt x="24" y="40"/>
                      </a:lnTo>
                      <a:lnTo>
                        <a:pt x="0" y="0"/>
                      </a:lnTo>
                      <a:lnTo>
                        <a:pt x="64" y="40"/>
                      </a:lnTo>
                      <a:close/>
                    </a:path>
                  </a:pathLst>
                </a:custGeom>
                <a:solidFill>
                  <a:srgbClr val="000000"/>
                </a:solidFill>
                <a:ln w="12700">
                  <a:solidFill>
                    <a:srgbClr val="000000"/>
                  </a:solidFill>
                  <a:round/>
                  <a:headEnd/>
                  <a:tailEnd/>
                </a:ln>
              </p:spPr>
              <p:txBody>
                <a:bodyPr/>
                <a:lstStyle/>
                <a:p>
                  <a:endParaRPr lang="tr-TR"/>
                </a:p>
              </p:txBody>
            </p:sp>
            <p:sp>
              <p:nvSpPr>
                <p:cNvPr id="12390" name="Line 108"/>
                <p:cNvSpPr>
                  <a:spLocks noChangeShapeType="1"/>
                </p:cNvSpPr>
                <p:nvPr/>
              </p:nvSpPr>
              <p:spPr bwMode="auto">
                <a:xfrm>
                  <a:off x="3800" y="1824"/>
                  <a:ext cx="37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2386" name="Rectangle 110"/>
              <p:cNvSpPr>
                <a:spLocks noChangeArrowheads="1"/>
              </p:cNvSpPr>
              <p:nvPr/>
            </p:nvSpPr>
            <p:spPr bwMode="auto">
              <a:xfrm>
                <a:off x="3840" y="1760"/>
                <a:ext cx="31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87" name="Rectangle 111"/>
              <p:cNvSpPr>
                <a:spLocks noChangeArrowheads="1"/>
              </p:cNvSpPr>
              <p:nvPr/>
            </p:nvSpPr>
            <p:spPr bwMode="auto">
              <a:xfrm>
                <a:off x="3840" y="1760"/>
                <a:ext cx="3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400" b="0">
                    <a:solidFill>
                      <a:srgbClr val="000000"/>
                    </a:solidFill>
                  </a:rPr>
                  <a:t>30</a:t>
                </a:r>
                <a:r>
                  <a:rPr lang="en-US" altLang="tr-TR" sz="800" b="0">
                    <a:solidFill>
                      <a:srgbClr val="000000"/>
                    </a:solidFill>
                  </a:rPr>
                  <a:t> </a:t>
                </a:r>
                <a:r>
                  <a:rPr lang="en-US" altLang="tr-TR" sz="1400" b="0">
                    <a:solidFill>
                      <a:srgbClr val="000000"/>
                    </a:solidFill>
                    <a:latin typeface="Symbol" panose="05050102010706020507" pitchFamily="18" charset="2"/>
                  </a:rPr>
                  <a:t>m</a:t>
                </a:r>
                <a:r>
                  <a:rPr lang="en-US" altLang="tr-TR" sz="1400" b="0">
                    <a:solidFill>
                      <a:srgbClr val="000000"/>
                    </a:solidFill>
                  </a:rPr>
                  <a:t>m</a:t>
                </a:r>
                <a:endParaRPr lang="en-US" altLang="tr-TR" sz="2400" b="0"/>
              </a:p>
            </p:txBody>
          </p:sp>
        </p:grpSp>
        <p:sp>
          <p:nvSpPr>
            <p:cNvPr id="12383" name="Line 127"/>
            <p:cNvSpPr>
              <a:spLocks noChangeShapeType="1"/>
            </p:cNvSpPr>
            <p:nvPr/>
          </p:nvSpPr>
          <p:spPr bwMode="auto">
            <a:xfrm flipV="1">
              <a:off x="3624" y="1544"/>
              <a:ext cx="72" cy="32"/>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84" name="Rectangle 128"/>
            <p:cNvSpPr>
              <a:spLocks noChangeArrowheads="1"/>
            </p:cNvSpPr>
            <p:nvPr/>
          </p:nvSpPr>
          <p:spPr bwMode="auto">
            <a:xfrm>
              <a:off x="3700" y="1244"/>
              <a:ext cx="584" cy="656"/>
            </a:xfrm>
            <a:prstGeom prst="rect">
              <a:avLst/>
            </a:prstGeom>
            <a:noFill/>
            <a:ln w="127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grpSp>
      <p:grpSp>
        <p:nvGrpSpPr>
          <p:cNvPr id="12337" name="Group 137"/>
          <p:cNvGrpSpPr>
            <a:grpSpLocks/>
          </p:cNvGrpSpPr>
          <p:nvPr/>
        </p:nvGrpSpPr>
        <p:grpSpPr bwMode="auto">
          <a:xfrm>
            <a:off x="4597400" y="2933700"/>
            <a:ext cx="1271588" cy="2108200"/>
            <a:chOff x="2896" y="1848"/>
            <a:chExt cx="801" cy="1328"/>
          </a:xfrm>
        </p:grpSpPr>
        <p:sp>
          <p:nvSpPr>
            <p:cNvPr id="12364" name="Line 56"/>
            <p:cNvSpPr>
              <a:spLocks noChangeShapeType="1"/>
            </p:cNvSpPr>
            <p:nvPr/>
          </p:nvSpPr>
          <p:spPr bwMode="auto">
            <a:xfrm flipV="1">
              <a:off x="3272" y="3104"/>
              <a:ext cx="1" cy="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65" name="Line 57"/>
            <p:cNvSpPr>
              <a:spLocks noChangeShapeType="1"/>
            </p:cNvSpPr>
            <p:nvPr/>
          </p:nvSpPr>
          <p:spPr bwMode="auto">
            <a:xfrm flipV="1">
              <a:off x="3696" y="3104"/>
              <a:ext cx="1" cy="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66" name="Oval 78"/>
            <p:cNvSpPr>
              <a:spLocks noChangeArrowheads="1"/>
            </p:cNvSpPr>
            <p:nvPr/>
          </p:nvSpPr>
          <p:spPr bwMode="auto">
            <a:xfrm>
              <a:off x="3544" y="2280"/>
              <a:ext cx="104" cy="104"/>
            </a:xfrm>
            <a:prstGeom prst="ellipse">
              <a:avLst/>
            </a:pr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pic>
          <p:nvPicPr>
            <p:cNvPr id="12367" name="Picture 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 y="1864"/>
              <a:ext cx="608"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68" name="Rectangle 116"/>
            <p:cNvSpPr>
              <a:spLocks noChangeArrowheads="1"/>
            </p:cNvSpPr>
            <p:nvPr/>
          </p:nvSpPr>
          <p:spPr bwMode="auto">
            <a:xfrm>
              <a:off x="2896" y="1848"/>
              <a:ext cx="200"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69" name="Rectangle 117"/>
            <p:cNvSpPr>
              <a:spLocks noChangeArrowheads="1"/>
            </p:cNvSpPr>
            <p:nvPr/>
          </p:nvSpPr>
          <p:spPr bwMode="auto">
            <a:xfrm>
              <a:off x="2896" y="1848"/>
              <a:ext cx="1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(c)</a:t>
              </a:r>
              <a:endParaRPr lang="en-US" altLang="tr-TR" sz="2400" b="0"/>
            </a:p>
          </p:txBody>
        </p:sp>
        <p:grpSp>
          <p:nvGrpSpPr>
            <p:cNvPr id="12370" name="Group 121"/>
            <p:cNvGrpSpPr>
              <a:grpSpLocks/>
            </p:cNvGrpSpPr>
            <p:nvPr/>
          </p:nvGrpSpPr>
          <p:grpSpPr bwMode="auto">
            <a:xfrm>
              <a:off x="2992" y="2400"/>
              <a:ext cx="448" cy="80"/>
              <a:chOff x="2992" y="2400"/>
              <a:chExt cx="448" cy="80"/>
            </a:xfrm>
          </p:grpSpPr>
          <p:sp>
            <p:nvSpPr>
              <p:cNvPr id="12375" name="Freeform 118"/>
              <p:cNvSpPr>
                <a:spLocks/>
              </p:cNvSpPr>
              <p:nvPr/>
            </p:nvSpPr>
            <p:spPr bwMode="auto">
              <a:xfrm>
                <a:off x="2992" y="2400"/>
                <a:ext cx="64" cy="80"/>
              </a:xfrm>
              <a:custGeom>
                <a:avLst/>
                <a:gdLst>
                  <a:gd name="T0" fmla="*/ 0 w 64"/>
                  <a:gd name="T1" fmla="*/ 40 h 80"/>
                  <a:gd name="T2" fmla="*/ 64 w 64"/>
                  <a:gd name="T3" fmla="*/ 0 h 80"/>
                  <a:gd name="T4" fmla="*/ 40 w 64"/>
                  <a:gd name="T5" fmla="*/ 40 h 80"/>
                  <a:gd name="T6" fmla="*/ 64 w 64"/>
                  <a:gd name="T7" fmla="*/ 80 h 80"/>
                  <a:gd name="T8" fmla="*/ 0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0" y="40"/>
                    </a:moveTo>
                    <a:lnTo>
                      <a:pt x="64" y="0"/>
                    </a:lnTo>
                    <a:lnTo>
                      <a:pt x="40" y="40"/>
                    </a:lnTo>
                    <a:lnTo>
                      <a:pt x="64" y="80"/>
                    </a:lnTo>
                    <a:lnTo>
                      <a:pt x="0" y="40"/>
                    </a:lnTo>
                    <a:close/>
                  </a:path>
                </a:pathLst>
              </a:custGeom>
              <a:solidFill>
                <a:srgbClr val="000000"/>
              </a:solidFill>
              <a:ln w="12700">
                <a:solidFill>
                  <a:srgbClr val="000000"/>
                </a:solidFill>
                <a:round/>
                <a:headEnd/>
                <a:tailEnd/>
              </a:ln>
            </p:spPr>
            <p:txBody>
              <a:bodyPr/>
              <a:lstStyle/>
              <a:p>
                <a:endParaRPr lang="tr-TR"/>
              </a:p>
            </p:txBody>
          </p:sp>
          <p:sp>
            <p:nvSpPr>
              <p:cNvPr id="12376" name="Freeform 119"/>
              <p:cNvSpPr>
                <a:spLocks/>
              </p:cNvSpPr>
              <p:nvPr/>
            </p:nvSpPr>
            <p:spPr bwMode="auto">
              <a:xfrm>
                <a:off x="3376" y="2400"/>
                <a:ext cx="64" cy="80"/>
              </a:xfrm>
              <a:custGeom>
                <a:avLst/>
                <a:gdLst>
                  <a:gd name="T0" fmla="*/ 64 w 64"/>
                  <a:gd name="T1" fmla="*/ 40 h 80"/>
                  <a:gd name="T2" fmla="*/ 0 w 64"/>
                  <a:gd name="T3" fmla="*/ 80 h 80"/>
                  <a:gd name="T4" fmla="*/ 24 w 64"/>
                  <a:gd name="T5" fmla="*/ 40 h 80"/>
                  <a:gd name="T6" fmla="*/ 0 w 64"/>
                  <a:gd name="T7" fmla="*/ 0 h 80"/>
                  <a:gd name="T8" fmla="*/ 64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64" y="40"/>
                    </a:moveTo>
                    <a:lnTo>
                      <a:pt x="0" y="80"/>
                    </a:lnTo>
                    <a:lnTo>
                      <a:pt x="24" y="40"/>
                    </a:lnTo>
                    <a:lnTo>
                      <a:pt x="0" y="0"/>
                    </a:lnTo>
                    <a:lnTo>
                      <a:pt x="64" y="40"/>
                    </a:lnTo>
                    <a:close/>
                  </a:path>
                </a:pathLst>
              </a:custGeom>
              <a:solidFill>
                <a:srgbClr val="000000"/>
              </a:solidFill>
              <a:ln w="12700">
                <a:solidFill>
                  <a:srgbClr val="000000"/>
                </a:solidFill>
                <a:round/>
                <a:headEnd/>
                <a:tailEnd/>
              </a:ln>
            </p:spPr>
            <p:txBody>
              <a:bodyPr/>
              <a:lstStyle/>
              <a:p>
                <a:endParaRPr lang="tr-TR"/>
              </a:p>
            </p:txBody>
          </p:sp>
          <p:sp>
            <p:nvSpPr>
              <p:cNvPr id="12377" name="Line 120"/>
              <p:cNvSpPr>
                <a:spLocks noChangeShapeType="1"/>
              </p:cNvSpPr>
              <p:nvPr/>
            </p:nvSpPr>
            <p:spPr bwMode="auto">
              <a:xfrm>
                <a:off x="3032" y="2440"/>
                <a:ext cx="36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2371" name="Rectangle 122"/>
            <p:cNvSpPr>
              <a:spLocks noChangeArrowheads="1"/>
            </p:cNvSpPr>
            <p:nvPr/>
          </p:nvSpPr>
          <p:spPr bwMode="auto">
            <a:xfrm>
              <a:off x="3088" y="2376"/>
              <a:ext cx="240"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72" name="Rectangle 123"/>
            <p:cNvSpPr>
              <a:spLocks noChangeArrowheads="1"/>
            </p:cNvSpPr>
            <p:nvPr/>
          </p:nvSpPr>
          <p:spPr bwMode="auto">
            <a:xfrm>
              <a:off x="3088" y="2376"/>
              <a:ext cx="23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400" b="0">
                  <a:solidFill>
                    <a:srgbClr val="000000"/>
                  </a:solidFill>
                </a:rPr>
                <a:t>4</a:t>
              </a:r>
              <a:r>
                <a:rPr lang="en-US" altLang="tr-TR" sz="800" b="0">
                  <a:solidFill>
                    <a:srgbClr val="000000"/>
                  </a:solidFill>
                </a:rPr>
                <a:t> </a:t>
              </a:r>
              <a:r>
                <a:rPr lang="en-US" altLang="tr-TR" sz="1400" b="0">
                  <a:solidFill>
                    <a:srgbClr val="000000"/>
                  </a:solidFill>
                  <a:latin typeface="Symbol" panose="05050102010706020507" pitchFamily="18" charset="2"/>
                </a:rPr>
                <a:t>m</a:t>
              </a:r>
              <a:r>
                <a:rPr lang="en-US" altLang="tr-TR" sz="1400" b="0">
                  <a:solidFill>
                    <a:srgbClr val="000000"/>
                  </a:solidFill>
                </a:rPr>
                <a:t>m</a:t>
              </a:r>
              <a:endParaRPr lang="en-US" altLang="tr-TR" sz="2400" b="0"/>
            </a:p>
          </p:txBody>
        </p:sp>
        <p:sp>
          <p:nvSpPr>
            <p:cNvPr id="12373" name="Line 129"/>
            <p:cNvSpPr>
              <a:spLocks noChangeShapeType="1"/>
            </p:cNvSpPr>
            <p:nvPr/>
          </p:nvSpPr>
          <p:spPr bwMode="auto">
            <a:xfrm>
              <a:off x="3512" y="2216"/>
              <a:ext cx="48" cy="72"/>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2374" name="Rectangle 130"/>
            <p:cNvSpPr>
              <a:spLocks noChangeArrowheads="1"/>
            </p:cNvSpPr>
            <p:nvPr/>
          </p:nvSpPr>
          <p:spPr bwMode="auto">
            <a:xfrm>
              <a:off x="2908" y="1860"/>
              <a:ext cx="600" cy="656"/>
            </a:xfrm>
            <a:prstGeom prst="rect">
              <a:avLst/>
            </a:prstGeom>
            <a:noFill/>
            <a:ln w="127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grpSp>
      <p:grpSp>
        <p:nvGrpSpPr>
          <p:cNvPr id="12338" name="Group 138"/>
          <p:cNvGrpSpPr>
            <a:grpSpLocks/>
          </p:cNvGrpSpPr>
          <p:nvPr/>
        </p:nvGrpSpPr>
        <p:grpSpPr bwMode="auto">
          <a:xfrm>
            <a:off x="3530600" y="3346450"/>
            <a:ext cx="971550" cy="1301750"/>
            <a:chOff x="2224" y="2108"/>
            <a:chExt cx="612" cy="820"/>
          </a:xfrm>
        </p:grpSpPr>
        <p:sp>
          <p:nvSpPr>
            <p:cNvPr id="12352" name="Oval 76"/>
            <p:cNvSpPr>
              <a:spLocks noChangeArrowheads="1"/>
            </p:cNvSpPr>
            <p:nvPr/>
          </p:nvSpPr>
          <p:spPr bwMode="auto">
            <a:xfrm>
              <a:off x="2632" y="2824"/>
              <a:ext cx="104" cy="104"/>
            </a:xfrm>
            <a:prstGeom prst="ellipse">
              <a:avLst/>
            </a:pr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pic>
          <p:nvPicPr>
            <p:cNvPr id="12353" name="Picture 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4" y="2112"/>
              <a:ext cx="600"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54" name="Rectangle 92"/>
            <p:cNvSpPr>
              <a:spLocks noChangeArrowheads="1"/>
            </p:cNvSpPr>
            <p:nvPr/>
          </p:nvSpPr>
          <p:spPr bwMode="auto">
            <a:xfrm>
              <a:off x="2224" y="2112"/>
              <a:ext cx="200"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55" name="Rectangle 93"/>
            <p:cNvSpPr>
              <a:spLocks noChangeArrowheads="1"/>
            </p:cNvSpPr>
            <p:nvPr/>
          </p:nvSpPr>
          <p:spPr bwMode="auto">
            <a:xfrm>
              <a:off x="2224" y="2112"/>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(b)</a:t>
              </a:r>
              <a:endParaRPr lang="en-US" altLang="tr-TR" sz="2400" b="0"/>
            </a:p>
          </p:txBody>
        </p:sp>
        <p:grpSp>
          <p:nvGrpSpPr>
            <p:cNvPr id="12356" name="Group 97"/>
            <p:cNvGrpSpPr>
              <a:grpSpLocks/>
            </p:cNvGrpSpPr>
            <p:nvPr/>
          </p:nvGrpSpPr>
          <p:grpSpPr bwMode="auto">
            <a:xfrm>
              <a:off x="2264" y="2648"/>
              <a:ext cx="456" cy="80"/>
              <a:chOff x="2264" y="2648"/>
              <a:chExt cx="456" cy="80"/>
            </a:xfrm>
          </p:grpSpPr>
          <p:sp>
            <p:nvSpPr>
              <p:cNvPr id="12361" name="Freeform 94"/>
              <p:cNvSpPr>
                <a:spLocks/>
              </p:cNvSpPr>
              <p:nvPr/>
            </p:nvSpPr>
            <p:spPr bwMode="auto">
              <a:xfrm>
                <a:off x="2264" y="2648"/>
                <a:ext cx="64" cy="80"/>
              </a:xfrm>
              <a:custGeom>
                <a:avLst/>
                <a:gdLst>
                  <a:gd name="T0" fmla="*/ 0 w 64"/>
                  <a:gd name="T1" fmla="*/ 40 h 80"/>
                  <a:gd name="T2" fmla="*/ 64 w 64"/>
                  <a:gd name="T3" fmla="*/ 0 h 80"/>
                  <a:gd name="T4" fmla="*/ 40 w 64"/>
                  <a:gd name="T5" fmla="*/ 40 h 80"/>
                  <a:gd name="T6" fmla="*/ 64 w 64"/>
                  <a:gd name="T7" fmla="*/ 80 h 80"/>
                  <a:gd name="T8" fmla="*/ 0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0" y="40"/>
                    </a:moveTo>
                    <a:lnTo>
                      <a:pt x="64" y="0"/>
                    </a:lnTo>
                    <a:lnTo>
                      <a:pt x="40" y="40"/>
                    </a:lnTo>
                    <a:lnTo>
                      <a:pt x="64" y="80"/>
                    </a:lnTo>
                    <a:lnTo>
                      <a:pt x="0" y="40"/>
                    </a:lnTo>
                    <a:close/>
                  </a:path>
                </a:pathLst>
              </a:custGeom>
              <a:solidFill>
                <a:srgbClr val="000000"/>
              </a:solidFill>
              <a:ln w="12700">
                <a:solidFill>
                  <a:srgbClr val="000000"/>
                </a:solidFill>
                <a:round/>
                <a:headEnd/>
                <a:tailEnd/>
              </a:ln>
            </p:spPr>
            <p:txBody>
              <a:bodyPr/>
              <a:lstStyle/>
              <a:p>
                <a:endParaRPr lang="tr-TR"/>
              </a:p>
            </p:txBody>
          </p:sp>
          <p:sp>
            <p:nvSpPr>
              <p:cNvPr id="12362" name="Freeform 95"/>
              <p:cNvSpPr>
                <a:spLocks/>
              </p:cNvSpPr>
              <p:nvPr/>
            </p:nvSpPr>
            <p:spPr bwMode="auto">
              <a:xfrm>
                <a:off x="2656" y="2648"/>
                <a:ext cx="64" cy="80"/>
              </a:xfrm>
              <a:custGeom>
                <a:avLst/>
                <a:gdLst>
                  <a:gd name="T0" fmla="*/ 64 w 64"/>
                  <a:gd name="T1" fmla="*/ 40 h 80"/>
                  <a:gd name="T2" fmla="*/ 0 w 64"/>
                  <a:gd name="T3" fmla="*/ 80 h 80"/>
                  <a:gd name="T4" fmla="*/ 24 w 64"/>
                  <a:gd name="T5" fmla="*/ 40 h 80"/>
                  <a:gd name="T6" fmla="*/ 0 w 64"/>
                  <a:gd name="T7" fmla="*/ 0 h 80"/>
                  <a:gd name="T8" fmla="*/ 64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64" y="40"/>
                    </a:moveTo>
                    <a:lnTo>
                      <a:pt x="0" y="80"/>
                    </a:lnTo>
                    <a:lnTo>
                      <a:pt x="24" y="40"/>
                    </a:lnTo>
                    <a:lnTo>
                      <a:pt x="0" y="0"/>
                    </a:lnTo>
                    <a:lnTo>
                      <a:pt x="64" y="40"/>
                    </a:lnTo>
                    <a:close/>
                  </a:path>
                </a:pathLst>
              </a:custGeom>
              <a:solidFill>
                <a:srgbClr val="000000"/>
              </a:solidFill>
              <a:ln w="12700">
                <a:solidFill>
                  <a:srgbClr val="000000"/>
                </a:solidFill>
                <a:round/>
                <a:headEnd/>
                <a:tailEnd/>
              </a:ln>
            </p:spPr>
            <p:txBody>
              <a:bodyPr/>
              <a:lstStyle/>
              <a:p>
                <a:endParaRPr lang="tr-TR"/>
              </a:p>
            </p:txBody>
          </p:sp>
          <p:sp>
            <p:nvSpPr>
              <p:cNvPr id="12363" name="Line 96"/>
              <p:cNvSpPr>
                <a:spLocks noChangeShapeType="1"/>
              </p:cNvSpPr>
              <p:nvPr/>
            </p:nvSpPr>
            <p:spPr bwMode="auto">
              <a:xfrm>
                <a:off x="2304" y="2688"/>
                <a:ext cx="37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2357" name="Rectangle 98"/>
            <p:cNvSpPr>
              <a:spLocks noChangeArrowheads="1"/>
            </p:cNvSpPr>
            <p:nvPr/>
          </p:nvSpPr>
          <p:spPr bwMode="auto">
            <a:xfrm>
              <a:off x="2344" y="2632"/>
              <a:ext cx="31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58" name="Rectangle 99"/>
            <p:cNvSpPr>
              <a:spLocks noChangeArrowheads="1"/>
            </p:cNvSpPr>
            <p:nvPr/>
          </p:nvSpPr>
          <p:spPr bwMode="auto">
            <a:xfrm>
              <a:off x="2344" y="2632"/>
              <a:ext cx="3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400" b="0">
                  <a:solidFill>
                    <a:srgbClr val="000000"/>
                  </a:solidFill>
                </a:rPr>
                <a:t>30</a:t>
              </a:r>
              <a:r>
                <a:rPr lang="en-US" altLang="tr-TR" sz="800" b="0">
                  <a:solidFill>
                    <a:srgbClr val="000000"/>
                  </a:solidFill>
                </a:rPr>
                <a:t> </a:t>
              </a:r>
              <a:r>
                <a:rPr lang="en-US" altLang="tr-TR" sz="1400" b="0">
                  <a:solidFill>
                    <a:srgbClr val="000000"/>
                  </a:solidFill>
                  <a:latin typeface="Symbol" panose="05050102010706020507" pitchFamily="18" charset="2"/>
                </a:rPr>
                <a:t>m</a:t>
              </a:r>
              <a:r>
                <a:rPr lang="en-US" altLang="tr-TR" sz="1400" b="0">
                  <a:solidFill>
                    <a:srgbClr val="000000"/>
                  </a:solidFill>
                </a:rPr>
                <a:t>m</a:t>
              </a:r>
              <a:endParaRPr lang="en-US" altLang="tr-TR" sz="2400" b="0"/>
            </a:p>
          </p:txBody>
        </p:sp>
        <p:sp>
          <p:nvSpPr>
            <p:cNvPr id="12359" name="Rectangle 131"/>
            <p:cNvSpPr>
              <a:spLocks noChangeArrowheads="1"/>
            </p:cNvSpPr>
            <p:nvPr/>
          </p:nvSpPr>
          <p:spPr bwMode="auto">
            <a:xfrm>
              <a:off x="2228" y="2108"/>
              <a:ext cx="608" cy="656"/>
            </a:xfrm>
            <a:prstGeom prst="rect">
              <a:avLst/>
            </a:prstGeom>
            <a:noFill/>
            <a:ln w="127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60" name="Line 132"/>
            <p:cNvSpPr>
              <a:spLocks noChangeShapeType="1"/>
            </p:cNvSpPr>
            <p:nvPr/>
          </p:nvSpPr>
          <p:spPr bwMode="auto">
            <a:xfrm>
              <a:off x="2600" y="2768"/>
              <a:ext cx="40" cy="64"/>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endParaRPr lang="tr-TR"/>
            </a:p>
          </p:txBody>
        </p:sp>
      </p:grpSp>
      <p:grpSp>
        <p:nvGrpSpPr>
          <p:cNvPr id="12339" name="Group 139"/>
          <p:cNvGrpSpPr>
            <a:grpSpLocks/>
          </p:cNvGrpSpPr>
          <p:nvPr/>
        </p:nvGrpSpPr>
        <p:grpSpPr bwMode="auto">
          <a:xfrm>
            <a:off x="2508250" y="3517900"/>
            <a:ext cx="901700" cy="1333500"/>
            <a:chOff x="1580" y="2216"/>
            <a:chExt cx="568" cy="840"/>
          </a:xfrm>
        </p:grpSpPr>
        <p:sp>
          <p:nvSpPr>
            <p:cNvPr id="12340" name="Oval 75"/>
            <p:cNvSpPr>
              <a:spLocks noChangeArrowheads="1"/>
            </p:cNvSpPr>
            <p:nvPr/>
          </p:nvSpPr>
          <p:spPr bwMode="auto">
            <a:xfrm>
              <a:off x="1624" y="2952"/>
              <a:ext cx="104" cy="104"/>
            </a:xfrm>
            <a:prstGeom prst="ellipse">
              <a:avLst/>
            </a:pr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pic>
          <p:nvPicPr>
            <p:cNvPr id="12341"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2" y="2224"/>
              <a:ext cx="552"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42" name="Rectangle 80"/>
            <p:cNvSpPr>
              <a:spLocks noChangeArrowheads="1"/>
            </p:cNvSpPr>
            <p:nvPr/>
          </p:nvSpPr>
          <p:spPr bwMode="auto">
            <a:xfrm>
              <a:off x="1592" y="2216"/>
              <a:ext cx="200"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43" name="Rectangle 81"/>
            <p:cNvSpPr>
              <a:spLocks noChangeArrowheads="1"/>
            </p:cNvSpPr>
            <p:nvPr/>
          </p:nvSpPr>
          <p:spPr bwMode="auto">
            <a:xfrm>
              <a:off x="1592" y="2216"/>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800" b="0">
                  <a:solidFill>
                    <a:srgbClr val="000000"/>
                  </a:solidFill>
                </a:rPr>
                <a:t>(a)</a:t>
              </a:r>
              <a:endParaRPr lang="en-US" altLang="tr-TR" sz="2400" b="0"/>
            </a:p>
          </p:txBody>
        </p:sp>
        <p:grpSp>
          <p:nvGrpSpPr>
            <p:cNvPr id="12344" name="Group 85"/>
            <p:cNvGrpSpPr>
              <a:grpSpLocks/>
            </p:cNvGrpSpPr>
            <p:nvPr/>
          </p:nvGrpSpPr>
          <p:grpSpPr bwMode="auto">
            <a:xfrm>
              <a:off x="1632" y="2760"/>
              <a:ext cx="456" cy="80"/>
              <a:chOff x="1632" y="2760"/>
              <a:chExt cx="456" cy="80"/>
            </a:xfrm>
          </p:grpSpPr>
          <p:sp>
            <p:nvSpPr>
              <p:cNvPr id="12349" name="Freeform 82"/>
              <p:cNvSpPr>
                <a:spLocks/>
              </p:cNvSpPr>
              <p:nvPr/>
            </p:nvSpPr>
            <p:spPr bwMode="auto">
              <a:xfrm>
                <a:off x="1632" y="2760"/>
                <a:ext cx="64" cy="80"/>
              </a:xfrm>
              <a:custGeom>
                <a:avLst/>
                <a:gdLst>
                  <a:gd name="T0" fmla="*/ 0 w 64"/>
                  <a:gd name="T1" fmla="*/ 40 h 80"/>
                  <a:gd name="T2" fmla="*/ 64 w 64"/>
                  <a:gd name="T3" fmla="*/ 0 h 80"/>
                  <a:gd name="T4" fmla="*/ 40 w 64"/>
                  <a:gd name="T5" fmla="*/ 40 h 80"/>
                  <a:gd name="T6" fmla="*/ 64 w 64"/>
                  <a:gd name="T7" fmla="*/ 80 h 80"/>
                  <a:gd name="T8" fmla="*/ 0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0" y="40"/>
                    </a:moveTo>
                    <a:lnTo>
                      <a:pt x="64" y="0"/>
                    </a:lnTo>
                    <a:lnTo>
                      <a:pt x="40" y="40"/>
                    </a:lnTo>
                    <a:lnTo>
                      <a:pt x="64" y="80"/>
                    </a:lnTo>
                    <a:lnTo>
                      <a:pt x="0" y="40"/>
                    </a:lnTo>
                    <a:close/>
                  </a:path>
                </a:pathLst>
              </a:custGeom>
              <a:solidFill>
                <a:srgbClr val="000000"/>
              </a:solidFill>
              <a:ln w="12700">
                <a:solidFill>
                  <a:srgbClr val="000000"/>
                </a:solidFill>
                <a:round/>
                <a:headEnd/>
                <a:tailEnd/>
              </a:ln>
            </p:spPr>
            <p:txBody>
              <a:bodyPr/>
              <a:lstStyle/>
              <a:p>
                <a:endParaRPr lang="tr-TR"/>
              </a:p>
            </p:txBody>
          </p:sp>
          <p:sp>
            <p:nvSpPr>
              <p:cNvPr id="12350" name="Freeform 83"/>
              <p:cNvSpPr>
                <a:spLocks/>
              </p:cNvSpPr>
              <p:nvPr/>
            </p:nvSpPr>
            <p:spPr bwMode="auto">
              <a:xfrm>
                <a:off x="2024" y="2760"/>
                <a:ext cx="64" cy="80"/>
              </a:xfrm>
              <a:custGeom>
                <a:avLst/>
                <a:gdLst>
                  <a:gd name="T0" fmla="*/ 64 w 64"/>
                  <a:gd name="T1" fmla="*/ 40 h 80"/>
                  <a:gd name="T2" fmla="*/ 0 w 64"/>
                  <a:gd name="T3" fmla="*/ 80 h 80"/>
                  <a:gd name="T4" fmla="*/ 24 w 64"/>
                  <a:gd name="T5" fmla="*/ 40 h 80"/>
                  <a:gd name="T6" fmla="*/ 0 w 64"/>
                  <a:gd name="T7" fmla="*/ 0 h 80"/>
                  <a:gd name="T8" fmla="*/ 64 w 64"/>
                  <a:gd name="T9" fmla="*/ 40 h 80"/>
                  <a:gd name="T10" fmla="*/ 0 60000 65536"/>
                  <a:gd name="T11" fmla="*/ 0 60000 65536"/>
                  <a:gd name="T12" fmla="*/ 0 60000 65536"/>
                  <a:gd name="T13" fmla="*/ 0 60000 65536"/>
                  <a:gd name="T14" fmla="*/ 0 60000 65536"/>
                  <a:gd name="T15" fmla="*/ 0 w 64"/>
                  <a:gd name="T16" fmla="*/ 0 h 80"/>
                  <a:gd name="T17" fmla="*/ 64 w 64"/>
                  <a:gd name="T18" fmla="*/ 80 h 80"/>
                </a:gdLst>
                <a:ahLst/>
                <a:cxnLst>
                  <a:cxn ang="T10">
                    <a:pos x="T0" y="T1"/>
                  </a:cxn>
                  <a:cxn ang="T11">
                    <a:pos x="T2" y="T3"/>
                  </a:cxn>
                  <a:cxn ang="T12">
                    <a:pos x="T4" y="T5"/>
                  </a:cxn>
                  <a:cxn ang="T13">
                    <a:pos x="T6" y="T7"/>
                  </a:cxn>
                  <a:cxn ang="T14">
                    <a:pos x="T8" y="T9"/>
                  </a:cxn>
                </a:cxnLst>
                <a:rect l="T15" t="T16" r="T17" b="T18"/>
                <a:pathLst>
                  <a:path w="64" h="80">
                    <a:moveTo>
                      <a:pt x="64" y="40"/>
                    </a:moveTo>
                    <a:lnTo>
                      <a:pt x="0" y="80"/>
                    </a:lnTo>
                    <a:lnTo>
                      <a:pt x="24" y="40"/>
                    </a:lnTo>
                    <a:lnTo>
                      <a:pt x="0" y="0"/>
                    </a:lnTo>
                    <a:lnTo>
                      <a:pt x="64" y="40"/>
                    </a:lnTo>
                    <a:close/>
                  </a:path>
                </a:pathLst>
              </a:custGeom>
              <a:solidFill>
                <a:srgbClr val="000000"/>
              </a:solidFill>
              <a:ln w="12700">
                <a:solidFill>
                  <a:srgbClr val="000000"/>
                </a:solidFill>
                <a:round/>
                <a:headEnd/>
                <a:tailEnd/>
              </a:ln>
            </p:spPr>
            <p:txBody>
              <a:bodyPr/>
              <a:lstStyle/>
              <a:p>
                <a:endParaRPr lang="tr-TR"/>
              </a:p>
            </p:txBody>
          </p:sp>
          <p:sp>
            <p:nvSpPr>
              <p:cNvPr id="12351" name="Line 84"/>
              <p:cNvSpPr>
                <a:spLocks noChangeShapeType="1"/>
              </p:cNvSpPr>
              <p:nvPr/>
            </p:nvSpPr>
            <p:spPr bwMode="auto">
              <a:xfrm>
                <a:off x="1672" y="2800"/>
                <a:ext cx="37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2345" name="Rectangle 86"/>
            <p:cNvSpPr>
              <a:spLocks noChangeArrowheads="1"/>
            </p:cNvSpPr>
            <p:nvPr/>
          </p:nvSpPr>
          <p:spPr bwMode="auto">
            <a:xfrm>
              <a:off x="1704" y="2736"/>
              <a:ext cx="31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46" name="Rectangle 87"/>
            <p:cNvSpPr>
              <a:spLocks noChangeArrowheads="1"/>
            </p:cNvSpPr>
            <p:nvPr/>
          </p:nvSpPr>
          <p:spPr bwMode="auto">
            <a:xfrm>
              <a:off x="1704" y="2736"/>
              <a:ext cx="3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400" b="0">
                  <a:solidFill>
                    <a:srgbClr val="000000"/>
                  </a:solidFill>
                </a:rPr>
                <a:t>30</a:t>
              </a:r>
              <a:r>
                <a:rPr lang="en-US" altLang="tr-TR" sz="800" b="0">
                  <a:solidFill>
                    <a:srgbClr val="000000"/>
                  </a:solidFill>
                </a:rPr>
                <a:t> </a:t>
              </a:r>
              <a:r>
                <a:rPr lang="en-US" altLang="tr-TR" sz="1400" b="0">
                  <a:solidFill>
                    <a:srgbClr val="000000"/>
                  </a:solidFill>
                  <a:latin typeface="Symbol" panose="05050102010706020507" pitchFamily="18" charset="2"/>
                </a:rPr>
                <a:t>m</a:t>
              </a:r>
              <a:r>
                <a:rPr lang="en-US" altLang="tr-TR" sz="1400" b="0">
                  <a:solidFill>
                    <a:srgbClr val="000000"/>
                  </a:solidFill>
                </a:rPr>
                <a:t>m</a:t>
              </a:r>
              <a:endParaRPr lang="en-US" altLang="tr-TR" sz="2400" b="0"/>
            </a:p>
          </p:txBody>
        </p:sp>
        <p:sp>
          <p:nvSpPr>
            <p:cNvPr id="12347" name="Rectangle 133"/>
            <p:cNvSpPr>
              <a:spLocks noChangeArrowheads="1"/>
            </p:cNvSpPr>
            <p:nvPr/>
          </p:nvSpPr>
          <p:spPr bwMode="auto">
            <a:xfrm>
              <a:off x="1580" y="2220"/>
              <a:ext cx="568" cy="656"/>
            </a:xfrm>
            <a:prstGeom prst="rect">
              <a:avLst/>
            </a:prstGeom>
            <a:noFill/>
            <a:ln w="127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tr-TR" altLang="tr-TR" sz="2400" b="0"/>
            </a:p>
          </p:txBody>
        </p:sp>
        <p:sp>
          <p:nvSpPr>
            <p:cNvPr id="12348" name="Line 134"/>
            <p:cNvSpPr>
              <a:spLocks noChangeShapeType="1"/>
            </p:cNvSpPr>
            <p:nvPr/>
          </p:nvSpPr>
          <p:spPr bwMode="auto">
            <a:xfrm flipV="1">
              <a:off x="1712" y="2880"/>
              <a:ext cx="88" cy="88"/>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endParaRPr lang="tr-TR"/>
            </a:p>
          </p:txBody>
        </p:sp>
      </p:grpSp>
      <p:pic>
        <p:nvPicPr>
          <p:cNvPr id="107" name="Picture 106" descr="iyte logo.jpe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2395" name="TextBox 12394"/>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72474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21</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921477"/>
            <a:ext cx="8507345" cy="2246769"/>
          </a:xfrm>
          <a:prstGeom prst="rect">
            <a:avLst/>
          </a:prstGeom>
          <a:noFill/>
        </p:spPr>
        <p:txBody>
          <a:bodyPr wrap="square" rtlCol="0">
            <a:spAutoFit/>
          </a:bodyPr>
          <a:lstStyle/>
          <a:p>
            <a:r>
              <a:rPr lang="tr-TR" sz="2800" b="1" kern="0">
                <a:solidFill>
                  <a:srgbClr val="C00000"/>
                </a:solidFill>
              </a:rPr>
              <a:t>Materials in different fields</a:t>
            </a:r>
          </a:p>
          <a:p>
            <a:endParaRPr lang="tr-TR" sz="2000" kern="0"/>
          </a:p>
          <a:p>
            <a:r>
              <a:rPr lang="tr-TR" sz="2000" kern="0"/>
              <a:t>Civil Engineering</a:t>
            </a:r>
          </a:p>
          <a:p>
            <a:endParaRPr lang="tr-TR" kern="0"/>
          </a:p>
          <a:p>
            <a:endParaRPr lang="tr-TR" kern="0"/>
          </a:p>
          <a:p>
            <a:endParaRPr lang="tr-TR" kern="0"/>
          </a:p>
        </p:txBody>
      </p:sp>
      <p:pic>
        <p:nvPicPr>
          <p:cNvPr id="4" name="Picture 3"/>
          <p:cNvPicPr>
            <a:picLocks noChangeAspect="1"/>
          </p:cNvPicPr>
          <p:nvPr/>
        </p:nvPicPr>
        <p:blipFill rotWithShape="1">
          <a:blip r:embed="rId3"/>
          <a:srcRect l="51395" t="24315" r="2791" b="33515"/>
          <a:stretch/>
        </p:blipFill>
        <p:spPr>
          <a:xfrm>
            <a:off x="745287" y="2287580"/>
            <a:ext cx="7221886" cy="3739251"/>
          </a:xfrm>
          <a:prstGeom prst="rect">
            <a:avLst/>
          </a:prstGeom>
        </p:spPr>
      </p:pic>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057896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22</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921477"/>
            <a:ext cx="8507345" cy="2246769"/>
          </a:xfrm>
          <a:prstGeom prst="rect">
            <a:avLst/>
          </a:prstGeom>
          <a:noFill/>
        </p:spPr>
        <p:txBody>
          <a:bodyPr wrap="square" rtlCol="0">
            <a:spAutoFit/>
          </a:bodyPr>
          <a:lstStyle/>
          <a:p>
            <a:r>
              <a:rPr lang="tr-TR" sz="2800" b="1" kern="0">
                <a:solidFill>
                  <a:srgbClr val="C00000"/>
                </a:solidFill>
              </a:rPr>
              <a:t>Historical Perspective</a:t>
            </a:r>
          </a:p>
          <a:p>
            <a:endParaRPr lang="tr-TR" sz="2000" kern="0"/>
          </a:p>
          <a:p>
            <a:r>
              <a:rPr lang="tr-TR" sz="2000" kern="0"/>
              <a:t>Materials drive our society</a:t>
            </a:r>
          </a:p>
          <a:p>
            <a:endParaRPr lang="tr-TR" kern="0"/>
          </a:p>
          <a:p>
            <a:endParaRPr lang="tr-TR" kern="0"/>
          </a:p>
          <a:p>
            <a:endParaRPr lang="tr-TR" kern="0"/>
          </a:p>
        </p:txBody>
      </p:sp>
      <p:pic>
        <p:nvPicPr>
          <p:cNvPr id="4" name="Picture 3"/>
          <p:cNvPicPr>
            <a:picLocks noChangeAspect="1"/>
          </p:cNvPicPr>
          <p:nvPr/>
        </p:nvPicPr>
        <p:blipFill rotWithShape="1">
          <a:blip r:embed="rId3"/>
          <a:srcRect l="52982" t="34757" r="6228" b="15652"/>
          <a:stretch/>
        </p:blipFill>
        <p:spPr>
          <a:xfrm>
            <a:off x="70095" y="2264856"/>
            <a:ext cx="6312475" cy="4316919"/>
          </a:xfrm>
          <a:prstGeom prst="rect">
            <a:avLst/>
          </a:prstGeom>
        </p:spPr>
      </p:pic>
      <p:pic>
        <p:nvPicPr>
          <p:cNvPr id="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870"/>
          <a:stretch/>
        </p:blipFill>
        <p:spPr bwMode="auto">
          <a:xfrm>
            <a:off x="6108109" y="1385898"/>
            <a:ext cx="3035891" cy="312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sp>
        <p:nvSpPr>
          <p:cNvPr id="7" name="TextBox 6"/>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765319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23</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921477"/>
            <a:ext cx="8507345" cy="2246769"/>
          </a:xfrm>
          <a:prstGeom prst="rect">
            <a:avLst/>
          </a:prstGeom>
          <a:noFill/>
        </p:spPr>
        <p:txBody>
          <a:bodyPr wrap="square" rtlCol="0">
            <a:spAutoFit/>
          </a:bodyPr>
          <a:lstStyle/>
          <a:p>
            <a:r>
              <a:rPr lang="tr-TR" sz="2800" b="1" kern="0">
                <a:solidFill>
                  <a:srgbClr val="C00000"/>
                </a:solidFill>
              </a:rPr>
              <a:t>Materials in different fields</a:t>
            </a:r>
          </a:p>
          <a:p>
            <a:endParaRPr lang="tr-TR" sz="2000" kern="0"/>
          </a:p>
          <a:p>
            <a:r>
              <a:rPr lang="tr-TR" sz="2000" kern="0"/>
              <a:t>Electrical Engineering</a:t>
            </a:r>
          </a:p>
          <a:p>
            <a:endParaRPr lang="tr-TR" kern="0"/>
          </a:p>
          <a:p>
            <a:endParaRPr lang="tr-TR" kern="0"/>
          </a:p>
          <a:p>
            <a:endParaRPr lang="tr-TR" kern="0"/>
          </a:p>
        </p:txBody>
      </p:sp>
      <p:pic>
        <p:nvPicPr>
          <p:cNvPr id="6" name="Picture 5"/>
          <p:cNvPicPr>
            <a:picLocks noChangeAspect="1"/>
          </p:cNvPicPr>
          <p:nvPr/>
        </p:nvPicPr>
        <p:blipFill rotWithShape="1">
          <a:blip r:embed="rId3"/>
          <a:srcRect l="56163" t="31550" r="6862" b="19230"/>
          <a:stretch/>
        </p:blipFill>
        <p:spPr>
          <a:xfrm>
            <a:off x="965714" y="2160151"/>
            <a:ext cx="5809990" cy="4350377"/>
          </a:xfrm>
          <a:prstGeom prst="rect">
            <a:avLst/>
          </a:prstGeom>
        </p:spPr>
      </p:pic>
      <p:sp>
        <p:nvSpPr>
          <p:cNvPr id="7" name="TextBox 6"/>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7055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24</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921477"/>
            <a:ext cx="8507345" cy="2246769"/>
          </a:xfrm>
          <a:prstGeom prst="rect">
            <a:avLst/>
          </a:prstGeom>
          <a:noFill/>
        </p:spPr>
        <p:txBody>
          <a:bodyPr wrap="square" rtlCol="0">
            <a:spAutoFit/>
          </a:bodyPr>
          <a:lstStyle/>
          <a:p>
            <a:r>
              <a:rPr lang="tr-TR" sz="2800" b="1" kern="0">
                <a:solidFill>
                  <a:srgbClr val="C00000"/>
                </a:solidFill>
              </a:rPr>
              <a:t>Materials in different fields</a:t>
            </a:r>
          </a:p>
          <a:p>
            <a:endParaRPr lang="tr-TR" sz="2000" kern="0"/>
          </a:p>
          <a:p>
            <a:r>
              <a:rPr lang="tr-TR" sz="2000" kern="0"/>
              <a:t>Aerospace Engineering</a:t>
            </a:r>
          </a:p>
          <a:p>
            <a:endParaRPr lang="tr-TR" kern="0"/>
          </a:p>
          <a:p>
            <a:endParaRPr lang="tr-TR" kern="0"/>
          </a:p>
          <a:p>
            <a:endParaRPr lang="tr-TR" kern="0"/>
          </a:p>
        </p:txBody>
      </p:sp>
      <p:pic>
        <p:nvPicPr>
          <p:cNvPr id="4" name="Picture 3"/>
          <p:cNvPicPr>
            <a:picLocks noChangeAspect="1"/>
          </p:cNvPicPr>
          <p:nvPr/>
        </p:nvPicPr>
        <p:blipFill rotWithShape="1">
          <a:blip r:embed="rId3"/>
          <a:srcRect l="57544" t="42866" r="8509" b="23450"/>
          <a:stretch/>
        </p:blipFill>
        <p:spPr>
          <a:xfrm>
            <a:off x="1251284" y="2438401"/>
            <a:ext cx="6208296" cy="3465094"/>
          </a:xfrm>
          <a:prstGeom prst="rect">
            <a:avLst/>
          </a:prstGeom>
        </p:spPr>
      </p:pic>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460450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E79CE70-D47B-4EB9-812D-F9B7053FBB83}" type="slidenum">
              <a:rPr lang="en-US" altLang="tr-TR" sz="1200" b="0"/>
              <a:pPr>
                <a:spcBef>
                  <a:spcPct val="0"/>
                </a:spcBef>
                <a:buFontTx/>
                <a:buNone/>
              </a:pPr>
              <a:t>25</a:t>
            </a:fld>
            <a:endParaRPr lang="en-US" altLang="tr-TR" sz="1200" b="0"/>
          </a:p>
        </p:txBody>
      </p:sp>
      <p:sp>
        <p:nvSpPr>
          <p:cNvPr id="13315" name="Rectangle 2"/>
          <p:cNvSpPr>
            <a:spLocks noGrp="1" noChangeArrowheads="1"/>
          </p:cNvSpPr>
          <p:nvPr>
            <p:ph type="title"/>
          </p:nvPr>
        </p:nvSpPr>
        <p:spPr/>
        <p:txBody>
          <a:bodyPr/>
          <a:lstStyle/>
          <a:p>
            <a:r>
              <a:rPr lang="en-US" altLang="tr-TR">
                <a:ea typeface="ＭＳ Ｐゴシック" panose="020B0600070205080204" pitchFamily="34" charset="-128"/>
              </a:rPr>
              <a:t>Types of Materials</a:t>
            </a:r>
            <a:endParaRPr lang="en-US" altLang="tr-TR">
              <a:ea typeface="ＭＳ Ｐゴシック" panose="020B0600070205080204" pitchFamily="34" charset="-128"/>
              <a:cs typeface="Times New Roman" panose="02020603050405020304" pitchFamily="18" charset="0"/>
            </a:endParaRPr>
          </a:p>
        </p:txBody>
      </p:sp>
      <p:sp>
        <p:nvSpPr>
          <p:cNvPr id="5" name="Rectangle 3"/>
          <p:cNvSpPr txBox="1">
            <a:spLocks noChangeArrowheads="1"/>
          </p:cNvSpPr>
          <p:nvPr/>
        </p:nvSpPr>
        <p:spPr bwMode="auto">
          <a:xfrm>
            <a:off x="685800" y="990600"/>
            <a:ext cx="7796213" cy="1501775"/>
          </a:xfrm>
          <a:prstGeom prst="rect">
            <a:avLst/>
          </a:prstGeom>
          <a:noFill/>
          <a:ln w="9525">
            <a:noFill/>
            <a:miter lim="800000"/>
            <a:headEnd/>
            <a:tailEnd/>
          </a:ln>
          <a:effectLst/>
        </p:spPr>
        <p:txBody>
          <a:bodyPr/>
          <a:lstStyle/>
          <a:p>
            <a:pPr marL="342900" indent="-342900">
              <a:lnSpc>
                <a:spcPct val="90000"/>
              </a:lnSpc>
              <a:spcBef>
                <a:spcPct val="20000"/>
              </a:spcBef>
              <a:buFontTx/>
              <a:buChar char="•"/>
              <a:defRPr/>
            </a:pPr>
            <a:r>
              <a:rPr lang="en-US" kern="0">
                <a:solidFill>
                  <a:srgbClr val="FF0000"/>
                </a:solidFill>
                <a:latin typeface="+mn-lt"/>
                <a:ea typeface="+mn-ea"/>
                <a:cs typeface="Times New Roman" pitchFamily="16" charset="0"/>
              </a:rPr>
              <a:t>Metals</a:t>
            </a:r>
            <a:r>
              <a:rPr lang="en-US" sz="2000" kern="0">
                <a:latin typeface="+mn-lt"/>
                <a:ea typeface="+mn-ea"/>
                <a:cs typeface="Times New Roman" pitchFamily="16" charset="0"/>
              </a:rPr>
              <a:t>:  </a:t>
            </a:r>
          </a:p>
          <a:p>
            <a:pPr marL="742950" lvl="1" indent="-285750">
              <a:lnSpc>
                <a:spcPct val="90000"/>
              </a:lnSpc>
              <a:spcBef>
                <a:spcPct val="20000"/>
              </a:spcBef>
              <a:buFontTx/>
              <a:buChar char="–"/>
              <a:defRPr/>
            </a:pPr>
            <a:r>
              <a:rPr lang="en-US" sz="2000" kern="0">
                <a:latin typeface="+mn-lt"/>
                <a:ea typeface="+mn-ea"/>
                <a:cs typeface="Times New Roman" pitchFamily="16" charset="0"/>
              </a:rPr>
              <a:t>Strong, ductile</a:t>
            </a:r>
          </a:p>
          <a:p>
            <a:pPr marL="742950" lvl="1" indent="-285750">
              <a:lnSpc>
                <a:spcPct val="90000"/>
              </a:lnSpc>
              <a:spcBef>
                <a:spcPct val="20000"/>
              </a:spcBef>
              <a:buFontTx/>
              <a:buChar char="–"/>
              <a:defRPr/>
            </a:pPr>
            <a:r>
              <a:rPr lang="en-US" sz="2000" kern="0">
                <a:latin typeface="+mn-lt"/>
                <a:ea typeface="+mn-ea"/>
                <a:cs typeface="Times New Roman" pitchFamily="16" charset="0"/>
              </a:rPr>
              <a:t>High thermal &amp; electrical conductivity</a:t>
            </a:r>
          </a:p>
          <a:p>
            <a:pPr marL="742950" lvl="1" indent="-285750">
              <a:lnSpc>
                <a:spcPct val="90000"/>
              </a:lnSpc>
              <a:spcBef>
                <a:spcPct val="20000"/>
              </a:spcBef>
              <a:buFontTx/>
              <a:buChar char="–"/>
              <a:defRPr/>
            </a:pPr>
            <a:r>
              <a:rPr lang="en-US" sz="2000" kern="0">
                <a:latin typeface="+mn-lt"/>
                <a:ea typeface="+mn-ea"/>
                <a:cs typeface="Times New Roman" pitchFamily="16" charset="0"/>
              </a:rPr>
              <a:t>Opaque, reflective.</a:t>
            </a:r>
          </a:p>
        </p:txBody>
      </p:sp>
      <p:sp>
        <p:nvSpPr>
          <p:cNvPr id="6" name="Rectangle 3"/>
          <p:cNvSpPr txBox="1">
            <a:spLocks noChangeArrowheads="1"/>
          </p:cNvSpPr>
          <p:nvPr/>
        </p:nvSpPr>
        <p:spPr bwMode="auto">
          <a:xfrm>
            <a:off x="685800" y="2667000"/>
            <a:ext cx="7796213"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US" altLang="tr-TR" sz="2400" b="0">
                <a:solidFill>
                  <a:srgbClr val="00CC00"/>
                </a:solidFill>
                <a:cs typeface="Times New Roman" panose="02020603050405020304" pitchFamily="18" charset="0"/>
              </a:rPr>
              <a:t>Polymers/plastics</a:t>
            </a:r>
            <a:r>
              <a:rPr lang="en-US" altLang="tr-TR" sz="2000" b="0">
                <a:cs typeface="Times New Roman" panose="02020603050405020304" pitchFamily="18" charset="0"/>
              </a:rPr>
              <a:t>: Covalent bonding </a:t>
            </a:r>
            <a:r>
              <a:rPr lang="en-US" altLang="tr-TR" sz="2000" b="0">
                <a:cs typeface="Times New Roman" panose="02020603050405020304" pitchFamily="18" charset="0"/>
                <a:sym typeface="Wingdings" panose="05000000000000000000" pitchFamily="2" charset="2"/>
              </a:rPr>
              <a:t></a:t>
            </a:r>
            <a:r>
              <a:rPr lang="en-US" altLang="tr-TR" sz="2000" b="0">
                <a:cs typeface="Times New Roman" panose="02020603050405020304" pitchFamily="18" charset="0"/>
              </a:rPr>
              <a:t>  sharing of e’s</a:t>
            </a:r>
          </a:p>
          <a:p>
            <a:pPr lvl="1">
              <a:lnSpc>
                <a:spcPct val="90000"/>
              </a:lnSpc>
            </a:pPr>
            <a:r>
              <a:rPr lang="en-US" altLang="tr-TR" sz="2000" b="0">
                <a:cs typeface="Times New Roman" panose="02020603050405020304" pitchFamily="18" charset="0"/>
              </a:rPr>
              <a:t>Soft, ductile, low strength, low density</a:t>
            </a:r>
          </a:p>
          <a:p>
            <a:pPr lvl="1">
              <a:lnSpc>
                <a:spcPct val="90000"/>
              </a:lnSpc>
            </a:pPr>
            <a:r>
              <a:rPr lang="en-US" altLang="tr-TR" sz="2000" b="0">
                <a:cs typeface="Times New Roman" panose="02020603050405020304" pitchFamily="18" charset="0"/>
              </a:rPr>
              <a:t>Thermal &amp; electrical insulators</a:t>
            </a:r>
          </a:p>
          <a:p>
            <a:pPr lvl="1">
              <a:lnSpc>
                <a:spcPct val="90000"/>
              </a:lnSpc>
            </a:pPr>
            <a:r>
              <a:rPr lang="en-US" altLang="tr-TR" sz="2000" b="0">
                <a:cs typeface="Times New Roman" panose="02020603050405020304" pitchFamily="18" charset="0"/>
              </a:rPr>
              <a:t>Optically translucent or transparent.</a:t>
            </a:r>
          </a:p>
        </p:txBody>
      </p:sp>
      <p:sp>
        <p:nvSpPr>
          <p:cNvPr id="10" name="Rectangle 3"/>
          <p:cNvSpPr txBox="1">
            <a:spLocks noChangeArrowheads="1"/>
          </p:cNvSpPr>
          <p:nvPr/>
        </p:nvSpPr>
        <p:spPr bwMode="auto">
          <a:xfrm>
            <a:off x="685800" y="4343400"/>
            <a:ext cx="7796213"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US" altLang="tr-TR" sz="2400" b="0">
                <a:solidFill>
                  <a:srgbClr val="0000FF"/>
                </a:solidFill>
                <a:cs typeface="Times New Roman" panose="02020603050405020304" pitchFamily="18" charset="0"/>
              </a:rPr>
              <a:t>Ceramics</a:t>
            </a:r>
            <a:r>
              <a:rPr lang="en-US" altLang="tr-TR" sz="2000" b="0">
                <a:cs typeface="Times New Roman" panose="02020603050405020304" pitchFamily="18" charset="0"/>
              </a:rPr>
              <a:t>: ionic bonding (refractory) – compounds of metallic &amp; non-metallic elements (oxides, carbides, nitrides, sulfides)</a:t>
            </a:r>
          </a:p>
          <a:p>
            <a:pPr lvl="1">
              <a:lnSpc>
                <a:spcPct val="90000"/>
              </a:lnSpc>
            </a:pPr>
            <a:r>
              <a:rPr lang="en-US" altLang="tr-TR" sz="2000" b="0">
                <a:cs typeface="Times New Roman" panose="02020603050405020304" pitchFamily="18" charset="0"/>
              </a:rPr>
              <a:t>Brittle, glassy, elastic</a:t>
            </a:r>
          </a:p>
          <a:p>
            <a:pPr lvl="1">
              <a:lnSpc>
                <a:spcPct val="90000"/>
              </a:lnSpc>
            </a:pPr>
            <a:r>
              <a:rPr lang="en-US" altLang="tr-TR" sz="2000" b="0">
                <a:cs typeface="Times New Roman" panose="02020603050405020304" pitchFamily="18" charset="0"/>
              </a:rPr>
              <a:t>Non-conducting (insulators)</a:t>
            </a:r>
          </a:p>
        </p:txBody>
      </p:sp>
      <p:sp>
        <p:nvSpPr>
          <p:cNvPr id="7" name="Rectangle 3"/>
          <p:cNvSpPr txBox="1">
            <a:spLocks noChangeArrowheads="1"/>
          </p:cNvSpPr>
          <p:nvPr/>
        </p:nvSpPr>
        <p:spPr bwMode="auto">
          <a:xfrm>
            <a:off x="685800" y="5841816"/>
            <a:ext cx="8237538"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US" altLang="tr-TR" sz="2400" b="0">
                <a:solidFill>
                  <a:srgbClr val="FFC000"/>
                </a:solidFill>
                <a:cs typeface="Times New Roman" panose="02020603050405020304" pitchFamily="18" charset="0"/>
              </a:rPr>
              <a:t>Semiconductors, nano materials, bio materials, composites</a:t>
            </a:r>
            <a:endParaRPr lang="en-US" altLang="tr-TR" sz="2000" b="0">
              <a:solidFill>
                <a:srgbClr val="FFC000"/>
              </a:solidFill>
              <a:cs typeface="Times New Roman" panose="02020603050405020304" pitchFamily="18" charset="0"/>
            </a:endParaRPr>
          </a:p>
        </p:txBody>
      </p:sp>
      <p:pic>
        <p:nvPicPr>
          <p:cNvPr id="8" name="Picture 7"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3316" name="TextBox 1331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986733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26</a:t>
            </a:fld>
            <a:endParaRPr lang="en-US" altLang="tr-TR"/>
          </a:p>
        </p:txBody>
      </p:sp>
      <p:pic>
        <p:nvPicPr>
          <p:cNvPr id="3" name="Picture 2"/>
          <p:cNvPicPr>
            <a:picLocks noChangeAspect="1"/>
          </p:cNvPicPr>
          <p:nvPr/>
        </p:nvPicPr>
        <p:blipFill rotWithShape="1">
          <a:blip r:embed="rId2"/>
          <a:srcRect l="56341" t="20880" r="6746" b="9632"/>
          <a:stretch/>
        </p:blipFill>
        <p:spPr>
          <a:xfrm>
            <a:off x="1721224" y="981634"/>
            <a:ext cx="4719917" cy="4997825"/>
          </a:xfrm>
          <a:prstGeom prst="rect">
            <a:avLst/>
          </a:prstGeom>
        </p:spPr>
      </p:pic>
      <p:pic>
        <p:nvPicPr>
          <p:cNvPr id="4" name="Picture 3"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2973959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27</a:t>
            </a:fld>
            <a:endParaRPr lang="en-US" altLang="tr-T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2929" r="25051"/>
          <a:stretch/>
        </p:blipFill>
        <p:spPr>
          <a:xfrm>
            <a:off x="1099127" y="1096968"/>
            <a:ext cx="6392962" cy="4980559"/>
          </a:xfrm>
          <a:prstGeom prst="rect">
            <a:avLst/>
          </a:prstGeom>
        </p:spPr>
      </p:pic>
      <p:pic>
        <p:nvPicPr>
          <p:cNvPr id="4" name="Picture 3"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2749164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84A64F2-845D-4699-81A7-1AE85FD1E4F6}" type="slidenum">
              <a:rPr lang="en-US" altLang="tr-TR" sz="1200" b="0"/>
              <a:pPr>
                <a:spcBef>
                  <a:spcPct val="0"/>
                </a:spcBef>
                <a:buFontTx/>
                <a:buNone/>
              </a:pPr>
              <a:t>28</a:t>
            </a:fld>
            <a:endParaRPr lang="en-US" altLang="tr-TR" sz="1200" b="0"/>
          </a:p>
        </p:txBody>
      </p:sp>
      <p:sp>
        <p:nvSpPr>
          <p:cNvPr id="14339" name="Rectangle 4"/>
          <p:cNvSpPr>
            <a:spLocks noChangeArrowheads="1"/>
          </p:cNvSpPr>
          <p:nvPr/>
        </p:nvSpPr>
        <p:spPr bwMode="auto">
          <a:xfrm>
            <a:off x="609600" y="1374775"/>
            <a:ext cx="2968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b="0">
                <a:solidFill>
                  <a:srgbClr val="000000"/>
                </a:solidFill>
              </a:rPr>
              <a:t>1.</a:t>
            </a:r>
            <a:endParaRPr lang="en-US" altLang="tr-TR" sz="2400" b="0">
              <a:latin typeface="Times" panose="02020603050405020304" pitchFamily="18" charset="0"/>
            </a:endParaRPr>
          </a:p>
        </p:txBody>
      </p:sp>
      <p:sp>
        <p:nvSpPr>
          <p:cNvPr id="14340" name="Rectangle 6"/>
          <p:cNvSpPr>
            <a:spLocks noChangeArrowheads="1"/>
          </p:cNvSpPr>
          <p:nvPr/>
        </p:nvSpPr>
        <p:spPr bwMode="auto">
          <a:xfrm>
            <a:off x="1155700" y="1374775"/>
            <a:ext cx="2320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Pick  </a:t>
            </a:r>
            <a:r>
              <a:rPr lang="en-US" altLang="tr-TR" sz="2400" b="0">
                <a:solidFill>
                  <a:schemeClr val="accent2"/>
                </a:solidFill>
              </a:rPr>
              <a:t>Application</a:t>
            </a:r>
            <a:r>
              <a:rPr lang="en-US" altLang="tr-TR" sz="2400" b="0">
                <a:solidFill>
                  <a:srgbClr val="006699"/>
                </a:solidFill>
              </a:rPr>
              <a:t> </a:t>
            </a:r>
            <a:endParaRPr lang="en-US" altLang="tr-TR" sz="2400" b="0">
              <a:latin typeface="Times" panose="02020603050405020304" pitchFamily="18" charset="0"/>
            </a:endParaRPr>
          </a:p>
        </p:txBody>
      </p:sp>
      <p:sp>
        <p:nvSpPr>
          <p:cNvPr id="14341" name="Rectangle 8"/>
          <p:cNvSpPr>
            <a:spLocks noChangeArrowheads="1"/>
          </p:cNvSpPr>
          <p:nvPr/>
        </p:nvSpPr>
        <p:spPr bwMode="auto">
          <a:xfrm>
            <a:off x="4302125" y="1374775"/>
            <a:ext cx="4083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Determine required </a:t>
            </a:r>
            <a:r>
              <a:rPr lang="en-US" altLang="tr-TR" sz="2400" b="0">
                <a:solidFill>
                  <a:schemeClr val="accent2"/>
                </a:solidFill>
              </a:rPr>
              <a:t>Properties</a:t>
            </a:r>
            <a:endParaRPr lang="en-US" altLang="tr-TR" sz="2400" b="0">
              <a:latin typeface="Times" panose="02020603050405020304" pitchFamily="18" charset="0"/>
            </a:endParaRPr>
          </a:p>
        </p:txBody>
      </p:sp>
      <p:sp>
        <p:nvSpPr>
          <p:cNvPr id="15383" name="Rectangle 23"/>
          <p:cNvSpPr>
            <a:spLocks noChangeArrowheads="1"/>
          </p:cNvSpPr>
          <p:nvPr/>
        </p:nvSpPr>
        <p:spPr bwMode="auto">
          <a:xfrm>
            <a:off x="1155700" y="4226069"/>
            <a:ext cx="779244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Processing:  changes </a:t>
            </a:r>
            <a:r>
              <a:rPr lang="en-US" altLang="tr-TR" sz="2200" b="0" i="1">
                <a:solidFill>
                  <a:srgbClr val="000000"/>
                </a:solidFill>
              </a:rPr>
              <a:t>structure</a:t>
            </a:r>
            <a:r>
              <a:rPr lang="en-US" altLang="tr-TR" sz="2200" b="0">
                <a:solidFill>
                  <a:srgbClr val="000000"/>
                </a:solidFill>
              </a:rPr>
              <a:t> and overall </a:t>
            </a:r>
            <a:r>
              <a:rPr lang="en-US" altLang="tr-TR" sz="2200" b="0" i="1">
                <a:solidFill>
                  <a:srgbClr val="000000"/>
                </a:solidFill>
              </a:rPr>
              <a:t>shape</a:t>
            </a:r>
            <a:r>
              <a:rPr lang="tr-TR" altLang="tr-TR" sz="2200" b="0">
                <a:solidFill>
                  <a:srgbClr val="000000"/>
                </a:solidFill>
              </a:rPr>
              <a:t> </a:t>
            </a:r>
            <a:r>
              <a:rPr lang="en-US" altLang="tr-TR" sz="2200" b="0">
                <a:solidFill>
                  <a:srgbClr val="000000"/>
                </a:solidFill>
              </a:rPr>
              <a:t>ex:  casting, sintering, vapor deposition, doping</a:t>
            </a:r>
            <a:r>
              <a:rPr lang="tr-TR" altLang="tr-TR" sz="2200" b="0">
                <a:solidFill>
                  <a:srgbClr val="000000"/>
                </a:solidFill>
              </a:rPr>
              <a:t>, </a:t>
            </a:r>
            <a:r>
              <a:rPr lang="en-US" altLang="tr-TR" sz="2200" b="0">
                <a:solidFill>
                  <a:srgbClr val="000000"/>
                </a:solidFill>
              </a:rPr>
              <a:t>forming, joining, annealing.</a:t>
            </a:r>
          </a:p>
        </p:txBody>
      </p:sp>
      <p:sp>
        <p:nvSpPr>
          <p:cNvPr id="14343" name="Rectangle 27"/>
          <p:cNvSpPr>
            <a:spLocks noChangeArrowheads="1"/>
          </p:cNvSpPr>
          <p:nvPr/>
        </p:nvSpPr>
        <p:spPr bwMode="auto">
          <a:xfrm>
            <a:off x="1377950" y="1895475"/>
            <a:ext cx="25279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tr-TR" altLang="tr-TR" sz="2200" b="0">
                <a:solidFill>
                  <a:srgbClr val="000000"/>
                </a:solidFill>
              </a:rPr>
              <a:t>Needs, environment</a:t>
            </a:r>
            <a:endParaRPr lang="en-US" altLang="tr-TR" sz="2200" b="0">
              <a:solidFill>
                <a:srgbClr val="000000"/>
              </a:solidFill>
            </a:endParaRPr>
          </a:p>
        </p:txBody>
      </p:sp>
      <p:sp>
        <p:nvSpPr>
          <p:cNvPr id="15391" name="Rectangle 31"/>
          <p:cNvSpPr>
            <a:spLocks noChangeArrowheads="1"/>
          </p:cNvSpPr>
          <p:nvPr/>
        </p:nvSpPr>
        <p:spPr bwMode="auto">
          <a:xfrm>
            <a:off x="1377950" y="3108668"/>
            <a:ext cx="403701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200" b="0">
                <a:solidFill>
                  <a:srgbClr val="000000"/>
                </a:solidFill>
              </a:rPr>
              <a:t>Material:  structure, composition.</a:t>
            </a:r>
            <a:endParaRPr lang="en-US" altLang="tr-TR" sz="2200" b="0">
              <a:latin typeface="Times" panose="02020603050405020304" pitchFamily="18" charset="0"/>
            </a:endParaRPr>
          </a:p>
        </p:txBody>
      </p:sp>
      <p:grpSp>
        <p:nvGrpSpPr>
          <p:cNvPr id="2" name="Group 20"/>
          <p:cNvGrpSpPr>
            <a:grpSpLocks/>
          </p:cNvGrpSpPr>
          <p:nvPr/>
        </p:nvGrpSpPr>
        <p:grpSpPr bwMode="auto">
          <a:xfrm>
            <a:off x="609600" y="2533649"/>
            <a:ext cx="6807200" cy="427038"/>
            <a:chOff x="609600" y="3000375"/>
            <a:chExt cx="6807200" cy="427038"/>
          </a:xfrm>
        </p:grpSpPr>
        <p:sp>
          <p:nvSpPr>
            <p:cNvPr id="14353" name="Rectangle 11"/>
            <p:cNvSpPr>
              <a:spLocks noChangeArrowheads="1"/>
            </p:cNvSpPr>
            <p:nvPr/>
          </p:nvSpPr>
          <p:spPr bwMode="auto">
            <a:xfrm>
              <a:off x="609600" y="3000375"/>
              <a:ext cx="2968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b="0">
                  <a:solidFill>
                    <a:srgbClr val="000000"/>
                  </a:solidFill>
                </a:rPr>
                <a:t>2.</a:t>
              </a:r>
              <a:endParaRPr lang="en-US" altLang="tr-TR" sz="2400" b="0">
                <a:latin typeface="Times" panose="02020603050405020304" pitchFamily="18" charset="0"/>
              </a:endParaRPr>
            </a:p>
          </p:txBody>
        </p:sp>
        <p:sp>
          <p:nvSpPr>
            <p:cNvPr id="14354" name="Rectangle 13"/>
            <p:cNvSpPr>
              <a:spLocks noChangeArrowheads="1"/>
            </p:cNvSpPr>
            <p:nvPr/>
          </p:nvSpPr>
          <p:spPr bwMode="auto">
            <a:xfrm>
              <a:off x="1155700" y="3000375"/>
              <a:ext cx="13890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chemeClr val="accent2"/>
                  </a:solidFill>
                </a:rPr>
                <a:t>Properties</a:t>
              </a:r>
              <a:endParaRPr lang="en-US" altLang="tr-TR" sz="2400" b="0">
                <a:solidFill>
                  <a:schemeClr val="accent2"/>
                </a:solidFill>
                <a:latin typeface="Times" panose="02020603050405020304" pitchFamily="18" charset="0"/>
              </a:endParaRPr>
            </a:p>
          </p:txBody>
        </p:sp>
        <p:sp>
          <p:nvSpPr>
            <p:cNvPr id="14355" name="Rectangle 15"/>
            <p:cNvSpPr>
              <a:spLocks noChangeArrowheads="1"/>
            </p:cNvSpPr>
            <p:nvPr/>
          </p:nvSpPr>
          <p:spPr bwMode="auto">
            <a:xfrm>
              <a:off x="3417888" y="3000375"/>
              <a:ext cx="39989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6699"/>
                  </a:solidFill>
                </a:rPr>
                <a:t> </a:t>
              </a:r>
              <a:r>
                <a:rPr lang="en-US" altLang="tr-TR" sz="2400" b="0"/>
                <a:t>Identify candidate </a:t>
              </a:r>
              <a:r>
                <a:rPr lang="en-US" altLang="tr-TR" sz="2400" b="0">
                  <a:solidFill>
                    <a:schemeClr val="accent2"/>
                  </a:solidFill>
                </a:rPr>
                <a:t>Material(s)</a:t>
              </a:r>
              <a:endParaRPr lang="en-US" altLang="tr-TR" sz="2400" b="0">
                <a:latin typeface="Times" panose="02020603050405020304" pitchFamily="18" charset="0"/>
              </a:endParaRPr>
            </a:p>
          </p:txBody>
        </p:sp>
        <p:sp>
          <p:nvSpPr>
            <p:cNvPr id="14356" name="Line 34"/>
            <p:cNvSpPr>
              <a:spLocks noChangeShapeType="1"/>
            </p:cNvSpPr>
            <p:nvPr/>
          </p:nvSpPr>
          <p:spPr bwMode="auto">
            <a:xfrm>
              <a:off x="2819400" y="3200400"/>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grpSp>
      <p:sp>
        <p:nvSpPr>
          <p:cNvPr id="14346" name="Line 35"/>
          <p:cNvSpPr>
            <a:spLocks noChangeShapeType="1"/>
          </p:cNvSpPr>
          <p:nvPr/>
        </p:nvSpPr>
        <p:spPr bwMode="auto">
          <a:xfrm>
            <a:off x="3657600" y="1587500"/>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grpSp>
        <p:nvGrpSpPr>
          <p:cNvPr id="3" name="Group 19"/>
          <p:cNvGrpSpPr>
            <a:grpSpLocks/>
          </p:cNvGrpSpPr>
          <p:nvPr/>
        </p:nvGrpSpPr>
        <p:grpSpPr bwMode="auto">
          <a:xfrm>
            <a:off x="609600" y="3716139"/>
            <a:ext cx="6251575" cy="427038"/>
            <a:chOff x="609600" y="4181475"/>
            <a:chExt cx="6251575" cy="427038"/>
          </a:xfrm>
        </p:grpSpPr>
        <p:sp>
          <p:nvSpPr>
            <p:cNvPr id="14349" name="Rectangle 17"/>
            <p:cNvSpPr>
              <a:spLocks noChangeArrowheads="1"/>
            </p:cNvSpPr>
            <p:nvPr/>
          </p:nvSpPr>
          <p:spPr bwMode="auto">
            <a:xfrm>
              <a:off x="609600" y="4181475"/>
              <a:ext cx="2968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b="0">
                  <a:solidFill>
                    <a:srgbClr val="000000"/>
                  </a:solidFill>
                </a:rPr>
                <a:t>3.</a:t>
              </a:r>
              <a:endParaRPr lang="en-US" altLang="tr-TR" sz="2400" b="0">
                <a:latin typeface="Times" panose="02020603050405020304" pitchFamily="18" charset="0"/>
              </a:endParaRPr>
            </a:p>
          </p:txBody>
        </p:sp>
        <p:sp>
          <p:nvSpPr>
            <p:cNvPr id="14350" name="Rectangle 19"/>
            <p:cNvSpPr>
              <a:spLocks noChangeArrowheads="1"/>
            </p:cNvSpPr>
            <p:nvPr/>
          </p:nvSpPr>
          <p:spPr bwMode="auto">
            <a:xfrm>
              <a:off x="1155700" y="4181475"/>
              <a:ext cx="10842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chemeClr val="accent2"/>
                  </a:solidFill>
                </a:rPr>
                <a:t>Material</a:t>
              </a:r>
              <a:endParaRPr lang="en-US" altLang="tr-TR" sz="2400" b="0">
                <a:solidFill>
                  <a:schemeClr val="accent2"/>
                </a:solidFill>
                <a:latin typeface="Times" panose="02020603050405020304" pitchFamily="18" charset="0"/>
              </a:endParaRPr>
            </a:p>
          </p:txBody>
        </p:sp>
        <p:sp>
          <p:nvSpPr>
            <p:cNvPr id="14351" name="Rectangle 22"/>
            <p:cNvSpPr>
              <a:spLocks noChangeArrowheads="1"/>
            </p:cNvSpPr>
            <p:nvPr/>
          </p:nvSpPr>
          <p:spPr bwMode="auto">
            <a:xfrm>
              <a:off x="2998788" y="4181475"/>
              <a:ext cx="38623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solidFill>
                    <a:srgbClr val="006699"/>
                  </a:solidFill>
                </a:rPr>
                <a:t> </a:t>
              </a:r>
              <a:r>
                <a:rPr lang="en-US" altLang="tr-TR" sz="2400" b="0"/>
                <a:t>Identify required </a:t>
              </a:r>
              <a:r>
                <a:rPr lang="en-US" altLang="tr-TR" sz="2400" b="0">
                  <a:solidFill>
                    <a:schemeClr val="accent2"/>
                  </a:solidFill>
                </a:rPr>
                <a:t>Processing</a:t>
              </a:r>
              <a:endParaRPr lang="en-US" altLang="tr-TR" sz="2400" b="0">
                <a:latin typeface="Times" panose="02020603050405020304" pitchFamily="18" charset="0"/>
              </a:endParaRPr>
            </a:p>
          </p:txBody>
        </p:sp>
        <p:sp>
          <p:nvSpPr>
            <p:cNvPr id="14352" name="Line 36"/>
            <p:cNvSpPr>
              <a:spLocks noChangeShapeType="1"/>
            </p:cNvSpPr>
            <p:nvPr/>
          </p:nvSpPr>
          <p:spPr bwMode="auto">
            <a:xfrm>
              <a:off x="2438400" y="4368800"/>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grpSp>
      <p:sp>
        <p:nvSpPr>
          <p:cNvPr id="14348" name="Rectangle 38"/>
          <p:cNvSpPr>
            <a:spLocks noGrp="1" noChangeArrowheads="1"/>
          </p:cNvSpPr>
          <p:nvPr>
            <p:ph type="title" idx="4294967295"/>
          </p:nvPr>
        </p:nvSpPr>
        <p:spPr>
          <a:xfrm>
            <a:off x="-101600" y="533401"/>
            <a:ext cx="7772400" cy="533400"/>
          </a:xfrm>
        </p:spPr>
        <p:txBody>
          <a:bodyPr/>
          <a:lstStyle/>
          <a:p>
            <a:r>
              <a:rPr lang="en-US" altLang="tr-TR">
                <a:ea typeface="ＭＳ Ｐゴシック" panose="020B0600070205080204" pitchFamily="34" charset="-128"/>
              </a:rPr>
              <a:t>The Materials Selection Process</a:t>
            </a:r>
          </a:p>
        </p:txBody>
      </p:sp>
      <p:pic>
        <p:nvPicPr>
          <p:cNvPr id="21" name="Picture 20"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22" name="Rectangle 23"/>
          <p:cNvSpPr>
            <a:spLocks noChangeArrowheads="1"/>
          </p:cNvSpPr>
          <p:nvPr/>
        </p:nvSpPr>
        <p:spPr bwMode="auto">
          <a:xfrm>
            <a:off x="609600" y="5315022"/>
            <a:ext cx="779244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tr-TR" altLang="tr-TR" sz="2200">
                <a:solidFill>
                  <a:srgbClr val="000000"/>
                </a:solidFill>
              </a:rPr>
              <a:t>Cost: Ease of production, access to raw materials, access to production techniques.</a:t>
            </a:r>
            <a:endParaRPr lang="en-US" altLang="tr-TR" sz="2200">
              <a:solidFill>
                <a:srgbClr val="000000"/>
              </a:solidFill>
            </a:endParaRPr>
          </a:p>
        </p:txBody>
      </p:sp>
      <p:sp>
        <p:nvSpPr>
          <p:cNvPr id="15392" name="TextBox 15391"/>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91471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A1C0FB5E-9EF5-4F74-8CE3-979CCC38F2D3}" type="slidenum">
              <a:rPr lang="en-US" altLang="tr-TR" sz="1200" b="0"/>
              <a:pPr>
                <a:spcBef>
                  <a:spcPct val="0"/>
                </a:spcBef>
                <a:buFontTx/>
                <a:buNone/>
              </a:pPr>
              <a:t>29</a:t>
            </a:fld>
            <a:endParaRPr lang="en-US" altLang="tr-TR" sz="1200" b="0"/>
          </a:p>
        </p:txBody>
      </p:sp>
      <p:sp>
        <p:nvSpPr>
          <p:cNvPr id="7171" name="Rectangle 2"/>
          <p:cNvSpPr>
            <a:spLocks noGrp="1" noChangeArrowheads="1"/>
          </p:cNvSpPr>
          <p:nvPr>
            <p:ph type="title"/>
          </p:nvPr>
        </p:nvSpPr>
        <p:spPr/>
        <p:txBody>
          <a:bodyPr/>
          <a:lstStyle/>
          <a:p>
            <a:r>
              <a:rPr lang="en-US" altLang="tr-TR">
                <a:ea typeface="ＭＳ Ｐゴシック" panose="020B0600070205080204" pitchFamily="34" charset="-128"/>
                <a:cs typeface="Times New Roman" panose="02020603050405020304" pitchFamily="18" charset="0"/>
              </a:rPr>
              <a:t>Example – Hip Implant</a:t>
            </a:r>
            <a:endParaRPr lang="en-US" altLang="tr-TR">
              <a:ea typeface="ＭＳ Ｐゴシック" panose="020B0600070205080204" pitchFamily="34" charset="-128"/>
            </a:endParaRPr>
          </a:p>
        </p:txBody>
      </p:sp>
      <p:sp>
        <p:nvSpPr>
          <p:cNvPr id="7172" name="Rectangle 3"/>
          <p:cNvSpPr>
            <a:spLocks noGrp="1" noChangeArrowheads="1"/>
          </p:cNvSpPr>
          <p:nvPr>
            <p:ph type="body" idx="1"/>
          </p:nvPr>
        </p:nvSpPr>
        <p:spPr>
          <a:xfrm>
            <a:off x="685800" y="1066800"/>
            <a:ext cx="7772400" cy="5253038"/>
          </a:xfrm>
        </p:spPr>
        <p:txBody>
          <a:bodyPr/>
          <a:lstStyle/>
          <a:p>
            <a:r>
              <a:rPr lang="en-US" altLang="tr-TR" sz="2400" b="0">
                <a:ea typeface="ＭＳ Ｐゴシック" panose="020B0600070205080204" pitchFamily="34" charset="-128"/>
                <a:cs typeface="Times New Roman" panose="02020603050405020304" pitchFamily="18" charset="0"/>
              </a:rPr>
              <a:t>With age or certain illnesses joints deteriorate.  Particularly those with large loads (such as hip).</a:t>
            </a:r>
            <a:r>
              <a:rPr lang="en-US" altLang="tr-TR" b="0">
                <a:ea typeface="ＭＳ Ｐゴシック" panose="020B0600070205080204" pitchFamily="34" charset="-128"/>
                <a:cs typeface="Times New Roman" panose="02020603050405020304" pitchFamily="18" charset="0"/>
              </a:rPr>
              <a:t>  </a:t>
            </a: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a:p>
            <a:endParaRPr lang="en-US" altLang="tr-TR" b="0">
              <a:ea typeface="ＭＳ Ｐゴシック" panose="020B0600070205080204" pitchFamily="34" charset="-128"/>
              <a:cs typeface="Times New Roman" panose="02020603050405020304" pitchFamily="18" charset="0"/>
            </a:endParaRPr>
          </a:p>
        </p:txBody>
      </p:sp>
      <p:pic>
        <p:nvPicPr>
          <p:cNvPr id="7173" name="Picture 7" descr="Fig 22_25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3" y="2217738"/>
            <a:ext cx="2886075" cy="379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8" descr="Fig 22_25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3275" y="2217738"/>
            <a:ext cx="2879725"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Rectangle 9"/>
          <p:cNvSpPr>
            <a:spLocks noChangeArrowheads="1"/>
          </p:cNvSpPr>
          <p:nvPr/>
        </p:nvSpPr>
        <p:spPr bwMode="auto">
          <a:xfrm>
            <a:off x="3429000" y="6324600"/>
            <a:ext cx="27082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22.25, </a:t>
            </a:r>
            <a:r>
              <a:rPr lang="en-US" altLang="tr-TR" sz="1200" b="0" i="1">
                <a:solidFill>
                  <a:srgbClr val="000000"/>
                </a:solidFill>
              </a:rPr>
              <a:t>Callister 7e.</a:t>
            </a:r>
          </a:p>
        </p:txBody>
      </p:sp>
      <p:pic>
        <p:nvPicPr>
          <p:cNvPr id="8" name="Picture 7" descr="iyte logo.jpe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7176" name="TextBox 7175"/>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0F04E03-E4F0-448F-B67F-CF5BA54CD318}" type="slidenum">
              <a:rPr lang="en-US" altLang="tr-TR" sz="1200" b="0"/>
              <a:pPr>
                <a:spcBef>
                  <a:spcPct val="0"/>
                </a:spcBef>
                <a:buFontTx/>
                <a:buNone/>
              </a:pPr>
              <a:t>30</a:t>
            </a:fld>
            <a:endParaRPr lang="en-US" altLang="tr-TR" sz="1200" b="0"/>
          </a:p>
        </p:txBody>
      </p:sp>
      <p:graphicFrame>
        <p:nvGraphicFramePr>
          <p:cNvPr id="8195" name="Object 7"/>
          <p:cNvGraphicFramePr>
            <a:graphicFrameLocks noChangeAspect="1"/>
          </p:cNvGraphicFramePr>
          <p:nvPr/>
        </p:nvGraphicFramePr>
        <p:xfrm>
          <a:off x="4024313" y="1104900"/>
          <a:ext cx="4359275" cy="5211763"/>
        </p:xfrm>
        <a:graphic>
          <a:graphicData uri="http://schemas.openxmlformats.org/presentationml/2006/ole">
            <mc:AlternateContent xmlns:mc="http://schemas.openxmlformats.org/markup-compatibility/2006">
              <mc:Choice xmlns:v="urn:schemas-microsoft-com:vml" Requires="v">
                <p:oleObj name="Image" r:id="rId3" imgW="1965964" imgH="2349714" progId="Photoshop.Image.9">
                  <p:embed/>
                </p:oleObj>
              </mc:Choice>
              <mc:Fallback>
                <p:oleObj name="Image" r:id="rId3" imgW="1965964" imgH="2349714" progId="Photoshop.Image.9">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313" y="1104900"/>
                        <a:ext cx="4359275" cy="521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Rectangle 2"/>
          <p:cNvSpPr>
            <a:spLocks noGrp="1" noChangeArrowheads="1"/>
          </p:cNvSpPr>
          <p:nvPr>
            <p:ph type="title"/>
          </p:nvPr>
        </p:nvSpPr>
        <p:spPr/>
        <p:txBody>
          <a:bodyPr/>
          <a:lstStyle/>
          <a:p>
            <a:r>
              <a:rPr lang="en-US" altLang="tr-TR">
                <a:ea typeface="ＭＳ Ｐゴシック" panose="020B0600070205080204" pitchFamily="34" charset="-128"/>
                <a:cs typeface="Times New Roman" panose="02020603050405020304" pitchFamily="18" charset="0"/>
              </a:rPr>
              <a:t>Example – Hip Implant</a:t>
            </a:r>
            <a:endParaRPr lang="en-US" altLang="tr-TR">
              <a:ea typeface="ＭＳ Ｐゴシック" panose="020B0600070205080204" pitchFamily="34" charset="-128"/>
            </a:endParaRPr>
          </a:p>
        </p:txBody>
      </p:sp>
      <p:sp>
        <p:nvSpPr>
          <p:cNvPr id="8197" name="Rectangle 3"/>
          <p:cNvSpPr>
            <a:spLocks noGrp="1" noChangeArrowheads="1"/>
          </p:cNvSpPr>
          <p:nvPr>
            <p:ph type="body" idx="1"/>
          </p:nvPr>
        </p:nvSpPr>
        <p:spPr>
          <a:xfrm>
            <a:off x="392151" y="1905000"/>
            <a:ext cx="3644591" cy="4170556"/>
          </a:xfrm>
        </p:spPr>
        <p:txBody>
          <a:bodyPr/>
          <a:lstStyle/>
          <a:p>
            <a:r>
              <a:rPr lang="en-US" altLang="tr-TR" b="0">
                <a:ea typeface="ＭＳ Ｐゴシック" panose="020B0600070205080204" pitchFamily="34" charset="-128"/>
                <a:cs typeface="Times New Roman" panose="02020603050405020304" pitchFamily="18" charset="0"/>
              </a:rPr>
              <a:t>Requirements</a:t>
            </a:r>
          </a:p>
          <a:p>
            <a:pPr lvl="1"/>
            <a:r>
              <a:rPr lang="en-US" altLang="tr-TR" b="0">
                <a:ea typeface="ＭＳ Ｐゴシック" panose="020B0600070205080204" pitchFamily="34" charset="-128"/>
                <a:cs typeface="Times New Roman" panose="02020603050405020304" pitchFamily="18" charset="0"/>
              </a:rPr>
              <a:t>mechanical strength (many cycles)</a:t>
            </a:r>
          </a:p>
          <a:p>
            <a:pPr lvl="1"/>
            <a:r>
              <a:rPr lang="en-US" altLang="tr-TR" b="0">
                <a:ea typeface="ＭＳ Ｐゴシック" panose="020B0600070205080204" pitchFamily="34" charset="-128"/>
                <a:cs typeface="Times New Roman" panose="02020603050405020304" pitchFamily="18" charset="0"/>
              </a:rPr>
              <a:t>good lubricity</a:t>
            </a:r>
          </a:p>
          <a:p>
            <a:pPr lvl="1"/>
            <a:r>
              <a:rPr lang="en-US" altLang="tr-TR" b="0">
                <a:ea typeface="ＭＳ Ｐゴシック" panose="020B0600070205080204" pitchFamily="34" charset="-128"/>
                <a:cs typeface="Times New Roman" panose="02020603050405020304" pitchFamily="18" charset="0"/>
              </a:rPr>
              <a:t>biocompatibility</a:t>
            </a:r>
          </a:p>
        </p:txBody>
      </p:sp>
      <p:sp>
        <p:nvSpPr>
          <p:cNvPr id="8198" name="Rectangle 8"/>
          <p:cNvSpPr>
            <a:spLocks noChangeArrowheads="1"/>
          </p:cNvSpPr>
          <p:nvPr/>
        </p:nvSpPr>
        <p:spPr bwMode="auto">
          <a:xfrm>
            <a:off x="2057400" y="5943600"/>
            <a:ext cx="27082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22.24, </a:t>
            </a:r>
            <a:r>
              <a:rPr lang="en-US" altLang="tr-TR" sz="1200" b="0" i="1">
                <a:solidFill>
                  <a:srgbClr val="000000"/>
                </a:solidFill>
              </a:rPr>
              <a:t>Callister 7e.</a:t>
            </a:r>
          </a:p>
        </p:txBody>
      </p:sp>
      <p:pic>
        <p:nvPicPr>
          <p:cNvPr id="7" name="Picture 6" descr="iyte logo.jpe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8199" name="TextBox 8198"/>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325B66C-3744-46C8-934E-69079FF0368E}" type="slidenum">
              <a:rPr lang="en-US" altLang="tr-TR" sz="1200" b="0"/>
              <a:pPr>
                <a:spcBef>
                  <a:spcPct val="0"/>
                </a:spcBef>
                <a:buFontTx/>
                <a:buNone/>
              </a:pPr>
              <a:t>31</a:t>
            </a:fld>
            <a:endParaRPr lang="en-US" altLang="tr-TR" sz="1200" b="0"/>
          </a:p>
        </p:txBody>
      </p:sp>
      <p:sp>
        <p:nvSpPr>
          <p:cNvPr id="9219" name="Rectangle 2"/>
          <p:cNvSpPr>
            <a:spLocks noGrp="1" noChangeArrowheads="1"/>
          </p:cNvSpPr>
          <p:nvPr>
            <p:ph type="title"/>
          </p:nvPr>
        </p:nvSpPr>
        <p:spPr/>
        <p:txBody>
          <a:bodyPr/>
          <a:lstStyle/>
          <a:p>
            <a:r>
              <a:rPr lang="en-US" altLang="tr-TR">
                <a:ea typeface="ＭＳ Ｐゴシック" panose="020B0600070205080204" pitchFamily="34" charset="-128"/>
                <a:cs typeface="Times New Roman" panose="02020603050405020304" pitchFamily="18" charset="0"/>
              </a:rPr>
              <a:t>Example – Hip Implant</a:t>
            </a:r>
            <a:endParaRPr lang="en-US" altLang="tr-TR">
              <a:ea typeface="ＭＳ Ｐゴシック" panose="020B0600070205080204" pitchFamily="34" charset="-128"/>
            </a:endParaRPr>
          </a:p>
        </p:txBody>
      </p:sp>
      <p:graphicFrame>
        <p:nvGraphicFramePr>
          <p:cNvPr id="9220" name="Object 8"/>
          <p:cNvGraphicFramePr>
            <a:graphicFrameLocks noChangeAspect="1"/>
          </p:cNvGraphicFramePr>
          <p:nvPr/>
        </p:nvGraphicFramePr>
        <p:xfrm>
          <a:off x="319088" y="1230313"/>
          <a:ext cx="4265612" cy="4927600"/>
        </p:xfrm>
        <a:graphic>
          <a:graphicData uri="http://schemas.openxmlformats.org/presentationml/2006/ole">
            <mc:AlternateContent xmlns:mc="http://schemas.openxmlformats.org/markup-compatibility/2006">
              <mc:Choice xmlns:v="urn:schemas-microsoft-com:vml" Requires="v">
                <p:oleObj name="Image" r:id="rId3" imgW="2510919" imgH="2901456" progId="Photoshop.Image.9">
                  <p:embed/>
                </p:oleObj>
              </mc:Choice>
              <mc:Fallback>
                <p:oleObj name="Image" r:id="rId3" imgW="2510919" imgH="2901456" progId="Photoshop.Image.9">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8" y="1230313"/>
                        <a:ext cx="4265612" cy="492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221" name="Picture 6" descr="Fig 22_26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7563" y="1231900"/>
            <a:ext cx="3694112" cy="518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9"/>
          <p:cNvSpPr>
            <a:spLocks noChangeArrowheads="1"/>
          </p:cNvSpPr>
          <p:nvPr/>
        </p:nvSpPr>
        <p:spPr bwMode="auto">
          <a:xfrm>
            <a:off x="3124200" y="6400800"/>
            <a:ext cx="27082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Fig. 22.26, </a:t>
            </a:r>
            <a:r>
              <a:rPr lang="en-US" altLang="tr-TR" sz="1200" b="0" i="1">
                <a:solidFill>
                  <a:srgbClr val="000000"/>
                </a:solidFill>
              </a:rPr>
              <a:t>Callister 7e.</a:t>
            </a:r>
          </a:p>
        </p:txBody>
      </p:sp>
      <p:pic>
        <p:nvPicPr>
          <p:cNvPr id="7" name="Picture 6" descr="iyte logo.jpe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9223" name="TextBox 9222"/>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B74BE613-CB7A-41C8-B603-3070CE791FDF}" type="slidenum">
              <a:rPr lang="en-US" altLang="tr-TR" sz="1200" b="0"/>
              <a:pPr>
                <a:spcBef>
                  <a:spcPct val="0"/>
                </a:spcBef>
                <a:buFontTx/>
                <a:buNone/>
              </a:pPr>
              <a:t>32</a:t>
            </a:fld>
            <a:endParaRPr lang="en-US" altLang="tr-TR" sz="1200" b="0"/>
          </a:p>
        </p:txBody>
      </p:sp>
      <p:sp>
        <p:nvSpPr>
          <p:cNvPr id="10243" name="Rectangle 2"/>
          <p:cNvSpPr>
            <a:spLocks noGrp="1" noChangeArrowheads="1"/>
          </p:cNvSpPr>
          <p:nvPr>
            <p:ph type="title"/>
          </p:nvPr>
        </p:nvSpPr>
        <p:spPr/>
        <p:txBody>
          <a:bodyPr/>
          <a:lstStyle/>
          <a:p>
            <a:r>
              <a:rPr lang="en-US" altLang="tr-TR">
                <a:ea typeface="ＭＳ Ｐゴシック" panose="020B0600070205080204" pitchFamily="34" charset="-128"/>
                <a:cs typeface="Times New Roman" panose="02020603050405020304" pitchFamily="18" charset="0"/>
              </a:rPr>
              <a:t>Hip Implant	</a:t>
            </a:r>
          </a:p>
        </p:txBody>
      </p:sp>
      <p:sp>
        <p:nvSpPr>
          <p:cNvPr id="10244" name="Rectangle 3"/>
          <p:cNvSpPr>
            <a:spLocks noGrp="1" noChangeArrowheads="1"/>
          </p:cNvSpPr>
          <p:nvPr>
            <p:ph type="body" idx="1"/>
          </p:nvPr>
        </p:nvSpPr>
        <p:spPr>
          <a:xfrm>
            <a:off x="685800" y="1143000"/>
            <a:ext cx="5410200" cy="4114800"/>
          </a:xfrm>
        </p:spPr>
        <p:txBody>
          <a:bodyPr/>
          <a:lstStyle/>
          <a:p>
            <a:r>
              <a:rPr lang="en-US" altLang="tr-TR" sz="2400" b="0">
                <a:ea typeface="ＭＳ Ｐゴシック" panose="020B0600070205080204" pitchFamily="34" charset="-128"/>
                <a:cs typeface="Times New Roman" panose="02020603050405020304" pitchFamily="18" charset="0"/>
              </a:rPr>
              <a:t>Key problems to overcome</a:t>
            </a:r>
          </a:p>
          <a:p>
            <a:pPr lvl="1"/>
            <a:r>
              <a:rPr lang="en-US" altLang="tr-TR" sz="2400" b="0">
                <a:ea typeface="ＭＳ Ｐゴシック" panose="020B0600070205080204" pitchFamily="34" charset="-128"/>
                <a:cs typeface="Times New Roman" panose="02020603050405020304" pitchFamily="18" charset="0"/>
              </a:rPr>
              <a:t>fixation agent to hold </a:t>
            </a:r>
            <a:br>
              <a:rPr lang="en-US" altLang="tr-TR" sz="2400" b="0">
                <a:ea typeface="ＭＳ Ｐゴシック" panose="020B0600070205080204" pitchFamily="34" charset="-128"/>
                <a:cs typeface="Times New Roman" panose="02020603050405020304" pitchFamily="18" charset="0"/>
              </a:rPr>
            </a:br>
            <a:r>
              <a:rPr lang="en-US" altLang="tr-TR" sz="2400" b="0">
                <a:ea typeface="ＭＳ Ｐゴシック" panose="020B0600070205080204" pitchFamily="34" charset="-128"/>
                <a:cs typeface="Times New Roman" panose="02020603050405020304" pitchFamily="18" charset="0"/>
              </a:rPr>
              <a:t>acetabular cup</a:t>
            </a:r>
          </a:p>
          <a:p>
            <a:pPr lvl="1"/>
            <a:r>
              <a:rPr lang="en-US" altLang="tr-TR" sz="2400" b="0">
                <a:ea typeface="ＭＳ Ｐゴシック" panose="020B0600070205080204" pitchFamily="34" charset="-128"/>
                <a:cs typeface="Times New Roman" panose="02020603050405020304" pitchFamily="18" charset="0"/>
              </a:rPr>
              <a:t>cup lubrication material</a:t>
            </a:r>
          </a:p>
          <a:p>
            <a:pPr lvl="1"/>
            <a:r>
              <a:rPr lang="en-US" altLang="tr-TR" sz="2400" b="0">
                <a:ea typeface="ＭＳ Ｐゴシック" panose="020B0600070205080204" pitchFamily="34" charset="-128"/>
                <a:cs typeface="Times New Roman" panose="02020603050405020304" pitchFamily="18" charset="0"/>
              </a:rPr>
              <a:t>femoral stem – fixing agent (“glue”)</a:t>
            </a:r>
          </a:p>
          <a:p>
            <a:pPr lvl="1"/>
            <a:r>
              <a:rPr lang="en-US" altLang="tr-TR" sz="2400" b="0">
                <a:ea typeface="ＭＳ Ｐゴシック" panose="020B0600070205080204" pitchFamily="34" charset="-128"/>
                <a:cs typeface="Times New Roman" panose="02020603050405020304" pitchFamily="18" charset="0"/>
              </a:rPr>
              <a:t>must avoid any debris in cup</a:t>
            </a:r>
          </a:p>
        </p:txBody>
      </p:sp>
      <p:pic>
        <p:nvPicPr>
          <p:cNvPr id="1024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762000"/>
            <a:ext cx="2643188" cy="533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sp>
        <p:nvSpPr>
          <p:cNvPr id="10246" name="Text Box 9"/>
          <p:cNvSpPr txBox="1">
            <a:spLocks noChangeArrowheads="1"/>
          </p:cNvSpPr>
          <p:nvPr/>
        </p:nvSpPr>
        <p:spPr bwMode="auto">
          <a:xfrm>
            <a:off x="3922713" y="4575175"/>
            <a:ext cx="1387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400" b="0"/>
              <a:t>Femoral </a:t>
            </a:r>
          </a:p>
          <a:p>
            <a:pPr>
              <a:spcBef>
                <a:spcPct val="0"/>
              </a:spcBef>
              <a:buFontTx/>
              <a:buNone/>
            </a:pPr>
            <a:r>
              <a:rPr lang="en-US" altLang="tr-TR" sz="2400" b="0"/>
              <a:t>Stem</a:t>
            </a:r>
          </a:p>
        </p:txBody>
      </p:sp>
      <p:sp>
        <p:nvSpPr>
          <p:cNvPr id="10247" name="Line 10"/>
          <p:cNvSpPr>
            <a:spLocks noChangeShapeType="1"/>
          </p:cNvSpPr>
          <p:nvPr/>
        </p:nvSpPr>
        <p:spPr bwMode="auto">
          <a:xfrm>
            <a:off x="6386513" y="1787525"/>
            <a:ext cx="809625" cy="1857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0248" name="Text Box 11"/>
          <p:cNvSpPr txBox="1">
            <a:spLocks noChangeArrowheads="1"/>
          </p:cNvSpPr>
          <p:nvPr/>
        </p:nvSpPr>
        <p:spPr bwMode="auto">
          <a:xfrm>
            <a:off x="5743575" y="1522413"/>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50000"/>
              </a:spcBef>
              <a:buFontTx/>
              <a:buNone/>
            </a:pPr>
            <a:r>
              <a:rPr lang="en-US" altLang="tr-TR" sz="2400" b="0"/>
              <a:t>Ball</a:t>
            </a:r>
          </a:p>
        </p:txBody>
      </p:sp>
      <p:sp>
        <p:nvSpPr>
          <p:cNvPr id="10249" name="Line 12"/>
          <p:cNvSpPr>
            <a:spLocks noChangeShapeType="1"/>
          </p:cNvSpPr>
          <p:nvPr/>
        </p:nvSpPr>
        <p:spPr bwMode="auto">
          <a:xfrm flipV="1">
            <a:off x="7962900" y="2108200"/>
            <a:ext cx="28575" cy="9413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0250" name="Line 13"/>
          <p:cNvSpPr>
            <a:spLocks noChangeShapeType="1"/>
          </p:cNvSpPr>
          <p:nvPr/>
        </p:nvSpPr>
        <p:spPr bwMode="auto">
          <a:xfrm flipV="1">
            <a:off x="8008938" y="1636713"/>
            <a:ext cx="439737" cy="14176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0251" name="Text Box 14"/>
          <p:cNvSpPr txBox="1">
            <a:spLocks noChangeArrowheads="1"/>
          </p:cNvSpPr>
          <p:nvPr/>
        </p:nvSpPr>
        <p:spPr bwMode="auto">
          <a:xfrm>
            <a:off x="6867525" y="3025775"/>
            <a:ext cx="2098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r>
              <a:rPr lang="en-US" altLang="tr-TR" sz="2400" b="0"/>
              <a:t>Acetabular</a:t>
            </a:r>
          </a:p>
          <a:p>
            <a:pPr algn="ctr">
              <a:spcBef>
                <a:spcPct val="0"/>
              </a:spcBef>
              <a:buFontTx/>
              <a:buNone/>
            </a:pPr>
            <a:r>
              <a:rPr lang="en-US" altLang="tr-TR" sz="2400" b="0"/>
              <a:t>Cup and Liner</a:t>
            </a:r>
          </a:p>
        </p:txBody>
      </p:sp>
      <p:sp>
        <p:nvSpPr>
          <p:cNvPr id="10252" name="Line 15"/>
          <p:cNvSpPr>
            <a:spLocks noChangeShapeType="1"/>
          </p:cNvSpPr>
          <p:nvPr/>
        </p:nvSpPr>
        <p:spPr bwMode="auto">
          <a:xfrm flipV="1">
            <a:off x="5172075" y="4987925"/>
            <a:ext cx="1004888" cy="4603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0253" name="Rectangle 16"/>
          <p:cNvSpPr>
            <a:spLocks noChangeArrowheads="1"/>
          </p:cNvSpPr>
          <p:nvPr/>
        </p:nvSpPr>
        <p:spPr bwMode="auto">
          <a:xfrm>
            <a:off x="2219325" y="56515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1200" b="0">
                <a:solidFill>
                  <a:srgbClr val="000000"/>
                </a:solidFill>
              </a:rPr>
              <a:t>Adapted from chapter-opening photograph, Chapter 22, </a:t>
            </a:r>
            <a:r>
              <a:rPr lang="en-US" altLang="tr-TR" sz="1200" b="0" i="1">
                <a:solidFill>
                  <a:srgbClr val="000000"/>
                </a:solidFill>
              </a:rPr>
              <a:t>Callister 7e.</a:t>
            </a:r>
          </a:p>
        </p:txBody>
      </p:sp>
      <p:pic>
        <p:nvPicPr>
          <p:cNvPr id="14" name="Picture 13" descr="iyte logo.jpe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0254" name="TextBox 10253"/>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33</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921477"/>
            <a:ext cx="8507345" cy="4093428"/>
          </a:xfrm>
          <a:prstGeom prst="rect">
            <a:avLst/>
          </a:prstGeom>
          <a:noFill/>
        </p:spPr>
        <p:txBody>
          <a:bodyPr wrap="square" lIns="91440" tIns="45720" rIns="91440" bIns="45720" rtlCol="0" anchor="t">
            <a:spAutoFit/>
          </a:bodyPr>
          <a:lstStyle/>
          <a:p>
            <a:r>
              <a:rPr lang="tr-TR" sz="2800" b="1" kern="0">
                <a:solidFill>
                  <a:srgbClr val="C00000"/>
                </a:solidFill>
              </a:rPr>
              <a:t>Selection examples</a:t>
            </a:r>
          </a:p>
          <a:p>
            <a:endParaRPr lang="tr-TR" sz="2000" kern="0"/>
          </a:p>
          <a:p>
            <a:pPr marL="342900" indent="-342900">
              <a:buFont typeface="Arial" panose="020B0604020202020204" pitchFamily="34" charset="0"/>
              <a:buChar char="•"/>
            </a:pPr>
            <a:r>
              <a:rPr lang="en-US" altLang="tr-TR" sz="2000"/>
              <a:t>Car hood: easy to shape, strong, good transfer, moderately </a:t>
            </a:r>
            <a:r>
              <a:rPr lang="en-US" altLang="tr-TR" sz="2000" err="1"/>
              <a:t>chea</a:t>
            </a:r>
            <a:r>
              <a:rPr lang="tr-TR" altLang="tr-TR" sz="2000"/>
              <a:t>p</a:t>
            </a:r>
            <a:endParaRPr lang="en-US" altLang="tr-TR" sz="2000"/>
          </a:p>
          <a:p>
            <a:endParaRPr lang="en-US" altLang="tr-TR" sz="2000"/>
          </a:p>
          <a:p>
            <a:pPr marL="342900" indent="-342900">
              <a:buFont typeface="Arial" panose="020B0604020202020204" pitchFamily="34" charset="0"/>
              <a:buChar char="•"/>
            </a:pPr>
            <a:r>
              <a:rPr lang="en-US" altLang="tr-TR" sz="2000"/>
              <a:t>Space shuttle skin: extremely stable, heat resistant, money is not an issue, low weight</a:t>
            </a:r>
          </a:p>
          <a:p>
            <a:endParaRPr lang="en-US" altLang="tr-TR" sz="2000"/>
          </a:p>
          <a:p>
            <a:pPr marL="342900" indent="-342900">
              <a:buFont typeface="Arial" panose="020B0604020202020204" pitchFamily="34" charset="0"/>
              <a:buChar char="•"/>
            </a:pPr>
            <a:r>
              <a:rPr lang="en-US" altLang="tr-TR" sz="2000">
                <a:latin typeface="Arial"/>
                <a:ea typeface="ＭＳ Ｐゴシック"/>
                <a:cs typeface="Arial"/>
              </a:rPr>
              <a:t>Satellite wings: Extremely good thermal conductivity, low weight, money is not an issue</a:t>
            </a:r>
          </a:p>
          <a:p>
            <a:endParaRPr lang="tr-TR" kern="0"/>
          </a:p>
          <a:p>
            <a:endParaRPr lang="tr-TR" kern="0"/>
          </a:p>
          <a:p>
            <a:endParaRPr lang="tr-TR" kern="0"/>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19967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9B1CF48-C2B8-4461-9943-ED6050A7E128}" type="slidenum">
              <a:rPr lang="en-US" altLang="tr-TR" sz="1200"/>
              <a:pPr/>
              <a:t>34</a:t>
            </a:fld>
            <a:endParaRPr lang="en-US" altLang="tr-TR" sz="1200"/>
          </a:p>
        </p:txBody>
      </p:sp>
      <p:pic>
        <p:nvPicPr>
          <p:cNvPr id="15363" name="Picture 2" descr="http://upload.wikimedia.org/wikipedia/commons/6/69/Engine_movingpart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663" y="736600"/>
            <a:ext cx="3305319" cy="2478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4" descr="http://image.made-in-china.com/43f34j00PBnQqSVsLcrC/Fita-4-Cylinder-Engine-Bloc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2663" y="536575"/>
            <a:ext cx="2707264" cy="266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AutoShape 6" descr="http://upload.wikimedia.org/wikipedia/commons/4/4c/Jet_engine.svg"/>
          <p:cNvSpPr>
            <a:spLocks noChangeAspect="1" noChangeArrowheads="1"/>
          </p:cNvSpPr>
          <p:nvPr/>
        </p:nvSpPr>
        <p:spPr bwMode="auto">
          <a:xfrm>
            <a:off x="176213"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tr-TR" altLang="tr-TR"/>
          </a:p>
        </p:txBody>
      </p:sp>
      <p:sp>
        <p:nvSpPr>
          <p:cNvPr id="15366" name="AutoShape 8" descr="http://upload.wikimedia.org/wikipedia/commons/4/4c/Jet_engine.svg"/>
          <p:cNvSpPr>
            <a:spLocks noChangeAspect="1" noChangeArrowheads="1"/>
          </p:cNvSpPr>
          <p:nvPr/>
        </p:nvSpPr>
        <p:spPr bwMode="auto">
          <a:xfrm>
            <a:off x="328613" y="-30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tr-TR" altLang="tr-TR"/>
          </a:p>
        </p:txBody>
      </p:sp>
      <p:sp>
        <p:nvSpPr>
          <p:cNvPr id="15367" name="AutoShape 10" descr="http://upload.wikimedia.org/wikipedia/commons/4/4c/Jet_engine.svg"/>
          <p:cNvSpPr>
            <a:spLocks noChangeAspect="1" noChangeArrowheads="1"/>
          </p:cNvSpPr>
          <p:nvPr/>
        </p:nvSpPr>
        <p:spPr bwMode="auto">
          <a:xfrm>
            <a:off x="481013" y="1222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tr-TR" altLang="tr-TR"/>
          </a:p>
        </p:txBody>
      </p:sp>
      <p:pic>
        <p:nvPicPr>
          <p:cNvPr id="15368"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3" y="4103399"/>
            <a:ext cx="3994005" cy="1604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Lst>
        </p:spPr>
      </p:pic>
      <p:pic>
        <p:nvPicPr>
          <p:cNvPr id="9" name="Picture 8" descr="iyte logo.jpe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10" name="TextBox 9"/>
          <p:cNvSpPr txBox="1"/>
          <p:nvPr/>
        </p:nvSpPr>
        <p:spPr>
          <a:xfrm>
            <a:off x="4855913" y="3441680"/>
            <a:ext cx="4092229" cy="3416320"/>
          </a:xfrm>
          <a:prstGeom prst="rect">
            <a:avLst/>
          </a:prstGeom>
          <a:noFill/>
        </p:spPr>
        <p:txBody>
          <a:bodyPr wrap="square" rtlCol="0">
            <a:spAutoFit/>
          </a:bodyPr>
          <a:lstStyle/>
          <a:p>
            <a:r>
              <a:rPr lang="tr-TR" sz="2000" b="1" kern="0">
                <a:solidFill>
                  <a:srgbClr val="C00000"/>
                </a:solidFill>
              </a:rPr>
              <a:t>Advanced Materials</a:t>
            </a:r>
          </a:p>
          <a:p>
            <a:endParaRPr lang="tr-TR" sz="2000" kern="0"/>
          </a:p>
          <a:p>
            <a:pPr marL="342900" indent="-342900">
              <a:buFont typeface="Arial" panose="020B0604020202020204" pitchFamily="34" charset="0"/>
              <a:buChar char="•"/>
            </a:pPr>
            <a:r>
              <a:rPr lang="en-US" sz="1600"/>
              <a:t>Materials used in "High-Tec" applications, usually designed for maximum performance, and normally expensive. Examples are titanium alloys for supersonic airplanes, magnetic alloys for computer disks, special ceramics for the heat shield of the space shuttle, etc. </a:t>
            </a:r>
            <a:endParaRPr lang="tr-TR" sz="1600" kern="0"/>
          </a:p>
          <a:p>
            <a:endParaRPr lang="tr-TR" sz="1600" kern="0"/>
          </a:p>
          <a:p>
            <a:endParaRPr lang="tr-TR" kern="0"/>
          </a:p>
        </p:txBody>
      </p:sp>
      <p:sp>
        <p:nvSpPr>
          <p:cNvPr id="15369" name="TextBox 15368"/>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35</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350" y="921477"/>
            <a:ext cx="7335331" cy="5134732"/>
          </a:xfrm>
          <a:prstGeom prst="rect">
            <a:avLst/>
          </a:prstGeom>
        </p:spPr>
      </p:pic>
      <p:sp>
        <p:nvSpPr>
          <p:cNvPr id="5" name="TextBox 4"/>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392889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4822C1A-3DD0-4706-B7E0-652CC0209154}" type="slidenum">
              <a:rPr lang="en-US" altLang="tr-TR" smtClean="0"/>
              <a:pPr/>
              <a:t>36</a:t>
            </a:fld>
            <a:endParaRPr lang="en-US" altLang="tr-TR"/>
          </a:p>
        </p:txBody>
      </p:sp>
      <p:pic>
        <p:nvPicPr>
          <p:cNvPr id="3" name="Picture 2" descr="iyte logo.jpe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5" name="TextBox 4"/>
          <p:cNvSpPr txBox="1"/>
          <p:nvPr/>
        </p:nvSpPr>
        <p:spPr>
          <a:xfrm>
            <a:off x="248862" y="707468"/>
            <a:ext cx="8699280" cy="6709529"/>
          </a:xfrm>
          <a:prstGeom prst="rect">
            <a:avLst/>
          </a:prstGeom>
          <a:noFill/>
        </p:spPr>
        <p:txBody>
          <a:bodyPr wrap="square" rtlCol="0">
            <a:spAutoFit/>
          </a:bodyPr>
          <a:lstStyle/>
          <a:p>
            <a:r>
              <a:rPr lang="tr-TR" sz="2800" b="1" kern="0">
                <a:solidFill>
                  <a:srgbClr val="C00000"/>
                </a:solidFill>
              </a:rPr>
              <a:t>Future of Materials</a:t>
            </a:r>
          </a:p>
          <a:p>
            <a:endParaRPr lang="tr-TR" sz="2000" kern="0"/>
          </a:p>
          <a:p>
            <a:pPr>
              <a:buFontTx/>
              <a:buNone/>
            </a:pPr>
            <a:r>
              <a:rPr lang="en-US" altLang="tr-TR" sz="1800"/>
              <a:t>Design of materials having specific desired characteristics directly from our knowledge of atomic structure.</a:t>
            </a:r>
            <a:endParaRPr lang="tr-TR" altLang="tr-TR" sz="1800"/>
          </a:p>
          <a:p>
            <a:pPr>
              <a:buFontTx/>
              <a:buNone/>
            </a:pPr>
            <a:endParaRPr lang="en-US" altLang="tr-TR" sz="1800"/>
          </a:p>
          <a:p>
            <a:pPr marL="342900" indent="-342900">
              <a:buFont typeface="Arial" panose="020B0604020202020204" pitchFamily="34" charset="0"/>
              <a:buChar char="•"/>
            </a:pPr>
            <a:r>
              <a:rPr lang="en-US" altLang="tr-TR" sz="2000"/>
              <a:t>Miniaturization: “Nanostructured" materials, with microstructure that has length scales between 1 and 100 nanometers with unusual properties. Electronic components, materials for quantum computing.</a:t>
            </a:r>
          </a:p>
          <a:p>
            <a:pPr marL="342900" indent="-342900">
              <a:buFont typeface="Arial" panose="020B0604020202020204" pitchFamily="34" charset="0"/>
              <a:buChar char="•"/>
            </a:pPr>
            <a:r>
              <a:rPr lang="en-US" altLang="tr-TR" sz="2000"/>
              <a:t>Smart materials: airplane wings that adjust to the air flow conditions, buildings that stabilize themselves in earthquake</a:t>
            </a:r>
            <a:r>
              <a:rPr lang="tr-TR" altLang="tr-TR" sz="2000"/>
              <a:t>s, high tem. materials... </a:t>
            </a:r>
            <a:endParaRPr lang="en-US" altLang="tr-TR" sz="2000"/>
          </a:p>
          <a:p>
            <a:pPr marL="342900" indent="-342900">
              <a:buFont typeface="Arial" panose="020B0604020202020204" pitchFamily="34" charset="0"/>
              <a:buChar char="•"/>
            </a:pPr>
            <a:r>
              <a:rPr lang="en-US" altLang="tr-TR" sz="2000"/>
              <a:t>Environment-friendly materials: biodegradable or photodegradable plastics, advances in nuclear waste processing, etc.</a:t>
            </a:r>
          </a:p>
          <a:p>
            <a:pPr marL="342900" indent="-342900">
              <a:buFont typeface="Arial" panose="020B0604020202020204" pitchFamily="34" charset="0"/>
              <a:buChar char="•"/>
            </a:pPr>
            <a:r>
              <a:rPr lang="en-US" altLang="tr-TR" sz="2000"/>
              <a:t>Learning from Nature: shells and biological hard tissue can be as strong as the most advanced laboratory-produced ceramics, </a:t>
            </a:r>
            <a:r>
              <a:rPr lang="en-US" altLang="tr-TR" sz="2000" err="1"/>
              <a:t>mollusces</a:t>
            </a:r>
            <a:r>
              <a:rPr lang="en-US" altLang="tr-TR" sz="2000"/>
              <a:t> produce biocompatible adhesives that we do not know how to reproduce…</a:t>
            </a:r>
          </a:p>
          <a:p>
            <a:pPr marL="342900" indent="-342900">
              <a:buFont typeface="Arial" panose="020B0604020202020204" pitchFamily="34" charset="0"/>
              <a:buChar char="•"/>
            </a:pPr>
            <a:r>
              <a:rPr lang="en-US" altLang="tr-TR" sz="2000"/>
              <a:t>Materials for lightweight batteries with high storage densities, for turbine blades that can operate at 2500C, room-temperature superconductors? chemical sensors (artificial nose) of extremely high sensitivity, cotton shirts that never require ironing</a:t>
            </a:r>
          </a:p>
          <a:p>
            <a:endParaRPr lang="tr-TR" kern="0"/>
          </a:p>
          <a:p>
            <a:endParaRPr lang="tr-TR" kern="0"/>
          </a:p>
        </p:txBody>
      </p:sp>
      <p:sp>
        <p:nvSpPr>
          <p:cNvPr id="6" name="TextBox 5"/>
          <p:cNvSpPr txBox="1"/>
          <p:nvPr/>
        </p:nvSpPr>
        <p:spPr>
          <a:xfrm>
            <a:off x="0" y="0"/>
            <a:ext cx="9144000" cy="6858000"/>
          </a:xfrm>
          <a:prstGeom prst="rect">
            <a:avLst/>
          </a:prstGeom>
          <a:noFill/>
        </p:spPr>
        <p:txBody>
          <a:bodyPr wrap="none">
            <a:spAutoFit/>
          </a:bodyPr>
          <a:lstStyle/>
          <a:p>
            <a:r>
              <a:t>Üniversiteye, Memlekete Özgürlük!</a:t>
            </a:r>
          </a:p>
        </p:txBody>
      </p:sp>
    </p:spTree>
    <p:extLst>
      <p:ext uri="{BB962C8B-B14F-4D97-AF65-F5344CB8AC3E}">
        <p14:creationId xmlns:p14="http://schemas.microsoft.com/office/powerpoint/2010/main" val="586482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A7EB98B4-7D84-4545-AC15-000475111968}" type="slidenum">
              <a:rPr lang="en-US" altLang="tr-TR" sz="1200" b="0"/>
              <a:pPr>
                <a:spcBef>
                  <a:spcPct val="0"/>
                </a:spcBef>
                <a:buFontTx/>
                <a:buNone/>
              </a:pPr>
              <a:t>37</a:t>
            </a:fld>
            <a:endParaRPr lang="en-US" altLang="tr-TR" sz="1200" b="0"/>
          </a:p>
        </p:txBody>
      </p:sp>
      <p:sp>
        <p:nvSpPr>
          <p:cNvPr id="21507" name="Rectangle 5"/>
          <p:cNvSpPr>
            <a:spLocks noChangeArrowheads="1"/>
          </p:cNvSpPr>
          <p:nvPr/>
        </p:nvSpPr>
        <p:spPr bwMode="auto">
          <a:xfrm>
            <a:off x="1014413" y="1714500"/>
            <a:ext cx="5097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600" b="0">
                <a:solidFill>
                  <a:srgbClr val="000000"/>
                </a:solidFill>
              </a:rPr>
              <a:t>•  Use the right material for the job.</a:t>
            </a:r>
            <a:endParaRPr lang="en-US" altLang="tr-TR" sz="2600" b="0"/>
          </a:p>
        </p:txBody>
      </p:sp>
      <p:sp>
        <p:nvSpPr>
          <p:cNvPr id="21508" name="Rectangle 9"/>
          <p:cNvSpPr>
            <a:spLocks noChangeArrowheads="1"/>
          </p:cNvSpPr>
          <p:nvPr/>
        </p:nvSpPr>
        <p:spPr bwMode="auto">
          <a:xfrm>
            <a:off x="1014413" y="2527300"/>
            <a:ext cx="6801542"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600" b="0">
                <a:solidFill>
                  <a:srgbClr val="000000"/>
                </a:solidFill>
              </a:rPr>
              <a:t>•  Understand the relation between </a:t>
            </a:r>
            <a:r>
              <a:rPr lang="en-US" altLang="tr-TR" sz="2600" b="0">
                <a:solidFill>
                  <a:schemeClr val="accent2"/>
                </a:solidFill>
              </a:rPr>
              <a:t>properties</a:t>
            </a:r>
            <a:r>
              <a:rPr lang="en-US" altLang="tr-TR" sz="2600" b="0">
                <a:solidFill>
                  <a:srgbClr val="000000"/>
                </a:solidFill>
              </a:rPr>
              <a:t>,</a:t>
            </a:r>
          </a:p>
          <a:p>
            <a:pPr>
              <a:spcBef>
                <a:spcPct val="0"/>
              </a:spcBef>
              <a:buFontTx/>
              <a:buNone/>
            </a:pPr>
            <a:r>
              <a:rPr lang="en-US" altLang="tr-TR" sz="2600" b="0">
                <a:solidFill>
                  <a:srgbClr val="000000"/>
                </a:solidFill>
              </a:rPr>
              <a:t>   </a:t>
            </a:r>
            <a:r>
              <a:rPr lang="en-US" altLang="tr-TR" sz="2600" b="0">
                <a:solidFill>
                  <a:schemeClr val="accent2"/>
                </a:solidFill>
              </a:rPr>
              <a:t>structure</a:t>
            </a:r>
            <a:r>
              <a:rPr lang="en-US" altLang="tr-TR" sz="2600" b="0">
                <a:solidFill>
                  <a:srgbClr val="000000"/>
                </a:solidFill>
              </a:rPr>
              <a:t>, and </a:t>
            </a:r>
            <a:r>
              <a:rPr lang="en-US" altLang="tr-TR" sz="2600" b="0">
                <a:solidFill>
                  <a:schemeClr val="accent2"/>
                </a:solidFill>
              </a:rPr>
              <a:t>processing</a:t>
            </a:r>
            <a:r>
              <a:rPr lang="en-US" altLang="tr-TR" sz="2600" b="0">
                <a:solidFill>
                  <a:srgbClr val="000000"/>
                </a:solidFill>
              </a:rPr>
              <a:t>.</a:t>
            </a:r>
          </a:p>
        </p:txBody>
      </p:sp>
      <p:sp>
        <p:nvSpPr>
          <p:cNvPr id="21509" name="Rectangle 15"/>
          <p:cNvSpPr>
            <a:spLocks noChangeArrowheads="1"/>
          </p:cNvSpPr>
          <p:nvPr/>
        </p:nvSpPr>
        <p:spPr bwMode="auto">
          <a:xfrm>
            <a:off x="1014413" y="3746500"/>
            <a:ext cx="6735762"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sz="2600" b="0">
                <a:solidFill>
                  <a:srgbClr val="000000"/>
                </a:solidFill>
              </a:rPr>
              <a:t>•  Recognize new design opportunities offered</a:t>
            </a:r>
          </a:p>
          <a:p>
            <a:pPr>
              <a:spcBef>
                <a:spcPct val="0"/>
              </a:spcBef>
              <a:buFontTx/>
              <a:buNone/>
            </a:pPr>
            <a:r>
              <a:rPr lang="en-US" altLang="tr-TR" sz="2600" b="0">
                <a:solidFill>
                  <a:srgbClr val="000000"/>
                </a:solidFill>
              </a:rPr>
              <a:t>   by materials selection.</a:t>
            </a:r>
          </a:p>
        </p:txBody>
      </p:sp>
      <p:sp>
        <p:nvSpPr>
          <p:cNvPr id="21510" name="Rectangle 19"/>
          <p:cNvSpPr>
            <a:spLocks noChangeArrowheads="1"/>
          </p:cNvSpPr>
          <p:nvPr/>
        </p:nvSpPr>
        <p:spPr bwMode="auto">
          <a:xfrm>
            <a:off x="717550" y="1020763"/>
            <a:ext cx="22764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b="1">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2800"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tr-TR" b="0">
                <a:solidFill>
                  <a:srgbClr val="000000"/>
                </a:solidFill>
              </a:rPr>
              <a:t>Course Goals:</a:t>
            </a:r>
          </a:p>
        </p:txBody>
      </p:sp>
      <p:sp>
        <p:nvSpPr>
          <p:cNvPr id="21511" name="Rectangle 22"/>
          <p:cNvSpPr>
            <a:spLocks noGrp="1" noChangeArrowheads="1"/>
          </p:cNvSpPr>
          <p:nvPr>
            <p:ph type="title" idx="4294967295"/>
          </p:nvPr>
        </p:nvSpPr>
        <p:spPr/>
        <p:txBody>
          <a:bodyPr/>
          <a:lstStyle/>
          <a:p>
            <a:r>
              <a:rPr lang="en-US" altLang="tr-TR">
                <a:ea typeface="ＭＳ Ｐゴシック" panose="020B0600070205080204" pitchFamily="34" charset="-128"/>
              </a:rPr>
              <a:t>SUMMARY</a:t>
            </a:r>
          </a:p>
        </p:txBody>
      </p:sp>
      <p:pic>
        <p:nvPicPr>
          <p:cNvPr id="8" name="Picture 7" descr="iyte logo.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5991" y="148790"/>
            <a:ext cx="762151" cy="772687"/>
          </a:xfrm>
          <a:prstGeom prst="rect">
            <a:avLst/>
          </a:prstGeom>
        </p:spPr>
      </p:pic>
      <p:sp>
        <p:nvSpPr>
          <p:cNvPr id="21512" name="TextBox 21511"/>
          <p:cNvSpPr txBox="1"/>
          <p:nvPr/>
        </p:nvSpPr>
        <p:spPr>
          <a:xfrm>
            <a:off x="0" y="0"/>
            <a:ext cx="9144000" cy="6858000"/>
          </a:xfrm>
          <a:prstGeom prst="rect">
            <a:avLst/>
          </a:prstGeom>
          <a:noFill/>
        </p:spPr>
        <p:txBody>
          <a:bodyPr wrap="none">
            <a:spAutoFit/>
          </a:bodyPr>
          <a:lstStyle/>
          <a:p>
            <a:r>
              <a:t>Üniversiteye, Memlekete Özgürlük!</a:t>
            </a:r>
          </a:p>
        </p:txBody>
      </p:sp>
    </p:spTree>
  </p:cSld>
  <p:clrMapOvr>
    <a:masterClrMapping/>
  </p:clrMapOvr>
</p:sld>
</file>

<file path=ppt/theme/theme1.xml><?xml version="1.0" encoding="utf-8"?>
<a:theme xmlns:a="http://schemas.openxmlformats.org/drawingml/2006/main" name="1_Chapter_06">
  <a:themeElements>
    <a:clrScheme name="">
      <a:dk1>
        <a:srgbClr val="000000"/>
      </a:dk1>
      <a:lt1>
        <a:srgbClr val="FFFFFF"/>
      </a:lt1>
      <a:dk2>
        <a:srgbClr val="99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Chapter_0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dash"/>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dash"/>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1_Chapter_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Chapter_0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Chapter_06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Chapter_06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Chapter_0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Chapter_0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Chapter_0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1E18385FE39D941AA199D3D339AA629" ma:contentTypeVersion="7" ma:contentTypeDescription="Create a new document." ma:contentTypeScope="" ma:versionID="90e654fb690050bed9ad383fe4cc5371">
  <xsd:schema xmlns:xsd="http://www.w3.org/2001/XMLSchema" xmlns:xs="http://www.w3.org/2001/XMLSchema" xmlns:p="http://schemas.microsoft.com/office/2006/metadata/properties" xmlns:ns2="a80aa6ed-64eb-4536-b734-1570525c18fd" targetNamespace="http://schemas.microsoft.com/office/2006/metadata/properties" ma:root="true" ma:fieldsID="460348cff6eb292b489043fa5a3063f8" ns2:_="">
    <xsd:import namespace="a80aa6ed-64eb-4536-b734-1570525c1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0aa6ed-64eb-4536-b734-1570525c18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EC1082-DFFB-469C-B571-C380C0425AA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1C505A6-ECD7-4DDE-BE48-FE6FCC317945}">
  <ds:schemaRefs>
    <ds:schemaRef ds:uri="http://schemas.microsoft.com/sharepoint/v3/contenttype/forms"/>
  </ds:schemaRefs>
</ds:datastoreItem>
</file>

<file path=customXml/itemProps3.xml><?xml version="1.0" encoding="utf-8"?>
<ds:datastoreItem xmlns:ds="http://schemas.openxmlformats.org/officeDocument/2006/customXml" ds:itemID="{8651FEC1-AE24-4FA1-9B3A-98431E3E3001}"/>
</file>

<file path=docProps/app.xml><?xml version="1.0" encoding="utf-8"?>
<Properties xmlns="http://schemas.openxmlformats.org/officeDocument/2006/extended-properties" xmlns:vt="http://schemas.openxmlformats.org/officeDocument/2006/docPropsVTypes">
  <Template>Chapt_03_7th_Ed v2</Template>
  <Application>Microsoft Office PowerPoint</Application>
  <PresentationFormat>On-screen Show (4:3)</PresentationFormat>
  <Slides>37</Slides>
  <Notes>15</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1_Chapter_06</vt:lpstr>
      <vt:lpstr>ME150 Materials Science and Engineering 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ELECTRICAL</vt:lpstr>
      <vt:lpstr>THERMAL</vt:lpstr>
      <vt:lpstr>DETERIORATIVE</vt:lpstr>
      <vt:lpstr>MAGNETIC</vt:lpstr>
      <vt:lpstr>OPTICAL</vt:lpstr>
      <vt:lpstr>Structure, Processing, &amp; Properties</vt:lpstr>
      <vt:lpstr>PowerPoint Presentation</vt:lpstr>
      <vt:lpstr>PowerPoint Presentation</vt:lpstr>
      <vt:lpstr>PowerPoint Presentation</vt:lpstr>
      <vt:lpstr>PowerPoint Presentation</vt:lpstr>
      <vt:lpstr>Types of Materials</vt:lpstr>
      <vt:lpstr>PowerPoint Presentation</vt:lpstr>
      <vt:lpstr>PowerPoint Presentation</vt:lpstr>
      <vt:lpstr>The Materials Selection Process</vt:lpstr>
      <vt:lpstr>Example – Hip Implant</vt:lpstr>
      <vt:lpstr>Example – Hip Implant</vt:lpstr>
      <vt:lpstr>Example – Hip Implant</vt:lpstr>
      <vt:lpstr>Hip Implant </vt:lpstr>
      <vt:lpstr>PowerPoint Presentation</vt:lpstr>
      <vt:lpstr>PowerPoint Presentation</vt:lpstr>
      <vt:lpstr>PowerPoint Presentation</vt:lpstr>
      <vt:lpstr>PowerPoint Presentation</vt:lpstr>
      <vt:lpstr>SUMMARY</vt:lpstr>
    </vt:vector>
  </TitlesOfParts>
  <Manager/>
  <Company>University of Iowa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subject>Callister &amp; Rethwisch 8th Edition</dc:subject>
  <dc:creator>David Rethwisch</dc:creator>
  <cp:keywords/>
  <dc:description>Copyright 2010</dc:description>
  <cp:revision>2</cp:revision>
  <cp:lastPrinted>2002-05-16T22:55:19Z</cp:lastPrinted>
  <dcterms:created xsi:type="dcterms:W3CDTF">2009-11-17T21:19:36Z</dcterms:created>
  <dcterms:modified xsi:type="dcterms:W3CDTF">2026-03-12T20:31:11Z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0x010100A1E18385FE39D941AA199D3D339AA629</vt:lpwstr>
  </property>
</Properties>
</file>